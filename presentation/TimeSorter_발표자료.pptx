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08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Noto Sans CJK KR"/>
              </a:rPr>
              <a:t>TimeSorter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9D4E0"/>
                </a:solidFill>
                <a:latin typeface="Noto Sans CJK KR"/>
              </a:rPr>
              <a:t>한국어 일정 우선순위 정렬 비서 — Qwen3.5-4B 파인튜닝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DD8452"/>
                </a:solidFill>
                <a:latin typeface="Noto Sans CJK KR"/>
              </a:rPr>
              <a:t>SFT → DPO 파이프라인 · 4축 JSON 채점 · RTX 12GB QLoRA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9FAEBF"/>
                </a:solidFill>
                <a:latin typeface="Noto Sans CJK KR"/>
              </a:rPr>
              <a:t>할 일 목록을 긴급도·중요도·의존성·시간제약 4축으로 채점해 실행 순서를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A5A5A"/>
                </a:solidFill>
                <a:latin typeface="Noto Sans CJK KR"/>
              </a:rPr>
              <a:t>2026-06 · github.com/jung-geun/TimeSorter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프로젝트 개요 — 무엇을 푸는가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Noto Sans CJK KR"/>
              </a:rPr>
              <a:t>스마트폰·PC에서 '오늘 할 일'을 입력하면, AI가 페르소나와 맥락을 이해해 실행 순서를 제안하는 개인 비서 코어 모델.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5A5A"/>
                </a:solidFill>
                <a:latin typeface="Noto Sans CJK KR"/>
              </a:rPr>
              <a:t>단순 키워드 정렬이 아니라, 각 태스크를 4개 축으로 1–5점 채점하고 근거를 함께 제시한다.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Noto Sans CJK KR"/>
              </a:rPr>
              <a:t>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22222"/>
                </a:solidFill>
                <a:latin typeface="Noto Sans CJK KR"/>
              </a:rPr>
              <a:t>[페르소나] 최건호 (플랜트공학 기술자, 63세)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오늘: 2026-03-30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배관 열손실 검토표 제출 (3/30 09:30)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공정안전성 회의자료 초안 (4/4 10:00)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현장 펌프 진동 기록 정리 (마감 없음)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열교환기 시험 보고서 (3/30 15:00)</a:t>
            </a:r>
          </a:p>
          <a:p>
            <a:pPr algn="l"/>
            <a:r>
              <a:rPr sz="1200" b="0" i="0">
                <a:solidFill>
                  <a:srgbClr val="C0392B"/>
                </a:solidFill>
                <a:latin typeface="Noto Sans CJK KR"/>
              </a:rPr>
              <a:t>- 부식 코팅 검토 의견 (3/29 18:00 → 지남)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55A868"/>
                </a:solidFill>
                <a:latin typeface="Noto Sans CJK KR"/>
              </a:rPr>
              <a:t>출력 (4축 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우선순위: 1 → 4 → 2 → 3 → 5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① 배관 검토표  [긴급5·중요4·의존1·시간5]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④ 열교환기 보고서 [긴급4·중요4·의존2·시간4]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② 회의자료 초안 [긴급2·중요4·의존3·시간2]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③ 펌프 기록 정리 [긴급1·중요2·의존1·시간1]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C0392B"/>
                </a:solidFill>
                <a:latin typeface="Noto Sans CJK KR"/>
              </a:rPr>
              <a:t>⑤ 부식 검토 [긴급1·중요1·의존1·시간1] 이미 지남</a:t>
            </a:r>
          </a:p>
          <a:p>
            <a:pPr algn="l">
              <a:spcBef>
                <a:spcPts val="6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→ 지난 일정은 자동 강등·최하위 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원본 데이터셋과 증강 — 이식에서 합성으로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① anakin87/events-scheduling (영문, 500행)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시간 겹치는 이벤트에서 충돌 없이 점수 최대화하는 구간 스케줄링 최적화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영문 이벤트 → 한국어 할 일로 번역, '최적화'를 '4축 우선순위 채점'으로 재정의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(예: Small Language Models talk → 작은 언어 모델 이야기 듣기)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5A868"/>
                </a:solidFill>
                <a:latin typeface="Noto Sans CJK KR"/>
              </a:rPr>
              <a:t>② nvidia/Nemotron-Personas-Korea (한국어, 100만행)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직업·취미·가족 등 다축으로 묘사된 합성 한국어 페르소나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'이름 (직업, 나이)'로 압축해 시스템 프롬프트에 주입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→ 같은 할 일도 페르소나마다 다르게 정렬 (범용 정렬기가 아닌 개인 비서)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11292840" cy="219456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왜 그대로 쓰지 않았나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anakin87 이벤트는 날짜·마감·선후관계가 없는 추상적 강연 목록 → 우리 과제(날짜 추론·의존성·리스크)에 부족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v3부터 골격(skeleton) 생성기로 현실적 한국어 일정을 합성하며 원본 이벤트 의존을 점진적으로 제거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Nemotron 페르소나는 끝까지 조건부 신호로 유지 → '이식(graft) → 합성(synthesis)'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OUTPUT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출력 포맷 규격 — 왜 4축 JSON인가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760720" cy="466344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{</a:t>
            </a:r>
          </a:p>
          <a:p>
            <a:pPr algn="l"/>
            <a:r>
              <a:rPr sz="1200" b="0" i="0">
                <a:solidFill>
                  <a:srgbClr val="9CDCFE"/>
                </a:solidFill>
                <a:latin typeface="D2Coding"/>
              </a:rPr>
              <a:t>  "tasks": [{"id":1, "text":"원문 그대로"}],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"priority_order": [2, 3, 1],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"scores": [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{"task_id":1, "urgency":3,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"importance":2, "dependency":1,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"time_constraint":1,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"reason":"한 문장 근거"}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"refusal_reason": ""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2D3D"/>
                </a:solidFill>
                <a:latin typeface="Noto Sans CJK KR"/>
              </a:rPr>
              <a:t>규격화 의도 4가지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JSON 단일 출력 강제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앱이 후처리 없이 바로 파싱·렌더링. 자유 텍스트는 연동 불가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점수와 순서의 분리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scores(왜) ↔ priority_order(결과) 분리 → 후처리 ScoreRanker로 모순 교정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4축 다축 채점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단순 긴급순이 아닌 긴급·중요·의존·시간을 독립 채점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원문 보존 (tasks.text)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id-텍스트 매핑 강제로 항목 요약·누락 차단</a:t>
            </a:r>
          </a:p>
          <a:p>
            <a:pPr algn="l">
              <a:spcBef>
                <a:spcPts val="400"/>
              </a:spcBef>
            </a:pPr>
            <a:r>
              <a:rPr sz="1200" b="1" i="1">
                <a:solidFill>
                  <a:srgbClr val="55A868"/>
                </a:solidFill>
                <a:latin typeface="Noto Sans CJK KR"/>
              </a:rPr>
              <a:t>→ 골격 규칙으로 $0·결정론적 자동 채점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4축 채점 기준 (각 1–5점)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92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926080"/>
                <a:gridCol w="3657600"/>
                <a:gridCol w="260604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축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의미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5점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1점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urgency
긴급도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마감/시작 임박도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마감 (오전=5·오후=4)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없음 / 이미 지난 일정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importance
중요도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목표 영향도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결정적 (에스컬레이션·위약금·법적기한)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옵션 (없어도 무방)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
의존성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후속 작업 블로킹 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다수 후속의 선행 입력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완전 독립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time_constraint
시간제약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고정 시각 강도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고정 (회의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언제든 가능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983480"/>
            <a:ext cx="11292840" cy="118872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0235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DD8452"/>
                </a:solidFill>
                <a:latin typeface="Noto Sans CJK KR"/>
              </a:rPr>
              <a:t>우선순위 결정 로직 (단순 합산 아님)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① 이미 지난 일정 → 무조건 최하위(urgency·tc 강제=1)   ② 의존성 체인 → 선행부터 연속 배치   ③ 나머지 → 4축 종합 판단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SFT vs DPO 데이터셋 개형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SFT — 지도학습 (sft_v4_train, 6,056행)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'이 입력 → 이 정답' 쌍만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prompt · chosen(정답 JSON) · persona · today · source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4C72B0"/>
                </a:solidFill>
                <a:latin typeface="Noto Sans CJK KR"/>
              </a:rPr>
              <a:t>목적: 4축 JSON 포맷과 채점 규칙 자체를 주입 (없는 능력 추가)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DPO — 선호학습 (dpo_pairs_v5, 1,368쌍)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'좋은 답(chosen) vs 나쁜 답(rejected)' 쌍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+ rejected · category(위반유형)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DD8452"/>
                </a:solidFill>
                <a:latin typeface="Noto Sans CJK KR"/>
              </a:rPr>
              <a:t>목적: 한 가지 규칙만 틀린 hard negative로 그 규칙 위반을 벌점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2D3D"/>
                </a:solidFill>
                <a:latin typeface="Noto Sans CJK KR"/>
              </a:rPr>
              <a:t>DPO rejected 위반 유형 분포 (v5)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389120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645920"/>
                <a:gridCol w="5715000"/>
              </a:tblGrid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유형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쌍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rejected가 일부러 저지른 오류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order_score_mismatch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230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점수는 맞는데 순서가 점수와 모순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granularity_swap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220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단위(시각↔날짜) 혼동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date_confusion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177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날짜를 오늘/미래로 착각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dependency_scatter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185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체인을 분산 배치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risk_ignore / past_hallucination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92 / 36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 미반영 / 지남 단정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DPO 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 선호쌍 실제 예시 — date_confusion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입력: 정순자 (무직, 86세) · 오늘 = 2026-12-11</a:t>
            </a:r>
          </a:p>
          <a:p>
            <a:pPr algn="l"/>
            <a:r>
              <a:rPr sz="1250" b="0" i="0">
                <a:solidFill>
                  <a:srgbClr val="C0392B"/>
                </a:solidFill>
                <a:latin typeface="Noto Sans CJK KR"/>
              </a:rPr>
              <a:t>id=4 '12월 9일 14:00까지 손주 겨울 인사 카드 써두기' → 오늘(12/11)보다 2일 지난 일정</a:t>
            </a:r>
          </a:p>
          <a:p>
            <a:pPr algn="l">
              <a:spcBef>
                <a:spcPts val="200"/>
              </a:spcBef>
            </a:pPr>
            <a:r>
              <a:rPr sz="1150" b="0" i="1">
                <a:solidFill>
                  <a:srgbClr val="5A5A5A"/>
                </a:solidFill>
                <a:latin typeface="Noto Sans CJK KR"/>
              </a:rPr>
              <a:t>두 응답의 차이는 오직 이 한 태스크(id=4)뿐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486400" cy="3200400"/>
          </a:xfrm>
          <a:prstGeom prst="rect">
            <a:avLst/>
          </a:prstGeom>
          <a:solidFill>
            <a:srgbClr val="ECF6EE"/>
          </a:solidFill>
          <a:ln w="254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5A868"/>
                </a:solidFill>
                <a:latin typeface="Noto Sans CJK KR"/>
              </a:rPr>
              <a:t>✅ chosen (선호)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[1, 3, 5, 2, 4]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최하위(5번째)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urgency=1, time_constraint=1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55A868"/>
                </a:solidFill>
                <a:latin typeface="Noto Sans CJK KR"/>
              </a:rPr>
              <a:t>reason: "12월 9일 마감으로 오늘 기준</a:t>
            </a:r>
          </a:p>
          <a:p>
            <a:pPr algn="l"/>
            <a:r>
              <a:rPr sz="1150" b="0" i="1">
                <a:solidFill>
                  <a:srgbClr val="55A868"/>
                </a:solidFill>
                <a:latin typeface="Noto Sans CJK KR"/>
              </a:rPr>
              <a:t> 이미 지난 일정이므로 최하위로 배치"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743200"/>
            <a:ext cx="5486400" cy="3200400"/>
          </a:xfrm>
          <a:prstGeom prst="rect">
            <a:avLst/>
          </a:prstGeom>
          <a:solidFill>
            <a:srgbClr val="FBECE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Noto Sans CJK KR"/>
              </a:rPr>
              <a:t>❌ rejected (비선호)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[4, 1, 3, 5, 2]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1위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urgency=5, time_constraint=5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C0392B"/>
                </a:solidFill>
                <a:latin typeface="Noto Sans CJK KR"/>
              </a:rPr>
              <a:t>reason: "마감이 오늘이라</a:t>
            </a:r>
          </a:p>
          <a:p>
            <a:pPr algn="l"/>
            <a:r>
              <a:rPr sz="1150" b="0" i="1">
                <a:solidFill>
                  <a:srgbClr val="C0392B"/>
                </a:solidFill>
                <a:latin typeface="Noto Sans CJK KR"/>
              </a:rPr>
              <a:t> 즉시 착수해야 합니다" (12/9를 오늘로 착각)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1F2D3D"/>
                </a:solidFill>
                <a:latin typeface="Noto Sans CJK KR"/>
              </a:rPr>
              <a:t>포맷은 100% 동일, 내용 한 곳만 다름 → 학습 신호가 '날짜 추론 규칙'에 정확히 집중 (hard negative)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데이터셋 진화 v1 → v5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3840480"/>
                <a:gridCol w="406908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버전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출력 형식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핵심 추가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기대효과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자유 텍스트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기반 우선순위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말투·관점 반영 (앱 파싱 불가)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v2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점수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구조화·앱연동·설명가능성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정렬 근거 정량화 (날짜 개념 없음)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날짜 주입·지난 일정 규칙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혼동 해결 (dated 38→77%)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이중 생성·prompt loss 마스킹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56.7 → 77.3% (+20.6%p)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on-policy DPO·체인 보강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성능 보존 + 날짜 미세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57200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9087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핵심 흐름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자유 텍스트(v1) → 구조화 JSON(v2) → 날짜 추론(v3) → 데이터 품질·이중생성(v4) → on-policy 보강(v5)</a:t>
            </a:r>
          </a:p>
          <a:p>
            <a:pPr algn="l"/>
            <a:r>
              <a:rPr sz="1200" b="1" i="1">
                <a:solidFill>
                  <a:srgbClr val="DD8452"/>
                </a:solidFill>
                <a:latin typeface="Noto Sans CJK KR"/>
              </a:rPr>
              <a:t>성능 점프(+20.6%p)는 모델 구조가 아니라 데이터 큐레이션 + prompt loss 마스킹에서 나왔다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학습 파이프라인 &amp; RTX 12GB 제약 극복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377440" cy="100584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Base
Qwen3.5-4B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554480"/>
            <a:ext cx="2377440" cy="100584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SFT v4
포맷·규칙 주입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554480"/>
            <a:ext cx="2377440" cy="100584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DPO v5
선호 미세조정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2D3D"/>
                </a:solidFill>
                <a:latin typeface="Noto Sans CJK KR"/>
              </a:rPr>
              <a:t>12GB VRAM 한계 극복 기법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QLoRA 4-bit NF4 — 4.2B 모델 + 248K vocab을 12GB에 적재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MemEfficientDPOTrainer — chosen/rejected [1,T] 순차 처리 + 청킹 log_softmax + 수동 gradient 주입</a:t>
            </a:r>
          </a:p>
          <a:p>
            <a:pPr algn="l" lvl="1">
              <a:spcAft>
                <a:spcPts val="500"/>
              </a:spcAft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(248K vocab → [2,T,248K] logits ~1.1GiB, 표준 DPO 불가 → 자체 구현)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prompt loss 마스킹 — 응답 토큰에만 loss → 학습 밀도 ~2.5배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Qwen3.5 CUDA 버그 우회 — is_fast_path_available 강제 패치 (fla delta-rule)</a:t>
            </a:r>
          </a:p>
          <a:p>
            <a:pPr algn="l"/>
            <a:r>
              <a:rPr sz="1300" b="0" i="0">
                <a:solidFill>
                  <a:srgbClr val="222222"/>
                </a:solidFill>
                <a:latin typeface="Noto Sans CJK KR"/>
              </a:rPr>
              <a:t>•  precompute_ref_log_probs — ref 모델 forward 사전 계산으로 메모리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벤치마크 — 학습 여정의 두 점프</a:t>
            </a:r>
          </a:p>
        </p:txBody>
      </p:sp>
      <p:pic>
        <p:nvPicPr>
          <p:cNvPr id="6" name="Picture 5" descr="chart_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915" y="1325880"/>
            <a:ext cx="7509689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성능 점프는 모델 구조가 아니라 데이터 큐레이션(+20.6%p)과 모델 업그레이드(+12.7%p)에서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Qwen3.5-4B 파인튜닝 단계별 통과율</a:t>
            </a:r>
          </a:p>
        </p:txBody>
      </p:sp>
      <p:pic>
        <p:nvPicPr>
          <p:cNvPr id="6" name="Picture 5" descr="chart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24" y="1325880"/>
            <a:ext cx="749987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A5A5A"/>
                </a:solidFill>
                <a:latin typeface="Noto Sans CJK KR"/>
              </a:rPr>
              <a:t>어댑터 없음 0% → Base 16.7% → SFT 90% → DPO 90% (held-out n=30)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시나리오별 통과율 — SFT vs DPO</a:t>
            </a:r>
          </a:p>
        </p:txBody>
      </p:sp>
      <p:pic>
        <p:nvPicPr>
          <p:cNvPr id="6" name="Picture 5" descr="chart_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482" y="1325880"/>
            <a:ext cx="83425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대부분 시나리오 90~100% · 의존성 체인만 67%로 공통 막힘 (SFT·DPO 동일)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4모델 실제 출력 비교 (동일 쿼리)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쿼리(시나리오)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Base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Instruct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 / 당일시각 / 리스크 / 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6쿼리 통과 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Noto Sans CJK KR"/>
              </a:rPr>
              <a:t>Instruct (어댑터 없음) — ❌ 파싱 실패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"tasks": [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"배관 열손실 검토표를 정리해...",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"4월 4일 10:00까지 회의자료...",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  ... ]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C0392B"/>
                </a:solidFill>
                <a:latin typeface="Noto Sans CJK KR"/>
              </a:rPr>
              <a:t>tasks를 문자열 배열로 출력 (객체 아님)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추론은 합리적이나 스키마 위반으로 파싱 실패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108960"/>
            <a:ext cx="5486400" cy="3017520"/>
          </a:xfrm>
          <a:prstGeom prst="rect">
            <a:avLst/>
          </a:prstGeom>
          <a:solidFill>
            <a:srgbClr val="ECF6EE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5A868"/>
                </a:solidFill>
                <a:latin typeface="Noto Sans CJK KR"/>
              </a:rPr>
              <a:t>SFT v4 — ✅ 통과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{"tasks":[{"id":1,"text":"배관..."},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  {"id":2,"text":"회의자료..."}, ...],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"priority_order":[1,4,2,3,5],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"scores":[...]}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정확한 {id,text} 객체 스키마 준수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지난 일정(id=5) 최하위, urgency=1 강등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파인튜닝의 1차 효과는 '스키마 준수'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92840" cy="1371600"/>
          </a:xfrm>
          <a:prstGeom prst="rect">
            <a:avLst/>
          </a:prstGeom>
          <a:solidFill>
            <a:srgbClr val="FDF3E7"/>
          </a:solidFill>
          <a:ln w="254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D8452"/>
                </a:solidFill>
                <a:latin typeface="Noto Sans CJK KR"/>
              </a:rPr>
              <a:t>"instruct 모델 0%"는 추론 실패가 아니다 — 출력 스키마 미준수다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instruct는 tasks를 [{"id","text"}]가 아닌 ["문자열"] 형태로 출력해 파싱 전부 실패. 실제 추론은 합리적이었다 (체인 순서 [5,1,3,4,2]로 정확).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08960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606040"/>
                <a:gridCol w="45720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모델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통과율(n=30)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원인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Qwen3.5-4B instruct (no FT)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0.0%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tasks를 문자열 배열로 출력 → 파싱 실패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Qwen3.5-4B-Base (no FT)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16.7%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시스템 프롬프트 스키마 예시를 더 충실히 모방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+ SFT v4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90.0%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정확한 JSON 스키마 + 채점 규칙 학습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1">
                <a:solidFill>
                  <a:srgbClr val="1F2D3D"/>
                </a:solidFill>
                <a:latin typeface="Noto Sans CJK KR"/>
              </a:rPr>
              <a:t>역설: base가 instruct보다 통과율이 높다 (2/6 vs 0/6) — RLHF instruct가 오히려 스키마를 '재해석'</a:t>
            </a:r>
          </a:p>
          <a:p>
            <a:pPr algn="ctr">
              <a:spcBef>
                <a:spcPts val="400"/>
              </a:spcBef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→ 파인튜닝은 '없는 추론 주입'이 아니라 '앱이 파싱할 정확한 출력 규격 고정'이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DPO는 '능력 부재'를 해결하지 못한다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92840" cy="1234440"/>
          </a:xfrm>
          <a:prstGeom prst="rect">
            <a:avLst/>
          </a:prstGeom>
          <a:solidFill>
            <a:srgbClr val="FDF3E7"/>
          </a:solidFill>
          <a:ln w="254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10972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D8452"/>
                </a:solidFill>
                <a:latin typeface="Noto Sans CJK KR"/>
              </a:rPr>
              <a:t>의존성 체인에서 SFT v4와 DPO v5가 글자 단위로 동일하게 실패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같은 priority_order [5,3,4,1,2], 같은 dependency=2 → 동일한 위반 2건. DPO가 체인을 전혀 안 옮겼다.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92608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2040"/>
                <a:gridCol w="2103120"/>
                <a:gridCol w="210312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변화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날짜혼재·당일시각·상대날짜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89~100%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유지/소폭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 (불변)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F2D3D"/>
                </a:solidFill>
                <a:latin typeface="Noto Sans CJK KR"/>
              </a:rPr>
              <a:t>왜 DPO가 체인을 못 고쳤나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DPO는 '모델이 정답을 생성할 수 있는데 잘못 선택'할 때만 효과적 — 체인은 4B 모델의 능력 부재라 선호학습으로 안 됨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reward_accuracy 98.9% → 이미 아는 것을 재학습한 셈 (가중치 변화 미미)</a:t>
            </a:r>
          </a:p>
          <a:p>
            <a:pPr algn="l"/>
            <a:r>
              <a:rPr sz="1250" b="1" i="0">
                <a:solidFill>
                  <a:srgbClr val="55A868"/>
                </a:solidFill>
                <a:latin typeface="Noto Sans CJK KR"/>
              </a:rPr>
              <a:t>•  해결책: 4–5단계 긴 체인 특화 SFT 데이터 3× 증량 (선호학습이 아닌 능력 보강)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KR"/>
              </a:rPr>
              <a:t>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성능 점프는 데이터 품질·loss 마스킹에서 나왔다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DPO/GRPO 선호학습 단독으로는 한계 약점을 못 옮김 (+20.6%p는 SFT 데이터 큐레이션)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파인튜닝의 1차 효과는 정확한 JSON 스키마 준수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instruct 0% → SFT 90%: 추론이 아닌 출력 규격 고정이 핵심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의존성 체인은 미해결 — SFT 데이터 증량이 다음 레버</a:t>
            </a:r>
          </a:p>
          <a:p>
            <a:pPr algn="l" lvl="1"/>
            <a:r>
              <a:rPr sz="1300" b="0" i="0">
                <a:solidFill>
                  <a:srgbClr val="C9D4E0"/>
                </a:solidFill>
                <a:latin typeface="Noto Sans CJK KR"/>
              </a:rPr>
              <a:t>4–5단계 긴 체인 특화 데이터 3× 증량으로 능력 자체를 보강해야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solidFill>
            <a:srgbClr val="2A3B4F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CJK KR"/>
              </a:rPr>
              <a:t>최종 성과: Qwen3.5-4B SFT+DPO = 90.0% (RTX 12GB QLoRA, held-out 자동 채점)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