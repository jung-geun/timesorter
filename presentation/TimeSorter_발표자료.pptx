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08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Noto Sans CJK KR"/>
              </a:rPr>
              <a:t>TimeSorter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C9D4E0"/>
                </a:solidFill>
                <a:latin typeface="Noto Sans CJK KR"/>
              </a:rPr>
              <a:t>한국어 일정 우선순위 정렬 비서 — Qwen3.5-4B 파인튜닝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D8452"/>
                </a:solidFill>
                <a:latin typeface="Noto Sans CJK KR"/>
              </a:rPr>
              <a:t>SFT → DPO 파이프라인 · 4축 JSON 채점 · RTX 12GB QLoRA</a:t>
            </a:r>
          </a:p>
          <a:p>
            <a:pPr algn="l">
              <a:spcBef>
                <a:spcPts val="800"/>
              </a:spcBef>
            </a:pPr>
            <a:r>
              <a:rPr sz="1300" b="0" i="0">
                <a:solidFill>
                  <a:srgbClr val="9FAEBF"/>
                </a:solidFill>
                <a:latin typeface="Noto Sans CJK KR"/>
              </a:rPr>
              <a:t>할 일 목록을 긴급도·중요도·의존성·시간제약 4축으로 채점해 실행 순서를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Noto Sans CJK KR"/>
              </a:rPr>
              <a:t>2026-06 · github.com/jung-geun/TimeSorter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프로젝트 개요 — 무엇을 푸는가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Noto Sans CJK KR"/>
              </a:rPr>
              <a:t>스마트폰·PC에서 '오늘 할 일'을 입력하면, AI가 페르소나와 맥락을 이해해 실행 순서를 제안하는 개인 비서 코어 모델.</a:t>
            </a:r>
          </a:p>
          <a:p>
            <a:pPr algn="l">
              <a:spcBef>
                <a:spcPts val="600"/>
              </a:spcBef>
            </a:pPr>
            <a:r>
              <a:rPr sz="1400" b="0" i="0">
                <a:solidFill>
                  <a:srgbClr val="5A5A5A"/>
                </a:solidFill>
                <a:latin typeface="Noto Sans CJK KR"/>
              </a:rPr>
              <a:t>단순 키워드 정렬이 아니라, 각 태스크를 4개 축으로 1–5점 채점하고 근거를 함께 제시한다.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5394960" cy="3383280"/>
          </a:xfrm>
          <a:prstGeom prst="rect">
            <a:avLst/>
          </a:prstGeom>
          <a:solidFill>
            <a:srgbClr val="F4F6F8"/>
          </a:solidFill>
          <a:ln w="1905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C72B0"/>
                </a:solidFill>
                <a:latin typeface="Noto Sans CJK KR"/>
              </a:rPr>
              <a:t>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22222"/>
                </a:solidFill>
                <a:latin typeface="Noto Sans CJK KR"/>
              </a:rPr>
              <a:t>[페르소나] 최건호 (플랜트공학 기술자, 63세)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오늘: 2026-03-30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Noto Sans CJK KR"/>
              </a:rPr>
              <a:t>- 배관 열손실 검토표 제출 (3/30 09:30)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Noto Sans CJK KR"/>
              </a:rPr>
              <a:t>- 공정안전성 회의자료 초안 (4/4 10:00)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Noto Sans CJK KR"/>
              </a:rPr>
              <a:t>- 현장 펌프 진동 기록 정리 (마감 없음)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Noto Sans CJK KR"/>
              </a:rPr>
              <a:t>- 열교환기 시험 보고서 (3/30 15:00)</a:t>
            </a:r>
          </a:p>
          <a:p>
            <a:pPr algn="l"/>
            <a:r>
              <a:rPr sz="1200" b="0" i="0">
                <a:solidFill>
                  <a:srgbClr val="C0392B"/>
                </a:solidFill>
                <a:latin typeface="Noto Sans CJK KR"/>
              </a:rPr>
              <a:t>- 부식 코팅 검토 의견 (3/29 18:00 → 지남)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743200"/>
            <a:ext cx="5394960" cy="3383280"/>
          </a:xfrm>
          <a:prstGeom prst="rect">
            <a:avLst/>
          </a:prstGeom>
          <a:solidFill>
            <a:srgbClr val="F4F6F8"/>
          </a:solidFill>
          <a:ln w="1905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55A868"/>
                </a:solidFill>
                <a:latin typeface="Noto Sans CJK KR"/>
              </a:rPr>
              <a:t>출력 (4축 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9184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Noto Sans CJK KR"/>
              </a:rPr>
              <a:t>우선순위: 1 → 4 → 2 → 3 → 5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Noto Sans CJK KR"/>
              </a:rPr>
              <a:t>① 배관 검토표  [긴급5·중요4·의존1·시간5]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Noto Sans CJK KR"/>
              </a:rPr>
              <a:t>④ 열교환기 보고서 [긴급4·중요4·의존2·시간4]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Noto Sans CJK KR"/>
              </a:rPr>
              <a:t>② 회의자료 초안 [긴급2·중요4·의존3·시간2]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Noto Sans CJK KR"/>
              </a:rPr>
              <a:t>③ 펌프 기록 정리 [긴급1·중요2·의존1·시간1]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C0392B"/>
                </a:solidFill>
                <a:latin typeface="Noto Sans CJK KR"/>
              </a:rPr>
              <a:t>⑤ 부식 검토 [긴급1·중요1·의존1·시간1] 이미 지남</a:t>
            </a:r>
          </a:p>
          <a:p>
            <a:pPr algn="l">
              <a:spcBef>
                <a:spcPts val="600"/>
              </a:spcBef>
            </a:pPr>
            <a:r>
              <a:rPr sz="1100" b="0" i="1">
                <a:solidFill>
                  <a:srgbClr val="55A868"/>
                </a:solidFill>
                <a:latin typeface="Noto Sans CJK KR"/>
              </a:rPr>
              <a:t>→ 지난 일정은 자동 강등·최하위 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원본 데이터셋과 증강 — 이식에서 합성으로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0" cy="2331720"/>
          </a:xfrm>
          <a:prstGeom prst="rect">
            <a:avLst/>
          </a:prstGeom>
          <a:solidFill>
            <a:srgbClr val="F4F6F8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C72B0"/>
                </a:solidFill>
                <a:latin typeface="Noto Sans CJK KR"/>
              </a:rPr>
              <a:t>① anakin87/events-scheduling (영문, 500행)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Noto Sans CJK KR"/>
              </a:rPr>
              <a:t>원본: 시간 겹치는 이벤트에서 충돌 없이 점수 최대화하는 구간 스케줄링 최적화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Noto Sans CJK KR"/>
              </a:rPr>
              <a:t>변형: 영문 이벤트 → 한국어 할 일로 번역, '최적화'를 '4축 우선순위 채점'으로 재정의</a:t>
            </a:r>
          </a:p>
          <a:p>
            <a:pPr algn="l">
              <a:spcBef>
                <a:spcPts val="300"/>
              </a:spcBef>
            </a:pPr>
            <a:r>
              <a:rPr sz="1050" b="0" i="1">
                <a:solidFill>
                  <a:srgbClr val="5A5A5A"/>
                </a:solidFill>
                <a:latin typeface="Noto Sans CJK KR"/>
              </a:rPr>
              <a:t>(예: Small Language Models talk → 작은 언어 모델 이야기 듣기)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5486400" cy="2331720"/>
          </a:xfrm>
          <a:prstGeom prst="rect">
            <a:avLst/>
          </a:prstGeom>
          <a:solidFill>
            <a:srgbClr val="F4F6F8"/>
          </a:solidFill>
          <a:ln w="1270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5A868"/>
                </a:solidFill>
                <a:latin typeface="Noto Sans CJK KR"/>
              </a:rPr>
              <a:t>② nvidia/Nemotron-Personas-Korea (한국어, 100만행)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Noto Sans CJK KR"/>
              </a:rPr>
              <a:t>원본: 직업·취미·가족 등 다축으로 묘사된 합성 한국어 페르소나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Noto Sans CJK KR"/>
              </a:rPr>
              <a:t>변형: '이름 (직업, 나이)'로 압축해 시스템 프롬프트에 주입</a:t>
            </a:r>
          </a:p>
          <a:p>
            <a:pPr algn="l">
              <a:spcBef>
                <a:spcPts val="300"/>
              </a:spcBef>
            </a:pPr>
            <a:r>
              <a:rPr sz="1050" b="0" i="1">
                <a:solidFill>
                  <a:srgbClr val="5A5A5A"/>
                </a:solidFill>
                <a:latin typeface="Noto Sans CJK KR"/>
              </a:rPr>
              <a:t>→ 같은 할 일도 페르소나마다 다르게 정렬 (범용 정렬기가 아닌 개인 비서)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1292840" cy="2194560"/>
          </a:xfrm>
          <a:prstGeom prst="rect">
            <a:avLst/>
          </a:prstGeom>
          <a:solidFill>
            <a:srgbClr val="FDF3E7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DD8452"/>
                </a:solidFill>
                <a:latin typeface="Noto Sans CJK KR"/>
              </a:rPr>
              <a:t>왜 그대로 쓰지 않았나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Noto Sans CJK KR"/>
              </a:rPr>
              <a:t>•  anakin87 이벤트는 날짜·마감·선후관계가 없는 추상적 강연 목록 → 우리 과제(날짜 추론·의존성·리스크)에 부족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Noto Sans CJK KR"/>
              </a:rPr>
              <a:t>•  v3부터 골격(skeleton) 생성기로 현실적 한국어 일정을 합성하며 원본 이벤트 의존을 점진적으로 제거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Noto Sans CJK KR"/>
              </a:rPr>
              <a:t>•  Nemotron 페르소나는 끝까지 조건부 신호로 유지 → '이식(graft) → 합성(synthesis)'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OUTPUT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출력 포맷 규격 — 왜 4축 JSON인가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760720" cy="46634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D2Coding"/>
              </a:rPr>
              <a:t>{</a:t>
            </a:r>
          </a:p>
          <a:p>
            <a:pPr algn="l"/>
            <a:r>
              <a:rPr sz="1200" b="0" i="0">
                <a:solidFill>
                  <a:srgbClr val="9CDCFE"/>
                </a:solidFill>
                <a:latin typeface="D2Coding"/>
              </a:rPr>
              <a:t>  "tasks": [{"id":1, "text":"원문 그대로"}],</a:t>
            </a:r>
          </a:p>
          <a:p>
            <a:pPr algn="l"/>
            <a:r>
              <a:rPr sz="1200" b="0" i="0">
                <a:solidFill>
                  <a:srgbClr val="CE9178"/>
                </a:solidFill>
                <a:latin typeface="D2Coding"/>
              </a:rPr>
              <a:t>  "priority_order": [2, 3, 1],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D2Coding"/>
              </a:rPr>
              <a:t>  "scores": [</a:t>
            </a:r>
          </a:p>
          <a:p>
            <a:pPr algn="l"/>
            <a:r>
              <a:rPr sz="1200" b="0" i="0">
                <a:solidFill>
                  <a:srgbClr val="B5CEA8"/>
                </a:solidFill>
                <a:latin typeface="D2Coding"/>
              </a:rPr>
              <a:t>    {"task_id":1, "urgency":3,</a:t>
            </a:r>
          </a:p>
          <a:p>
            <a:pPr algn="l"/>
            <a:r>
              <a:rPr sz="1200" b="0" i="0">
                <a:solidFill>
                  <a:srgbClr val="B5CEA8"/>
                </a:solidFill>
                <a:latin typeface="D2Coding"/>
              </a:rPr>
              <a:t>     "importance":2, "dependency":1,</a:t>
            </a:r>
          </a:p>
          <a:p>
            <a:pPr algn="l"/>
            <a:r>
              <a:rPr sz="1200" b="0" i="0">
                <a:solidFill>
                  <a:srgbClr val="B5CEA8"/>
                </a:solidFill>
                <a:latin typeface="D2Coding"/>
              </a:rPr>
              <a:t>     "time_constraint":1,</a:t>
            </a:r>
          </a:p>
          <a:p>
            <a:pPr algn="l"/>
            <a:r>
              <a:rPr sz="1200" b="0" i="0">
                <a:solidFill>
                  <a:srgbClr val="B5CEA8"/>
                </a:solidFill>
                <a:latin typeface="D2Coding"/>
              </a:rPr>
              <a:t>     "reason":"한 문장 근거"}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D2Coding"/>
              </a:rPr>
              <a:t>  ],</a:t>
            </a:r>
          </a:p>
          <a:p>
            <a:pPr algn="l"/>
            <a:r>
              <a:rPr sz="1200" b="0" i="0">
                <a:solidFill>
                  <a:srgbClr val="CE9178"/>
                </a:solidFill>
                <a:latin typeface="D2Coding"/>
              </a:rPr>
              <a:t>  "refusal_reason": ""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D2Coding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2D3D"/>
                </a:solidFill>
                <a:latin typeface="Noto Sans CJK KR"/>
              </a:rPr>
              <a:t>규격화 의도 4가지</a:t>
            </a:r>
          </a:p>
          <a:p>
            <a:pPr algn="l"/>
            <a:r>
              <a:rPr sz="1350" b="1" i="0">
                <a:solidFill>
                  <a:srgbClr val="4C72B0"/>
                </a:solidFill>
                <a:latin typeface="Noto Sans CJK KR"/>
              </a:rPr>
              <a:t>•  JSON 단일 출력 강제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Noto Sans CJK KR"/>
              </a:rPr>
              <a:t>앱이 후처리 없이 바로 파싱·렌더링. 자유 텍스트는 연동 불가</a:t>
            </a:r>
          </a:p>
          <a:p>
            <a:pPr algn="l"/>
            <a:r>
              <a:rPr sz="1350" b="1" i="0">
                <a:solidFill>
                  <a:srgbClr val="4C72B0"/>
                </a:solidFill>
                <a:latin typeface="Noto Sans CJK KR"/>
              </a:rPr>
              <a:t>•  점수와 순서의 분리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Noto Sans CJK KR"/>
              </a:rPr>
              <a:t>scores(왜) ↔ priority_order(결과) 분리 → 후처리 ScoreRanker로 모순 교정</a:t>
            </a:r>
          </a:p>
          <a:p>
            <a:pPr algn="l"/>
            <a:r>
              <a:rPr sz="1350" b="1" i="0">
                <a:solidFill>
                  <a:srgbClr val="4C72B0"/>
                </a:solidFill>
                <a:latin typeface="Noto Sans CJK KR"/>
              </a:rPr>
              <a:t>•  4축 다축 채점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Noto Sans CJK KR"/>
              </a:rPr>
              <a:t>단순 긴급순이 아닌 긴급·중요·의존·시간을 독립 채점</a:t>
            </a:r>
          </a:p>
          <a:p>
            <a:pPr algn="l"/>
            <a:r>
              <a:rPr sz="1350" b="1" i="0">
                <a:solidFill>
                  <a:srgbClr val="4C72B0"/>
                </a:solidFill>
                <a:latin typeface="Noto Sans CJK KR"/>
              </a:rPr>
              <a:t>•  원문 보존 (tasks.text)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Noto Sans CJK KR"/>
              </a:rPr>
              <a:t>id-텍스트 매핑 강제로 항목 요약·누락 차단</a:t>
            </a:r>
          </a:p>
          <a:p>
            <a:pPr algn="l">
              <a:spcBef>
                <a:spcPts val="400"/>
              </a:spcBef>
            </a:pPr>
            <a:r>
              <a:rPr sz="1200" b="1" i="1">
                <a:solidFill>
                  <a:srgbClr val="55A868"/>
                </a:solidFill>
                <a:latin typeface="Noto Sans CJK KR"/>
              </a:rPr>
              <a:t>→ 골격 규칙으로 $0·결정론적 자동 채점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4축 채점 기준 (각 1–5점)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92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657600"/>
                <a:gridCol w="260604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축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의미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5점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1점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urgency
긴급도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마감/시작 임박도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오늘 마감 (오전=5·오후=4)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마감 없음 / 이미 지난 일정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importance
중요도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페르소나 목표 영향도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결정적 (에스컬레이션·위약금·법적기한)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옵션 (없어도 무방)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dependency
의존성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후속 작업 블로킹 정도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다수 후속의 선행 입력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완전 독립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time_constraint
시간제약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고정 시각 강도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시각 고정 (회의 등)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언제든 가능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83480"/>
            <a:ext cx="11292840" cy="1188720"/>
          </a:xfrm>
          <a:prstGeom prst="rect">
            <a:avLst/>
          </a:prstGeom>
          <a:solidFill>
            <a:srgbClr val="FDF3E7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10235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DD8452"/>
                </a:solidFill>
                <a:latin typeface="Noto Sans CJK KR"/>
              </a:rPr>
              <a:t>우선순위 결정 로직 (단순 합산 아님)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Noto Sans CJK KR"/>
              </a:rPr>
              <a:t>① 이미 지난 일정 → 무조건 최하위(urgency·tc 강제=1)   ② 의존성 체인 → 선행부터 연속 배치   ③ 나머지 → 4축 종합 판단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SFT vs DPO 데이터셋 개형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C72B0"/>
                </a:solidFill>
                <a:latin typeface="Noto Sans CJK KR"/>
              </a:rPr>
              <a:t>SFT — 지도학습 (sft_v4_train, 6,056행)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Noto Sans CJK KR"/>
              </a:rPr>
              <a:t>'이 입력 → 이 정답' 쌍만 필요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Noto Sans CJK KR"/>
              </a:rPr>
              <a:t>prompt · chosen(정답 JSON) · persona · today · source</a:t>
            </a:r>
          </a:p>
          <a:p>
            <a:pPr algn="l">
              <a:spcBef>
                <a:spcPts val="600"/>
              </a:spcBef>
            </a:pPr>
            <a:r>
              <a:rPr sz="1150" b="0" i="1">
                <a:solidFill>
                  <a:srgbClr val="4C72B0"/>
                </a:solidFill>
                <a:latin typeface="Noto Sans CJK KR"/>
              </a:rPr>
              <a:t>목적: 4축 JSON 포맷과 채점 규칙 자체를 주입 (없는 능력 추가)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8640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120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D8452"/>
                </a:solidFill>
                <a:latin typeface="Noto Sans CJK KR"/>
              </a:rPr>
              <a:t>DPO — 선호학습 (dpo_pairs_v5, 1,368쌍)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Noto Sans CJK KR"/>
              </a:rPr>
              <a:t>'좋은 답(chosen) vs 나쁜 답(rejected)' 쌍 필요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Noto Sans CJK KR"/>
              </a:rPr>
              <a:t>+ rejected · category(위반유형)</a:t>
            </a:r>
          </a:p>
          <a:p>
            <a:pPr algn="l">
              <a:spcBef>
                <a:spcPts val="600"/>
              </a:spcBef>
            </a:pPr>
            <a:r>
              <a:rPr sz="1150" b="0" i="1">
                <a:solidFill>
                  <a:srgbClr val="DD8452"/>
                </a:solidFill>
                <a:latin typeface="Noto Sans CJK KR"/>
              </a:rPr>
              <a:t>목적: 한 가지 규칙만 틀린 hard negative로 그 규칙 위반을 벌점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2D3D"/>
                </a:solidFill>
                <a:latin typeface="Noto Sans CJK KR"/>
              </a:rPr>
              <a:t>DPO 쌍 구성 (v5, 총 1,368쌍)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315968"/>
          <a:ext cx="11292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645920"/>
                <a:gridCol w="5715000"/>
              </a:tblGrid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유형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쌍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rejected가 일부러 저지른 오류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</a:tr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order_score_mismatch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230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점수는 맞는데 순서가 점수와 모순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onpolicy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228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SFT 모델이 실제 생성한 오답 (체인 154 등)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granularity_swap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220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마감 단위(시각↔날짜) 혼동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dependency_scatter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185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의존성 체인을 분산 배치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date_confusion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177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지난 날짜를 오늘/미래로 착각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risk_ignore / past_hallucination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92 / 36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리스크 미반영 / 지남 단정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refusal (거절 쌍)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200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비일정 입력 거절 학습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합계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1,368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DPO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DPO 선호쌍 실제 예시 — date_confusion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22222"/>
                </a:solidFill>
                <a:latin typeface="Noto Sans CJK KR"/>
              </a:rPr>
              <a:t>입력: 정순자 (무직, 86세) · 오늘 = 2026-12-11</a:t>
            </a:r>
          </a:p>
          <a:p>
            <a:pPr algn="l"/>
            <a:r>
              <a:rPr sz="1250" b="0" i="0">
                <a:solidFill>
                  <a:srgbClr val="C0392B"/>
                </a:solidFill>
                <a:latin typeface="Noto Sans CJK KR"/>
              </a:rPr>
              <a:t>id=4 '12월 9일 14:00까지 손주 겨울 인사 카드 써두기' → 오늘(12/11)보다 2일 지난 일정</a:t>
            </a:r>
          </a:p>
          <a:p>
            <a:pPr algn="l">
              <a:spcBef>
                <a:spcPts val="200"/>
              </a:spcBef>
            </a:pPr>
            <a:r>
              <a:rPr sz="1150" b="0" i="1">
                <a:solidFill>
                  <a:srgbClr val="5A5A5A"/>
                </a:solidFill>
                <a:latin typeface="Noto Sans CJK KR"/>
              </a:rPr>
              <a:t>두 응답의 차이는 오직 이 한 태스크(id=4)뿐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5486400" cy="3200400"/>
          </a:xfrm>
          <a:prstGeom prst="rect">
            <a:avLst/>
          </a:prstGeom>
          <a:solidFill>
            <a:srgbClr val="ECF6EE"/>
          </a:solidFill>
          <a:ln w="2540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120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5A868"/>
                </a:solidFill>
                <a:latin typeface="Noto Sans CJK KR"/>
              </a:rPr>
              <a:t>✅ chosen (선호)</a:t>
            </a:r>
          </a:p>
          <a:p>
            <a:pPr algn="l"/>
            <a:r>
              <a:rPr sz="1300" b="1" i="0">
                <a:solidFill>
                  <a:srgbClr val="222222"/>
                </a:solidFill>
                <a:latin typeface="D2Coding"/>
              </a:rPr>
              <a:t>priority_order: [1, 3, 5, 2, 4]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Noto Sans CJK KR"/>
              </a:rPr>
              <a:t>→ id=4를 최하위(5번째) 배치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D2Coding"/>
              </a:rPr>
              <a:t>id=4 점수: urgency=1, time_constraint=1</a:t>
            </a:r>
          </a:p>
          <a:p>
            <a:pPr algn="l">
              <a:spcBef>
                <a:spcPts val="400"/>
              </a:spcBef>
            </a:pPr>
            <a:r>
              <a:rPr sz="1150" b="0" i="1">
                <a:solidFill>
                  <a:srgbClr val="55A868"/>
                </a:solidFill>
                <a:latin typeface="Noto Sans CJK KR"/>
              </a:rPr>
              <a:t>reason: "12월 9일 마감으로 오늘 기준</a:t>
            </a:r>
          </a:p>
          <a:p>
            <a:pPr algn="l"/>
            <a:r>
              <a:rPr sz="1150" b="0" i="1">
                <a:solidFill>
                  <a:srgbClr val="55A868"/>
                </a:solidFill>
                <a:latin typeface="Noto Sans CJK KR"/>
              </a:rPr>
              <a:t> 이미 지난 일정이므로 최하위로 배치"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743200"/>
            <a:ext cx="5486400" cy="3200400"/>
          </a:xfrm>
          <a:prstGeom prst="rect">
            <a:avLst/>
          </a:prstGeom>
          <a:solidFill>
            <a:srgbClr val="FBECE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880360"/>
            <a:ext cx="5120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Noto Sans CJK KR"/>
              </a:rPr>
              <a:t>❌ rejected (비선호)</a:t>
            </a:r>
          </a:p>
          <a:p>
            <a:pPr algn="l"/>
            <a:r>
              <a:rPr sz="1300" b="1" i="0">
                <a:solidFill>
                  <a:srgbClr val="222222"/>
                </a:solidFill>
                <a:latin typeface="D2Coding"/>
              </a:rPr>
              <a:t>priority_order: [4, 1, 3, 5, 2]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Noto Sans CJK KR"/>
              </a:rPr>
              <a:t>→ id=4를 1위 배치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D2Coding"/>
              </a:rPr>
              <a:t>id=4 점수: urgency=5, time_constraint=5</a:t>
            </a:r>
          </a:p>
          <a:p>
            <a:pPr algn="l">
              <a:spcBef>
                <a:spcPts val="400"/>
              </a:spcBef>
            </a:pPr>
            <a:r>
              <a:rPr sz="1150" b="0" i="1">
                <a:solidFill>
                  <a:srgbClr val="C0392B"/>
                </a:solidFill>
                <a:latin typeface="Noto Sans CJK KR"/>
              </a:rPr>
              <a:t>reason: "마감이 오늘이라</a:t>
            </a:r>
          </a:p>
          <a:p>
            <a:pPr algn="l"/>
            <a:r>
              <a:rPr sz="1150" b="0" i="1">
                <a:solidFill>
                  <a:srgbClr val="C0392B"/>
                </a:solidFill>
                <a:latin typeface="Noto Sans CJK KR"/>
              </a:rPr>
              <a:t> 즉시 착수해야 합니다" (12/9를 오늘로 착각)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1">
                <a:solidFill>
                  <a:srgbClr val="1F2D3D"/>
                </a:solidFill>
                <a:latin typeface="Noto Sans CJK KR"/>
              </a:rPr>
              <a:t>포맷은 100% 동일, 내용 한 곳만 다름 → 학습 신호가 '날짜 추론 규칙'에 정확히 집중 (hard negative)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데이터셋 진화 v1 → v5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92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377440"/>
                <a:gridCol w="3840480"/>
                <a:gridCol w="406908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버전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출력 형식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핵심 추가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기대효과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자유 텍스트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페르소나 기반 우선순위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말투·관점 반영 (앱 파싱 불가)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v2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4축 점수 JSON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구조화·앱연동·설명가능성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정렬 근거 정량화 (날짜 개념 없음)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4축 JSON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오늘 날짜 주입·지난 일정 규칙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 혼동 해결 (dated 38→77%)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v4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4축 JSON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이중 생성·prompt loss 마스킹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56.7 → 77.3% (+20.6%p)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v5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4축 JSON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on-policy DPO·체인 보강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성능 보존 + 날짜 미세 개선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572000"/>
            <a:ext cx="1129284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690872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C72B0"/>
                </a:solidFill>
                <a:latin typeface="Noto Sans CJK KR"/>
              </a:rPr>
              <a:t>핵심 흐름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자유 텍스트(v1) → 구조화 JSON(v2) → 날짜 추론(v3) → 데이터 품질·이중생성(v4) → on-policy 보강(v5)</a:t>
            </a:r>
          </a:p>
          <a:p>
            <a:pPr algn="l"/>
            <a:r>
              <a:rPr sz="1200" b="1" i="1">
                <a:solidFill>
                  <a:srgbClr val="DD8452"/>
                </a:solidFill>
                <a:latin typeface="Noto Sans CJK KR"/>
              </a:rPr>
              <a:t>성능 점프(+20.6%p)는 모델 구조가 아니라 데이터 큐레이션 + prompt loss 마스킹에서 나왔다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학습 파이프라인 &amp; RTX 12GB 제약 극복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377440" cy="100584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Base
Qwen3.5-4B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7335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2D3D"/>
                </a:solidFill>
                <a:latin typeface="Noto Sans CJK K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554480"/>
            <a:ext cx="2377440" cy="100584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SFT v4
포맷·규칙 주입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73352"/>
            <a:ext cx="548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2D3D"/>
                </a:solidFill>
                <a:latin typeface="Noto Sans CJK K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54480"/>
            <a:ext cx="2377440" cy="100584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2377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Noto Sans CJK KR"/>
              </a:rPr>
              <a:t>DPO v5
선호 미세조정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2D3D"/>
                </a:solidFill>
                <a:latin typeface="Noto Sans CJK KR"/>
              </a:rPr>
              <a:t>12GB VRAM 한계 극복 기법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QLoRA 4-bit NF4 — 4.2B 모델 + 248K vocab을 12GB에 적재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MemEfficientDPOTrainer — chosen/rejected [1,T] 순차 처리 + 청킹 log_softmax + 수동 gradient 주입</a:t>
            </a:r>
          </a:p>
          <a:p>
            <a:pPr algn="l" lvl="1">
              <a:spcAft>
                <a:spcPts val="500"/>
              </a:spcAft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(248K vocab → [2,T,248K] logits ~1.1GiB, 표준 DPO 불가 → 자체 구현)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prompt loss 마스킹 — 응답 토큰에만 loss → 학습 밀도 ~2.5배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Noto Sans CJK KR"/>
              </a:rPr>
              <a:t>•  Qwen3.5 CUDA 버그 우회 — is_fast_path_available 강제 패치 (fla delta-rule)</a:t>
            </a:r>
          </a:p>
          <a:p>
            <a:pPr algn="l"/>
            <a:r>
              <a:rPr sz="1300" b="0" i="0">
                <a:solidFill>
                  <a:srgbClr val="222222"/>
                </a:solidFill>
                <a:latin typeface="Noto Sans CJK KR"/>
              </a:rPr>
              <a:t>•  precompute_ref_log_probs — ref 모델 forward 사전 계산으로 메모리 절감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벤치마크 — 학습 여정의 두 점프</a:t>
            </a:r>
          </a:p>
        </p:txBody>
      </p:sp>
      <p:pic>
        <p:nvPicPr>
          <p:cNvPr id="6" name="Picture 5" descr="chart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15" y="1325880"/>
            <a:ext cx="750968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성능 점프는 모델 구조가 아니라 데이터 큐레이션(+20.6%p)과 모델 업그레이드(+12.7%p)에서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Qwen3.5-4B 파인튜닝 단계별 통과율</a:t>
            </a:r>
          </a:p>
        </p:txBody>
      </p:sp>
      <p:pic>
        <p:nvPicPr>
          <p:cNvPr id="6" name="Picture 5" descr="chart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4" y="1325880"/>
            <a:ext cx="749987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Noto Sans CJK KR"/>
              </a:rPr>
              <a:t>어댑터 없음 0% → Base 16.7% → SFT 90% → DPO 90% (held-out n=30)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시나리오별 통과율 — SFT vs DPO</a:t>
            </a:r>
          </a:p>
        </p:txBody>
      </p:sp>
      <p:pic>
        <p:nvPicPr>
          <p:cNvPr id="6" name="Picture 5" descr="chart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82" y="1325880"/>
            <a:ext cx="8342555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대부분 시나리오 90~100% · 의존성 체인만 67%로 공통 막힘 (SFT·DPO 동일)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모델 크기 효과 — Qwen3.5 4B vs 9B</a:t>
            </a:r>
          </a:p>
        </p:txBody>
      </p:sp>
      <p:pic>
        <p:nvPicPr>
          <p:cNvPr id="6" name="Picture 5" descr="chart_4b_vs_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83" y="1325880"/>
            <a:ext cx="1011707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F2D3D"/>
                </a:solidFill>
                <a:latin typeface="Noto Sans CJK KR"/>
              </a:rPr>
              <a:t>9B(2.3× 크기, RTX 4090, n=150)은 리스크 80→95% 등 약점을 평준화하나, 의존성 체인은 57%로 여전히 최대 약점</a:t>
            </a:r>
          </a:p>
          <a:p>
            <a:pPr algn="ctr">
              <a:spcBef>
                <a:spcPts val="300"/>
              </a:spcBef>
            </a:pPr>
            <a:r>
              <a:rPr sz="1100" b="0" i="1">
                <a:solidFill>
                  <a:srgbClr val="5A5A5A"/>
                </a:solidFill>
                <a:latin typeface="Noto Sans CJK KR"/>
              </a:rPr>
              <a:t>→ 체인은 모델 크기가 아니라 SFT 데이터 보강이 필요한 문제 (4B n=30·9B n=150, 표본차 감안)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4모델 실제 출력 비교 (동일 쿼리)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쿼리(시나리오)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Base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Instruct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SFT v4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DPO v5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날짜혼재 / 당일시각 / 리스크 / 상대날짜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6쿼리 통과 합계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2/6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5/6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108960"/>
            <a:ext cx="5486400" cy="3017520"/>
          </a:xfrm>
          <a:prstGeom prst="rect">
            <a:avLst/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Noto Sans CJK KR"/>
              </a:rPr>
              <a:t>Instruct (어댑터 없음) — ❌ 파싱 실패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"tasks": [</a:t>
            </a:r>
          </a:p>
          <a:p>
            <a:pPr algn="l"/>
            <a:r>
              <a:rPr sz="1150" b="0" i="0">
                <a:solidFill>
                  <a:srgbClr val="C0392B"/>
                </a:solidFill>
                <a:latin typeface="D2Coding"/>
              </a:rPr>
              <a:t>  "배관 열손실 검토표를 정리해...",</a:t>
            </a:r>
          </a:p>
          <a:p>
            <a:pPr algn="l"/>
            <a:r>
              <a:rPr sz="1150" b="0" i="0">
                <a:solidFill>
                  <a:srgbClr val="C0392B"/>
                </a:solidFill>
                <a:latin typeface="D2Coding"/>
              </a:rPr>
              <a:t>  "4월 4일 10:00까지 회의자료...",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  ... ]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C0392B"/>
                </a:solidFill>
                <a:latin typeface="Noto Sans CJK KR"/>
              </a:rPr>
              <a:t>tasks를 문자열 배열로 출력 (객체 아님)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→ 추론은 합리적이나 스키마 위반으로 파싱 실패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3017520"/>
          </a:xfrm>
          <a:prstGeom prst="rect">
            <a:avLst/>
          </a:prstGeom>
          <a:solidFill>
            <a:srgbClr val="ECF6EE"/>
          </a:solidFill>
          <a:ln w="12700">
            <a:solidFill>
              <a:srgbClr val="55A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5A868"/>
                </a:solidFill>
                <a:latin typeface="Noto Sans CJK KR"/>
              </a:rPr>
              <a:t>SFT v4 — ✅ 통과</a:t>
            </a:r>
          </a:p>
          <a:p>
            <a:pPr algn="l"/>
            <a:r>
              <a:rPr sz="1150" b="0" i="0">
                <a:solidFill>
                  <a:srgbClr val="55A868"/>
                </a:solidFill>
                <a:latin typeface="D2Coding"/>
              </a:rPr>
              <a:t>{"tasks":[{"id":1,"text":"배관..."},</a:t>
            </a:r>
          </a:p>
          <a:p>
            <a:pPr algn="l"/>
            <a:r>
              <a:rPr sz="1150" b="0" i="0">
                <a:solidFill>
                  <a:srgbClr val="55A868"/>
                </a:solidFill>
                <a:latin typeface="D2Coding"/>
              </a:rPr>
              <a:t>  {"id":2,"text":"회의자료..."}, ...],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"priority_order":[1,4,2,3,5],</a:t>
            </a:r>
          </a:p>
          <a:p>
            <a:pPr algn="l"/>
            <a:r>
              <a:rPr sz="1150" b="0" i="0">
                <a:solidFill>
                  <a:srgbClr val="222222"/>
                </a:solidFill>
                <a:latin typeface="D2Coding"/>
              </a:rPr>
              <a:t>"scores":[...]}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55A868"/>
                </a:solidFill>
                <a:latin typeface="Noto Sans CJK KR"/>
              </a:rPr>
              <a:t>정확한 {id,text} 객체 스키마 준수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5A5A5A"/>
                </a:solidFill>
                <a:latin typeface="Noto Sans CJK KR"/>
              </a:rPr>
              <a:t>→ 지난 일정(id=5) 최하위, urgency=1 강등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파인튜닝의 1차 효과는 '스키마 준수'</a:t>
            </a:r>
          </a:p>
        </p:txBody>
      </p:sp>
      <p:pic>
        <p:nvPicPr>
          <p:cNvPr id="6" name="Picture 5" descr="chart_schema_vs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36651"/>
            <a:ext cx="7315200" cy="3916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1371600"/>
            <a:ext cx="3931920" cy="4572000"/>
          </a:xfrm>
          <a:prstGeom prst="rect">
            <a:avLst/>
          </a:prstGeom>
          <a:solidFill>
            <a:srgbClr val="F4F6F8"/>
          </a:solidFill>
          <a:ln w="1905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8431" y="1508760"/>
            <a:ext cx="3611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D8452"/>
                </a:solidFill>
                <a:latin typeface="Noto Sans CJK KR"/>
              </a:rPr>
              <a:t>"0%"의 진실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22222"/>
                </a:solidFill>
                <a:latin typeface="Noto Sans CJK KR"/>
              </a:rPr>
              <a:t>•  no-FT 모델은 tasks를 ["문자열"]로 출력해 파싱 실패 → 스키마 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22222"/>
                </a:solidFill>
                <a:latin typeface="Noto Sans CJK KR"/>
              </a:rPr>
              <a:t>•  하지만 priority_order·scores는 정상 → id 재구성 후 내용만 채점하면:</a:t>
            </a:r>
          </a:p>
          <a:p>
            <a:pPr algn="l" lvl="1">
              <a:spcAft>
                <a:spcPts val="200"/>
              </a:spcAft>
            </a:pPr>
            <a:r>
              <a:rPr sz="1250" b="1" i="0">
                <a:solidFill>
                  <a:srgbClr val="4C72B0"/>
                </a:solidFill>
                <a:latin typeface="Noto Sans CJK KR"/>
              </a:rPr>
              <a:t>instruct 0% → 내용 43.3%</a:t>
            </a:r>
          </a:p>
          <a:p>
            <a:pPr algn="l" lvl="1">
              <a:spcAft>
                <a:spcPts val="600"/>
              </a:spcAft>
            </a:pPr>
            <a:r>
              <a:rPr sz="1250" b="1" i="0">
                <a:solidFill>
                  <a:srgbClr val="4C72B0"/>
                </a:solidFill>
                <a:latin typeface="Noto Sans CJK KR"/>
              </a:rPr>
              <a:t>base 16.7% → 내용 40.0%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A5A5A"/>
                </a:solidFill>
                <a:latin typeface="Noto Sans CJK KR"/>
              </a:rPr>
              <a:t>•  추론 능력의 40%+ 는 이미 있었다 — 파인튜닝이 그것을 앱 규격으로 고정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Noto Sans CJK KR"/>
              </a:rPr>
              <a:t>•  FT 모델은 스키마=내용 (갭 없음)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①-b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no-FT 모델의 숨은 추론 능력 — 시나리오별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D3D"/>
                </a:solidFill>
                <a:latin typeface="Noto Sans CJK KR"/>
              </a:rPr>
              <a:t>Qwen3.5-4B instruct (어댑터 없음) — 스키마 기준 전부 0%지만, 내용만 보면: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74519"/>
          <a:ext cx="11292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377440"/>
                <a:gridCol w="425196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시나리오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스키마 통과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내용 통과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해석</a:t>
                      </a:r>
                    </a:p>
                  </a:txBody>
                  <a:tcPr marL="73152" marR="54864" marT="27432" marB="27432" anchor="ctr">
                    <a:solidFill>
                      <a:srgbClr val="4C72B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리스크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5/5 (100%)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추론 완벽 — 포맷만 못 맞춤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상대 날짜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0/4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4/4 (100%)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추론 완벽 — 포맷만 못 맞춤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당일 시각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2/6 (33%)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시각 순서 추론 약함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 혼재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0/9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2/9 (22%)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지난 일정 처리 약함 (진짜 약점)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의존성 체인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0/6 (0%)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22222"/>
                          </a:solidFill>
                          <a:latin typeface="Noto Sans CJK KR"/>
                        </a:rPr>
                        <a:t>체인 능력 부재 (전 모델 공통)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617720"/>
            <a:ext cx="1129284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36592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4C72B0"/>
                </a:solidFill>
                <a:latin typeface="Noto Sans CJK KR"/>
              </a:rPr>
              <a:t>파인튜닝이 한 일 = 두 종류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Noto Sans CJK KR"/>
              </a:rPr>
              <a:t>•  ① 포맷 고정 (즉효) — 리스크·상대날짜는 내용 이미 100%, SFT는 규격만 고정해 0→100%</a:t>
            </a:r>
          </a:p>
          <a:p>
            <a:pPr algn="l"/>
            <a:r>
              <a:rPr sz="1200" b="0" i="0">
                <a:solidFill>
                  <a:srgbClr val="222222"/>
                </a:solidFill>
                <a:latin typeface="Noto Sans CJK KR"/>
              </a:rPr>
              <a:t>•  ② 진짜 추론 보강 — 날짜혼재(22→89%)·당일시각(33→100%)은 SFT가 실제 추론을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8452"/>
                </a:solidFill>
                <a:latin typeface="Noto Sans CJK KR"/>
              </a:rPr>
              <a:t>KEY FINDING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Noto Sans CJK KR"/>
              </a:rPr>
              <a:t>DPO는 '능력 부재'를 해결하지 못한다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92840" cy="1234440"/>
          </a:xfrm>
          <a:prstGeom prst="rect">
            <a:avLst/>
          </a:prstGeom>
          <a:solidFill>
            <a:srgbClr val="FDF3E7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972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D8452"/>
                </a:solidFill>
                <a:latin typeface="Noto Sans CJK KR"/>
              </a:rPr>
              <a:t>의존성 체인에서 SFT v4와 DPO v5가 글자 단위로 동일하게 실패</a:t>
            </a:r>
          </a:p>
          <a:p>
            <a:pPr algn="l"/>
            <a:r>
              <a:rPr sz="1250" b="0" i="0">
                <a:solidFill>
                  <a:srgbClr val="222222"/>
                </a:solidFill>
                <a:latin typeface="Noto Sans CJK KR"/>
              </a:rPr>
              <a:t>같은 priority_order [5,3,4,1,2], 같은 dependency=2 → 동일한 위반 2건. DPO가 체인을 전혀 안 옮겼다.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2608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/>
                <a:gridCol w="2103120"/>
                <a:gridCol w="210312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시나리오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SFT v4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DPO v5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변화</a:t>
                      </a:r>
                    </a:p>
                  </a:txBody>
                  <a:tcPr marL="73152" marR="54864" marT="27432" marB="27432" anchor="ctr">
                    <a:solidFill>
                      <a:srgbClr val="DD845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날짜혼재·당일시각·상대날짜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89~100%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100%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유지/소폭 개선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의존성 체인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67%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67%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222222"/>
                          </a:solidFill>
                          <a:latin typeface="Noto Sans CJK KR"/>
                        </a:rPr>
                        <a:t>0 (불변)</a:t>
                      </a:r>
                    </a:p>
                  </a:txBody>
                  <a:tcPr marL="73152" marR="54864" marT="27432" marB="27432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F2D3D"/>
                </a:solidFill>
                <a:latin typeface="Noto Sans CJK KR"/>
              </a:rPr>
              <a:t>왜 DPO가 체인을 못 고쳤나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•  DPO는 '모델이 정답을 생성할 수 있는데 잘못 선택'할 때만 효과적 — 체인은 4B 모델의 능력 부재라 선호학습으로 안 됨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Noto Sans CJK KR"/>
              </a:rPr>
              <a:t>•  reward_accuracy 98.9% → 이미 아는 것을 재학습한 셈 (가중치 변화 미미)</a:t>
            </a:r>
          </a:p>
          <a:p>
            <a:pPr algn="l"/>
            <a:r>
              <a:rPr sz="1250" b="1" i="0">
                <a:solidFill>
                  <a:srgbClr val="55A868"/>
                </a:solidFill>
                <a:latin typeface="Noto Sans CJK KR"/>
              </a:rPr>
              <a:t>•  해결책: 4–5단계 긴 체인 특화 SFT 데이터 3× 증량 (선호학습이 아닌 능력 보강)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Noto Sans CJK KR"/>
              </a:rPr>
              <a:t>결론 &amp;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성능 점프는 데이터 품질·loss 마스킹에서 나왔다</a:t>
            </a:r>
          </a:p>
          <a:p>
            <a:pPr algn="l" lvl="1">
              <a:spcAft>
                <a:spcPts val="1000"/>
              </a:spcAft>
            </a:pPr>
            <a:r>
              <a:rPr sz="1300" b="0" i="0">
                <a:solidFill>
                  <a:srgbClr val="C9D4E0"/>
                </a:solidFill>
                <a:latin typeface="Noto Sans CJK KR"/>
              </a:rPr>
              <a:t>DPO/GRPO 선호학습 단독으로는 한계 약점을 못 옮김 (+20.6%p는 SFT 데이터 큐레이션)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파인튜닝의 1차 효과는 정확한 JSON 스키마 준수</a:t>
            </a:r>
          </a:p>
          <a:p>
            <a:pPr algn="l" lvl="1">
              <a:spcAft>
                <a:spcPts val="1000"/>
              </a:spcAft>
            </a:pPr>
            <a:r>
              <a:rPr sz="1300" b="0" i="0">
                <a:solidFill>
                  <a:srgbClr val="C9D4E0"/>
                </a:solidFill>
                <a:latin typeface="Noto Sans CJK KR"/>
              </a:rPr>
              <a:t>instruct 0% → SFT 90%: 추론이 아닌 출력 규격 고정이 핵심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D8452"/>
                </a:solidFill>
                <a:latin typeface="Noto Sans CJK KR"/>
              </a:rPr>
              <a:t>•  의존성 체인은 미해결 — SFT 데이터 증량이 다음 레버</a:t>
            </a:r>
          </a:p>
          <a:p>
            <a:pPr algn="l" lvl="1"/>
            <a:r>
              <a:rPr sz="1300" b="0" i="0">
                <a:solidFill>
                  <a:srgbClr val="C9D4E0"/>
                </a:solidFill>
                <a:latin typeface="Noto Sans CJK KR"/>
              </a:rPr>
              <a:t>4–5단계 긴 체인 특화 데이터 3× 증량으로 능력 자체를 보강해야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solidFill>
            <a:srgbClr val="2A3B4F"/>
          </a:solidFill>
          <a:ln w="127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CJK KR"/>
              </a:rPr>
              <a:t>최종 성과: Qwen3.5-4B SFT+DPO = 90.0% (RTX 12GB QLoRA, held-out 자동 채점)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