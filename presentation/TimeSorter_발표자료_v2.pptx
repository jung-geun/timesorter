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74" r:id="rId5"/>
    <p:sldId id="277" r:id="rId6"/>
    <p:sldId id="27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8" r:id="rId25"/>
    <p:sldId id="279" r:id="rId26"/>
    <p:sldId id="280" r:id="rId27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9D8F7-FCAA-4745-8CA6-E9E8E261F05E}" type="doc">
      <dgm:prSet loTypeId="urn:microsoft.com/office/officeart/2005/8/layout/hProcess11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39A7C58B-42AD-48FE-9825-766EC58C870D}">
      <dgm:prSet phldrT="[텍스트]" custT="1"/>
      <dgm:spPr/>
      <dgm:t>
        <a:bodyPr/>
        <a:lstStyle/>
        <a:p>
          <a:pPr latinLnBrk="1"/>
          <a:r>
            <a:rPr lang="en-US" sz="1300" b="1" i="0" dirty="0">
              <a:solidFill>
                <a:srgbClr val="4C72B0"/>
              </a:solidFill>
              <a:latin typeface="Noto Sans CJK KR"/>
            </a:rPr>
            <a:t>anakin87/</a:t>
          </a:r>
        </a:p>
        <a:p>
          <a:pPr latinLnBrk="1"/>
          <a:r>
            <a:rPr lang="en-US" sz="1300" b="1" i="0" dirty="0">
              <a:solidFill>
                <a:srgbClr val="4C72B0"/>
              </a:solidFill>
              <a:latin typeface="Noto Sans CJK KR"/>
            </a:rPr>
            <a:t>events-scheduling </a:t>
          </a:r>
        </a:p>
        <a:p>
          <a:pPr latinLnBrk="1"/>
          <a:r>
            <a:rPr 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영문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500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행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46162150-3ACA-416C-92DC-1AE095A82EB8}" type="parTrans" cxnId="{9D0E6491-74C5-4F67-8BB3-84014ACD8447}">
      <dgm:prSet/>
      <dgm:spPr/>
      <dgm:t>
        <a:bodyPr/>
        <a:lstStyle/>
        <a:p>
          <a:pPr latinLnBrk="1"/>
          <a:endParaRPr lang="ko-KR" altLang="en-US"/>
        </a:p>
      </dgm:t>
    </dgm:pt>
    <dgm:pt modelId="{A1FA2783-CFC5-4A91-8B47-C05EB5B8D40B}" type="sibTrans" cxnId="{9D0E6491-74C5-4F67-8BB3-84014ACD8447}">
      <dgm:prSet/>
      <dgm:spPr/>
      <dgm:t>
        <a:bodyPr/>
        <a:lstStyle/>
        <a:p>
          <a:pPr latinLnBrk="1"/>
          <a:endParaRPr lang="ko-KR" altLang="en-US"/>
        </a:p>
      </dgm:t>
    </dgm:pt>
    <dgm:pt modelId="{8B138B62-8C4F-429F-BFF5-969D2ABCB7D8}">
      <dgm:prSet phldrT="[텍스트]" custT="1"/>
      <dgm:spPr/>
      <dgm:t>
        <a:bodyPr/>
        <a:lstStyle/>
        <a:p>
          <a:pPr latinLnBrk="1"/>
          <a:r>
            <a:rPr lang="en-US" sz="1300" b="1" i="0" dirty="0" err="1">
              <a:solidFill>
                <a:srgbClr val="55A868"/>
              </a:solidFill>
              <a:latin typeface="Noto Sans CJK KR"/>
            </a:rPr>
            <a:t>nvidia</a:t>
          </a:r>
          <a:r>
            <a:rPr lang="en-US" sz="1300" b="1" i="0" dirty="0">
              <a:solidFill>
                <a:srgbClr val="55A868"/>
              </a:solidFill>
              <a:latin typeface="Noto Sans CJK KR"/>
            </a:rPr>
            <a:t>/</a:t>
          </a:r>
        </a:p>
        <a:p>
          <a:pPr latinLnBrk="1"/>
          <a:r>
            <a:rPr lang="en-US" sz="1300" b="1" i="0" dirty="0" err="1">
              <a:solidFill>
                <a:srgbClr val="55A868"/>
              </a:solidFill>
              <a:latin typeface="Noto Sans CJK KR"/>
            </a:rPr>
            <a:t>Nemotron</a:t>
          </a:r>
          <a:r>
            <a:rPr lang="en-US" sz="1300" b="1" i="0" dirty="0">
              <a:solidFill>
                <a:srgbClr val="55A868"/>
              </a:solidFill>
              <a:latin typeface="Noto Sans CJK KR"/>
            </a:rPr>
            <a:t>-Personas-Korea </a:t>
          </a:r>
        </a:p>
        <a:p>
          <a:pPr latinLnBrk="1"/>
          <a:r>
            <a:rPr 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한국어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100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만행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4308CB87-9F32-4F4A-BABA-33BFE499D6B7}" type="parTrans" cxnId="{AE2642D7-D05B-4D25-B17F-A568F95DF327}">
      <dgm:prSet/>
      <dgm:spPr/>
      <dgm:t>
        <a:bodyPr/>
        <a:lstStyle/>
        <a:p>
          <a:pPr latinLnBrk="1"/>
          <a:endParaRPr lang="ko-KR" altLang="en-US"/>
        </a:p>
      </dgm:t>
    </dgm:pt>
    <dgm:pt modelId="{9CDAE363-26BA-469A-813A-DA4D78D6F12B}" type="sibTrans" cxnId="{AE2642D7-D05B-4D25-B17F-A568F95DF327}">
      <dgm:prSet/>
      <dgm:spPr/>
      <dgm:t>
        <a:bodyPr/>
        <a:lstStyle/>
        <a:p>
          <a:pPr latinLnBrk="1"/>
          <a:endParaRPr lang="ko-KR" altLang="en-US"/>
        </a:p>
      </dgm:t>
    </dgm:pt>
    <dgm:pt modelId="{1D48558B-D7BF-4131-B863-5F2465B2953D}">
      <dgm:prSet phldrT="[텍스트]" phldr="0"/>
      <dgm:spPr/>
      <dgm:t>
        <a:bodyPr/>
        <a:lstStyle/>
        <a:p>
          <a:pPr latinLnBrk="1"/>
          <a:endParaRPr lang="ko-KR" altLang="en-US" dirty="0"/>
        </a:p>
      </dgm:t>
    </dgm:pt>
    <dgm:pt modelId="{97BE763D-ECE8-4D18-884B-7DCF32B34624}" type="parTrans" cxnId="{069E7B62-67DC-402C-A20E-815FE5DCA1D4}">
      <dgm:prSet/>
      <dgm:spPr/>
      <dgm:t>
        <a:bodyPr/>
        <a:lstStyle/>
        <a:p>
          <a:pPr latinLnBrk="1"/>
          <a:endParaRPr lang="ko-KR" altLang="en-US"/>
        </a:p>
      </dgm:t>
    </dgm:pt>
    <dgm:pt modelId="{C8E687FE-3331-434F-AE6E-D8766BCFDC59}" type="sibTrans" cxnId="{069E7B62-67DC-402C-A20E-815FE5DCA1D4}">
      <dgm:prSet/>
      <dgm:spPr/>
      <dgm:t>
        <a:bodyPr/>
        <a:lstStyle/>
        <a:p>
          <a:pPr latinLnBrk="1"/>
          <a:endParaRPr lang="ko-KR" altLang="en-US"/>
        </a:p>
      </dgm:t>
    </dgm:pt>
    <dgm:pt modelId="{3CC93A98-39FB-48F4-BF9F-CEEFD6E20496}">
      <dgm:prSet phldrT="[텍스트]" phldr="0" custT="1"/>
      <dgm:spPr/>
      <dgm:t>
        <a:bodyPr/>
        <a:lstStyle/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ko-KR" altLang="en-US" sz="1200" b="1" dirty="0">
            <a:solidFill>
              <a:srgbClr val="FF0000"/>
            </a:solidFill>
          </a:endParaRPr>
        </a:p>
      </dgm:t>
    </dgm:pt>
    <dgm:pt modelId="{F16B81EB-BF6A-4405-BE28-819CD9C15CB8}" type="sibTrans" cxnId="{DDAFBA45-CD58-48E8-BC1D-AE867ADA64D5}">
      <dgm:prSet/>
      <dgm:spPr/>
      <dgm:t>
        <a:bodyPr/>
        <a:lstStyle/>
        <a:p>
          <a:pPr latinLnBrk="1"/>
          <a:endParaRPr lang="ko-KR" altLang="en-US"/>
        </a:p>
      </dgm:t>
    </dgm:pt>
    <dgm:pt modelId="{D6973EA4-7A48-4C49-8F0C-2E23B48C20F6}" type="parTrans" cxnId="{DDAFBA45-CD58-48E8-BC1D-AE867ADA64D5}">
      <dgm:prSet/>
      <dgm:spPr/>
      <dgm:t>
        <a:bodyPr/>
        <a:lstStyle/>
        <a:p>
          <a:pPr latinLnBrk="1"/>
          <a:endParaRPr lang="ko-KR" altLang="en-US"/>
        </a:p>
      </dgm:t>
    </dgm:pt>
    <dgm:pt modelId="{985E501E-D467-4BD7-85D5-99B8FC0EB252}" type="pres">
      <dgm:prSet presAssocID="{C5B9D8F7-FCAA-4745-8CA6-E9E8E261F05E}" presName="Name0" presStyleCnt="0">
        <dgm:presLayoutVars>
          <dgm:dir/>
          <dgm:resizeHandles val="exact"/>
        </dgm:presLayoutVars>
      </dgm:prSet>
      <dgm:spPr/>
    </dgm:pt>
    <dgm:pt modelId="{42AF412B-E9EC-4E4E-AFCD-31055CC6230B}" type="pres">
      <dgm:prSet presAssocID="{C5B9D8F7-FCAA-4745-8CA6-E9E8E261F05E}" presName="arrow" presStyleLbl="bgShp" presStyleIdx="0" presStyleCnt="1" custLinFactNeighborX="85"/>
      <dgm:spPr/>
    </dgm:pt>
    <dgm:pt modelId="{38D2235C-8B1C-4108-8C0E-017DE6EE7D38}" type="pres">
      <dgm:prSet presAssocID="{C5B9D8F7-FCAA-4745-8CA6-E9E8E261F05E}" presName="points" presStyleCnt="0"/>
      <dgm:spPr/>
    </dgm:pt>
    <dgm:pt modelId="{F3DA0CF4-9251-4980-A4C4-8E788B260374}" type="pres">
      <dgm:prSet presAssocID="{39A7C58B-42AD-48FE-9825-766EC58C870D}" presName="compositeA" presStyleCnt="0"/>
      <dgm:spPr/>
    </dgm:pt>
    <dgm:pt modelId="{25B73BBE-C317-4D92-84F0-95F0D535986B}" type="pres">
      <dgm:prSet presAssocID="{39A7C58B-42AD-48FE-9825-766EC58C870D}" presName="textA" presStyleLbl="revTx" presStyleIdx="0" presStyleCnt="4">
        <dgm:presLayoutVars>
          <dgm:bulletEnabled val="1"/>
        </dgm:presLayoutVars>
      </dgm:prSet>
      <dgm:spPr/>
    </dgm:pt>
    <dgm:pt modelId="{BCBA9CB0-2C39-4DFC-9412-8E8A1E83BEF1}" type="pres">
      <dgm:prSet presAssocID="{39A7C58B-42AD-48FE-9825-766EC58C870D}" presName="circleA" presStyleLbl="node1" presStyleIdx="0" presStyleCnt="4"/>
      <dgm:spPr/>
    </dgm:pt>
    <dgm:pt modelId="{A49DD8F2-E8E3-493F-ABEA-CFCF5CA6BB76}" type="pres">
      <dgm:prSet presAssocID="{39A7C58B-42AD-48FE-9825-766EC58C870D}" presName="spaceA" presStyleCnt="0"/>
      <dgm:spPr/>
    </dgm:pt>
    <dgm:pt modelId="{A68B2B42-3374-45CD-A099-86C60CE70CF7}" type="pres">
      <dgm:prSet presAssocID="{A1FA2783-CFC5-4A91-8B47-C05EB5B8D40B}" presName="space" presStyleCnt="0"/>
      <dgm:spPr/>
    </dgm:pt>
    <dgm:pt modelId="{995964D0-9535-4DEB-88BA-0D8D494163B6}" type="pres">
      <dgm:prSet presAssocID="{8B138B62-8C4F-429F-BFF5-969D2ABCB7D8}" presName="compositeB" presStyleCnt="0"/>
      <dgm:spPr/>
    </dgm:pt>
    <dgm:pt modelId="{6A38A344-6198-4B82-A2F6-BF6740A6CC06}" type="pres">
      <dgm:prSet presAssocID="{8B138B62-8C4F-429F-BFF5-969D2ABCB7D8}" presName="textB" presStyleLbl="revTx" presStyleIdx="1" presStyleCnt="4">
        <dgm:presLayoutVars>
          <dgm:bulletEnabled val="1"/>
        </dgm:presLayoutVars>
      </dgm:prSet>
      <dgm:spPr/>
    </dgm:pt>
    <dgm:pt modelId="{AE52A786-94D3-4C8E-B88D-212F45FD56C0}" type="pres">
      <dgm:prSet presAssocID="{8B138B62-8C4F-429F-BFF5-969D2ABCB7D8}" presName="circleB" presStyleLbl="node1" presStyleIdx="1" presStyleCnt="4"/>
      <dgm:spPr>
        <a:solidFill>
          <a:srgbClr val="FFC000"/>
        </a:solidFill>
        <a:ln>
          <a:solidFill>
            <a:srgbClr val="FF0000"/>
          </a:solidFill>
        </a:ln>
      </dgm:spPr>
    </dgm:pt>
    <dgm:pt modelId="{2F54BD12-F398-4BA9-ACBF-03006B801751}" type="pres">
      <dgm:prSet presAssocID="{8B138B62-8C4F-429F-BFF5-969D2ABCB7D8}" presName="spaceB" presStyleCnt="0"/>
      <dgm:spPr/>
    </dgm:pt>
    <dgm:pt modelId="{49A438CF-5762-473D-90BB-B6148DABC8F6}" type="pres">
      <dgm:prSet presAssocID="{9CDAE363-26BA-469A-813A-DA4D78D6F12B}" presName="space" presStyleCnt="0"/>
      <dgm:spPr/>
    </dgm:pt>
    <dgm:pt modelId="{B5ADD660-40E7-40FB-8F1D-12867346F949}" type="pres">
      <dgm:prSet presAssocID="{3CC93A98-39FB-48F4-BF9F-CEEFD6E20496}" presName="compositeA" presStyleCnt="0"/>
      <dgm:spPr/>
    </dgm:pt>
    <dgm:pt modelId="{94658EE2-0C66-4135-80F4-DF92E46A4CE9}" type="pres">
      <dgm:prSet presAssocID="{3CC93A98-39FB-48F4-BF9F-CEEFD6E20496}" presName="textA" presStyleLbl="revTx" presStyleIdx="2" presStyleCnt="4">
        <dgm:presLayoutVars>
          <dgm:bulletEnabled val="1"/>
        </dgm:presLayoutVars>
      </dgm:prSet>
      <dgm:spPr/>
    </dgm:pt>
    <dgm:pt modelId="{BEB8233A-E01F-464D-A52A-9FA0BE1D0400}" type="pres">
      <dgm:prSet presAssocID="{3CC93A98-39FB-48F4-BF9F-CEEFD6E20496}" presName="circleA" presStyleLbl="node1" presStyleIdx="2" presStyleCnt="4"/>
      <dgm:spPr>
        <a:solidFill>
          <a:srgbClr val="FFFF00"/>
        </a:solidFill>
      </dgm:spPr>
    </dgm:pt>
    <dgm:pt modelId="{9EEA092F-F13D-42EE-9BB3-75BA3F0EADB0}" type="pres">
      <dgm:prSet presAssocID="{3CC93A98-39FB-48F4-BF9F-CEEFD6E20496}" presName="spaceA" presStyleCnt="0"/>
      <dgm:spPr/>
    </dgm:pt>
    <dgm:pt modelId="{90B4405B-E9F0-418B-BEFC-714F66AF67DD}" type="pres">
      <dgm:prSet presAssocID="{F16B81EB-BF6A-4405-BE28-819CD9C15CB8}" presName="space" presStyleCnt="0"/>
      <dgm:spPr/>
    </dgm:pt>
    <dgm:pt modelId="{5876AE8C-256B-4338-B449-66380B30C888}" type="pres">
      <dgm:prSet presAssocID="{1D48558B-D7BF-4131-B863-5F2465B2953D}" presName="compositeB" presStyleCnt="0"/>
      <dgm:spPr/>
    </dgm:pt>
    <dgm:pt modelId="{8669DE5D-94F9-4C34-B581-79C651E8DF77}" type="pres">
      <dgm:prSet presAssocID="{1D48558B-D7BF-4131-B863-5F2465B2953D}" presName="textB" presStyleLbl="revTx" presStyleIdx="3" presStyleCnt="4">
        <dgm:presLayoutVars>
          <dgm:bulletEnabled val="1"/>
        </dgm:presLayoutVars>
      </dgm:prSet>
      <dgm:spPr/>
    </dgm:pt>
    <dgm:pt modelId="{8221333C-2905-481A-BAAC-4371FA806EFB}" type="pres">
      <dgm:prSet presAssocID="{1D48558B-D7BF-4131-B863-5F2465B2953D}" presName="circleB" presStyleLbl="node1" presStyleIdx="3" presStyleCnt="4"/>
      <dgm:spPr/>
    </dgm:pt>
    <dgm:pt modelId="{E20E7D06-E25D-48A1-894B-125D26A1FC57}" type="pres">
      <dgm:prSet presAssocID="{1D48558B-D7BF-4131-B863-5F2465B2953D}" presName="spaceB" presStyleCnt="0"/>
      <dgm:spPr/>
    </dgm:pt>
  </dgm:ptLst>
  <dgm:cxnLst>
    <dgm:cxn modelId="{10CC2C04-809A-42F8-854A-B1C338F68AB5}" type="presOf" srcId="{C5B9D8F7-FCAA-4745-8CA6-E9E8E261F05E}" destId="{985E501E-D467-4BD7-85D5-99B8FC0EB252}" srcOrd="0" destOrd="0" presId="urn:microsoft.com/office/officeart/2005/8/layout/hProcess11"/>
    <dgm:cxn modelId="{B223ED2A-4655-4A51-AEA0-F32693B83882}" type="presOf" srcId="{8B138B62-8C4F-429F-BFF5-969D2ABCB7D8}" destId="{6A38A344-6198-4B82-A2F6-BF6740A6CC06}" srcOrd="0" destOrd="0" presId="urn:microsoft.com/office/officeart/2005/8/layout/hProcess11"/>
    <dgm:cxn modelId="{069E7B62-67DC-402C-A20E-815FE5DCA1D4}" srcId="{C5B9D8F7-FCAA-4745-8CA6-E9E8E261F05E}" destId="{1D48558B-D7BF-4131-B863-5F2465B2953D}" srcOrd="3" destOrd="0" parTransId="{97BE763D-ECE8-4D18-884B-7DCF32B34624}" sibTransId="{C8E687FE-3331-434F-AE6E-D8766BCFDC59}"/>
    <dgm:cxn modelId="{DDAFBA45-CD58-48E8-BC1D-AE867ADA64D5}" srcId="{C5B9D8F7-FCAA-4745-8CA6-E9E8E261F05E}" destId="{3CC93A98-39FB-48F4-BF9F-CEEFD6E20496}" srcOrd="2" destOrd="0" parTransId="{D6973EA4-7A48-4C49-8F0C-2E23B48C20F6}" sibTransId="{F16B81EB-BF6A-4405-BE28-819CD9C15CB8}"/>
    <dgm:cxn modelId="{48DD0E7C-9051-4306-B3AE-DB685421A76B}" type="presOf" srcId="{39A7C58B-42AD-48FE-9825-766EC58C870D}" destId="{25B73BBE-C317-4D92-84F0-95F0D535986B}" srcOrd="0" destOrd="0" presId="urn:microsoft.com/office/officeart/2005/8/layout/hProcess11"/>
    <dgm:cxn modelId="{9D0E6491-74C5-4F67-8BB3-84014ACD8447}" srcId="{C5B9D8F7-FCAA-4745-8CA6-E9E8E261F05E}" destId="{39A7C58B-42AD-48FE-9825-766EC58C870D}" srcOrd="0" destOrd="0" parTransId="{46162150-3ACA-416C-92DC-1AE095A82EB8}" sibTransId="{A1FA2783-CFC5-4A91-8B47-C05EB5B8D40B}"/>
    <dgm:cxn modelId="{EDAE369A-860E-4A53-9236-7C497BFD3B57}" type="presOf" srcId="{1D48558B-D7BF-4131-B863-5F2465B2953D}" destId="{8669DE5D-94F9-4C34-B581-79C651E8DF77}" srcOrd="0" destOrd="0" presId="urn:microsoft.com/office/officeart/2005/8/layout/hProcess11"/>
    <dgm:cxn modelId="{BC8D4CA7-0D9C-484B-BC6F-12429C984AC2}" type="presOf" srcId="{3CC93A98-39FB-48F4-BF9F-CEEFD6E20496}" destId="{94658EE2-0C66-4135-80F4-DF92E46A4CE9}" srcOrd="0" destOrd="0" presId="urn:microsoft.com/office/officeart/2005/8/layout/hProcess11"/>
    <dgm:cxn modelId="{AE2642D7-D05B-4D25-B17F-A568F95DF327}" srcId="{C5B9D8F7-FCAA-4745-8CA6-E9E8E261F05E}" destId="{8B138B62-8C4F-429F-BFF5-969D2ABCB7D8}" srcOrd="1" destOrd="0" parTransId="{4308CB87-9F32-4F4A-BABA-33BFE499D6B7}" sibTransId="{9CDAE363-26BA-469A-813A-DA4D78D6F12B}"/>
    <dgm:cxn modelId="{7BD8CDCC-DC9D-40C4-8C31-FA0EDEC50B3B}" type="presParOf" srcId="{985E501E-D467-4BD7-85D5-99B8FC0EB252}" destId="{42AF412B-E9EC-4E4E-AFCD-31055CC6230B}" srcOrd="0" destOrd="0" presId="urn:microsoft.com/office/officeart/2005/8/layout/hProcess11"/>
    <dgm:cxn modelId="{5F662A82-AEF1-444D-B513-A2DCA69A6295}" type="presParOf" srcId="{985E501E-D467-4BD7-85D5-99B8FC0EB252}" destId="{38D2235C-8B1C-4108-8C0E-017DE6EE7D38}" srcOrd="1" destOrd="0" presId="urn:microsoft.com/office/officeart/2005/8/layout/hProcess11"/>
    <dgm:cxn modelId="{0051E908-5F46-4B12-B493-76791B6AB3E3}" type="presParOf" srcId="{38D2235C-8B1C-4108-8C0E-017DE6EE7D38}" destId="{F3DA0CF4-9251-4980-A4C4-8E788B260374}" srcOrd="0" destOrd="0" presId="urn:microsoft.com/office/officeart/2005/8/layout/hProcess11"/>
    <dgm:cxn modelId="{141DE4B6-2EBC-4C24-BB92-295571000125}" type="presParOf" srcId="{F3DA0CF4-9251-4980-A4C4-8E788B260374}" destId="{25B73BBE-C317-4D92-84F0-95F0D535986B}" srcOrd="0" destOrd="0" presId="urn:microsoft.com/office/officeart/2005/8/layout/hProcess11"/>
    <dgm:cxn modelId="{00F60219-4C00-41CC-A905-F158A91F8073}" type="presParOf" srcId="{F3DA0CF4-9251-4980-A4C4-8E788B260374}" destId="{BCBA9CB0-2C39-4DFC-9412-8E8A1E83BEF1}" srcOrd="1" destOrd="0" presId="urn:microsoft.com/office/officeart/2005/8/layout/hProcess11"/>
    <dgm:cxn modelId="{CC85B920-2871-4C73-9927-F374A07F4F93}" type="presParOf" srcId="{F3DA0CF4-9251-4980-A4C4-8E788B260374}" destId="{A49DD8F2-E8E3-493F-ABEA-CFCF5CA6BB76}" srcOrd="2" destOrd="0" presId="urn:microsoft.com/office/officeart/2005/8/layout/hProcess11"/>
    <dgm:cxn modelId="{A78C988D-051C-4BB1-A993-92945A011034}" type="presParOf" srcId="{38D2235C-8B1C-4108-8C0E-017DE6EE7D38}" destId="{A68B2B42-3374-45CD-A099-86C60CE70CF7}" srcOrd="1" destOrd="0" presId="urn:microsoft.com/office/officeart/2005/8/layout/hProcess11"/>
    <dgm:cxn modelId="{5D5EF120-1036-41F3-8EF0-D71D97B91525}" type="presParOf" srcId="{38D2235C-8B1C-4108-8C0E-017DE6EE7D38}" destId="{995964D0-9535-4DEB-88BA-0D8D494163B6}" srcOrd="2" destOrd="0" presId="urn:microsoft.com/office/officeart/2005/8/layout/hProcess11"/>
    <dgm:cxn modelId="{B2F884E2-93DF-494F-AA82-A1D39FD1150B}" type="presParOf" srcId="{995964D0-9535-4DEB-88BA-0D8D494163B6}" destId="{6A38A344-6198-4B82-A2F6-BF6740A6CC06}" srcOrd="0" destOrd="0" presId="urn:microsoft.com/office/officeart/2005/8/layout/hProcess11"/>
    <dgm:cxn modelId="{0BF53571-BDD9-44C4-8AA4-0D4B9AA00E55}" type="presParOf" srcId="{995964D0-9535-4DEB-88BA-0D8D494163B6}" destId="{AE52A786-94D3-4C8E-B88D-212F45FD56C0}" srcOrd="1" destOrd="0" presId="urn:microsoft.com/office/officeart/2005/8/layout/hProcess11"/>
    <dgm:cxn modelId="{4C837615-8412-4162-9BAC-A342ABD8A05E}" type="presParOf" srcId="{995964D0-9535-4DEB-88BA-0D8D494163B6}" destId="{2F54BD12-F398-4BA9-ACBF-03006B801751}" srcOrd="2" destOrd="0" presId="urn:microsoft.com/office/officeart/2005/8/layout/hProcess11"/>
    <dgm:cxn modelId="{226A44A1-A7E0-4846-912A-184982A67DDD}" type="presParOf" srcId="{38D2235C-8B1C-4108-8C0E-017DE6EE7D38}" destId="{49A438CF-5762-473D-90BB-B6148DABC8F6}" srcOrd="3" destOrd="0" presId="urn:microsoft.com/office/officeart/2005/8/layout/hProcess11"/>
    <dgm:cxn modelId="{90FE2588-AAAA-4464-9B72-9A882EF4F210}" type="presParOf" srcId="{38D2235C-8B1C-4108-8C0E-017DE6EE7D38}" destId="{B5ADD660-40E7-40FB-8F1D-12867346F949}" srcOrd="4" destOrd="0" presId="urn:microsoft.com/office/officeart/2005/8/layout/hProcess11"/>
    <dgm:cxn modelId="{1491837A-5F8B-480E-B32A-42D7F2BD9917}" type="presParOf" srcId="{B5ADD660-40E7-40FB-8F1D-12867346F949}" destId="{94658EE2-0C66-4135-80F4-DF92E46A4CE9}" srcOrd="0" destOrd="0" presId="urn:microsoft.com/office/officeart/2005/8/layout/hProcess11"/>
    <dgm:cxn modelId="{31688865-4BE6-4A16-9307-D812450AA8E3}" type="presParOf" srcId="{B5ADD660-40E7-40FB-8F1D-12867346F949}" destId="{BEB8233A-E01F-464D-A52A-9FA0BE1D0400}" srcOrd="1" destOrd="0" presId="urn:microsoft.com/office/officeart/2005/8/layout/hProcess11"/>
    <dgm:cxn modelId="{D273AD9C-C974-41B9-8BD8-B88848C6185B}" type="presParOf" srcId="{B5ADD660-40E7-40FB-8F1D-12867346F949}" destId="{9EEA092F-F13D-42EE-9BB3-75BA3F0EADB0}" srcOrd="2" destOrd="0" presId="urn:microsoft.com/office/officeart/2005/8/layout/hProcess11"/>
    <dgm:cxn modelId="{772024B4-8F47-4889-985D-F9DDEDF8A148}" type="presParOf" srcId="{38D2235C-8B1C-4108-8C0E-017DE6EE7D38}" destId="{90B4405B-E9F0-418B-BEFC-714F66AF67DD}" srcOrd="5" destOrd="0" presId="urn:microsoft.com/office/officeart/2005/8/layout/hProcess11"/>
    <dgm:cxn modelId="{4B8771B9-9B0F-4F0F-BA56-7C5A3E29EFBE}" type="presParOf" srcId="{38D2235C-8B1C-4108-8C0E-017DE6EE7D38}" destId="{5876AE8C-256B-4338-B449-66380B30C888}" srcOrd="6" destOrd="0" presId="urn:microsoft.com/office/officeart/2005/8/layout/hProcess11"/>
    <dgm:cxn modelId="{76136431-7BA2-4635-A2C3-A2BB295FFECC}" type="presParOf" srcId="{5876AE8C-256B-4338-B449-66380B30C888}" destId="{8669DE5D-94F9-4C34-B581-79C651E8DF77}" srcOrd="0" destOrd="0" presId="urn:microsoft.com/office/officeart/2005/8/layout/hProcess11"/>
    <dgm:cxn modelId="{516CAF68-A9C5-45BD-A61E-EBCCFDA4FECD}" type="presParOf" srcId="{5876AE8C-256B-4338-B449-66380B30C888}" destId="{8221333C-2905-481A-BAAC-4371FA806EFB}" srcOrd="1" destOrd="0" presId="urn:microsoft.com/office/officeart/2005/8/layout/hProcess11"/>
    <dgm:cxn modelId="{85CBAD83-0A5E-43A2-BAE6-13A115A87611}" type="presParOf" srcId="{5876AE8C-256B-4338-B449-66380B30C888}" destId="{E20E7D06-E25D-48A1-894B-125D26A1FC5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F412B-E9EC-4E4E-AFCD-31055CC6230B}">
      <dsp:nvSpPr>
        <dsp:cNvPr id="0" name=""/>
        <dsp:cNvSpPr/>
      </dsp:nvSpPr>
      <dsp:spPr>
        <a:xfrm>
          <a:off x="0" y="1061974"/>
          <a:ext cx="12095176" cy="14159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73BBE-C317-4D92-84F0-95F0D535986B}">
      <dsp:nvSpPr>
        <dsp:cNvPr id="0" name=""/>
        <dsp:cNvSpPr/>
      </dsp:nvSpPr>
      <dsp:spPr>
        <a:xfrm>
          <a:off x="5448" y="0"/>
          <a:ext cx="2620424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4C72B0"/>
              </a:solidFill>
              <a:latin typeface="Noto Sans CJK KR"/>
            </a:rPr>
            <a:t>anakin87/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4C72B0"/>
              </a:solidFill>
              <a:latin typeface="Noto Sans CJK KR"/>
            </a:rPr>
            <a:t>events-scheduling 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영문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500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행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5448" y="0"/>
        <a:ext cx="2620424" cy="1415966"/>
      </dsp:txXfrm>
    </dsp:sp>
    <dsp:sp modelId="{BCBA9CB0-2C39-4DFC-9412-8E8A1E83BEF1}">
      <dsp:nvSpPr>
        <dsp:cNvPr id="0" name=""/>
        <dsp:cNvSpPr/>
      </dsp:nvSpPr>
      <dsp:spPr>
        <a:xfrm>
          <a:off x="1138664" y="1592961"/>
          <a:ext cx="353991" cy="353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8A344-6198-4B82-A2F6-BF6740A6CC06}">
      <dsp:nvSpPr>
        <dsp:cNvPr id="0" name=""/>
        <dsp:cNvSpPr/>
      </dsp:nvSpPr>
      <dsp:spPr>
        <a:xfrm>
          <a:off x="2756893" y="2123949"/>
          <a:ext cx="2620424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 err="1">
              <a:solidFill>
                <a:srgbClr val="55A868"/>
              </a:solidFill>
              <a:latin typeface="Noto Sans CJK KR"/>
            </a:rPr>
            <a:t>nvidia</a:t>
          </a:r>
          <a:r>
            <a:rPr lang="en-US" sz="1300" b="1" i="0" kern="1200" dirty="0">
              <a:solidFill>
                <a:srgbClr val="55A868"/>
              </a:solidFill>
              <a:latin typeface="Noto Sans CJK KR"/>
            </a:rPr>
            <a:t>/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 err="1">
              <a:solidFill>
                <a:srgbClr val="55A868"/>
              </a:solidFill>
              <a:latin typeface="Noto Sans CJK KR"/>
            </a:rPr>
            <a:t>Nemotron</a:t>
          </a:r>
          <a:r>
            <a:rPr lang="en-US" sz="1300" b="1" i="0" kern="1200" dirty="0">
              <a:solidFill>
                <a:srgbClr val="55A868"/>
              </a:solidFill>
              <a:latin typeface="Noto Sans CJK KR"/>
            </a:rPr>
            <a:t>-Personas-Korea 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한국어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100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만행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2756893" y="2123949"/>
        <a:ext cx="2620424" cy="1415966"/>
      </dsp:txXfrm>
    </dsp:sp>
    <dsp:sp modelId="{AE52A786-94D3-4C8E-B88D-212F45FD56C0}">
      <dsp:nvSpPr>
        <dsp:cNvPr id="0" name=""/>
        <dsp:cNvSpPr/>
      </dsp:nvSpPr>
      <dsp:spPr>
        <a:xfrm>
          <a:off x="3890110" y="1592961"/>
          <a:ext cx="353991" cy="353991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58EE2-0C66-4135-80F4-DF92E46A4CE9}">
      <dsp:nvSpPr>
        <dsp:cNvPr id="0" name=""/>
        <dsp:cNvSpPr/>
      </dsp:nvSpPr>
      <dsp:spPr>
        <a:xfrm>
          <a:off x="5508339" y="0"/>
          <a:ext cx="2620424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b="1" kern="1200" dirty="0">
            <a:solidFill>
              <a:srgbClr val="FF0000"/>
            </a:solidFill>
          </a:endParaRPr>
        </a:p>
      </dsp:txBody>
      <dsp:txXfrm>
        <a:off x="5508339" y="0"/>
        <a:ext cx="2620424" cy="1415966"/>
      </dsp:txXfrm>
    </dsp:sp>
    <dsp:sp modelId="{BEB8233A-E01F-464D-A52A-9FA0BE1D0400}">
      <dsp:nvSpPr>
        <dsp:cNvPr id="0" name=""/>
        <dsp:cNvSpPr/>
      </dsp:nvSpPr>
      <dsp:spPr>
        <a:xfrm>
          <a:off x="6641556" y="1592961"/>
          <a:ext cx="353991" cy="353991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9DE5D-94F9-4C34-B581-79C651E8DF77}">
      <dsp:nvSpPr>
        <dsp:cNvPr id="0" name=""/>
        <dsp:cNvSpPr/>
      </dsp:nvSpPr>
      <dsp:spPr>
        <a:xfrm>
          <a:off x="8259785" y="2123949"/>
          <a:ext cx="2620424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0" tIns="355600" rIns="355600" bIns="355600" numCol="1" spcCol="1270" anchor="t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0" kern="1200" dirty="0"/>
        </a:p>
      </dsp:txBody>
      <dsp:txXfrm>
        <a:off x="8259785" y="2123949"/>
        <a:ext cx="2620424" cy="1415966"/>
      </dsp:txXfrm>
    </dsp:sp>
    <dsp:sp modelId="{8221333C-2905-481A-BAAC-4371FA806EFB}">
      <dsp:nvSpPr>
        <dsp:cNvPr id="0" name=""/>
        <dsp:cNvSpPr/>
      </dsp:nvSpPr>
      <dsp:spPr>
        <a:xfrm>
          <a:off x="9393002" y="1592961"/>
          <a:ext cx="353991" cy="353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Noto Sans CJK KR"/>
              </a:rPr>
              <a:t>TimeSorter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9D4E0"/>
                </a:solidFill>
                <a:latin typeface="Noto Sans CJK KR"/>
              </a:rPr>
              <a:t>한국어 일정 우선순위 정렬 비서 — Qwen3.5-4B 파인튜닝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D8452"/>
                </a:solidFill>
                <a:latin typeface="Noto Sans CJK KR"/>
              </a:rPr>
              <a:t>SFT → DPO 파이프라인 · 4축 JSON 채점 · RTX 12GB QLoRA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9FAEBF"/>
                </a:solidFill>
                <a:latin typeface="Noto Sans CJK KR"/>
              </a:rPr>
              <a:t>할 일 목록을 긴급도·중요도·의존성·시간제약 4축으로 채점해 실행 순서를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Noto Sans CJK KR"/>
              </a:rPr>
              <a:t>2026-06 · github.com/jung-geun/TimeSorter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프로젝트 개요 — 무엇을 푸는가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스마트폰·PC에서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'</a:t>
            </a:r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오늘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할 </a:t>
            </a:r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일'을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입력하면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, </a:t>
            </a:r>
            <a:r>
              <a:rPr sz="1600" b="1" i="0" dirty="0" err="1">
                <a:latin typeface="Noto Sans CJK KR"/>
              </a:rPr>
              <a:t>AI가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페르소나와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맥락을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이해해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실행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순서를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제안하는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개인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비서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코어</a:t>
            </a:r>
            <a:r>
              <a:rPr sz="1600" b="1" i="0" dirty="0">
                <a:latin typeface="Noto Sans CJK KR"/>
              </a:rPr>
              <a:t> </a:t>
            </a:r>
            <a:r>
              <a:rPr sz="1600" b="1" i="0" dirty="0" err="1">
                <a:latin typeface="Noto Sans CJK KR"/>
              </a:rPr>
              <a:t>모델</a:t>
            </a:r>
            <a:r>
              <a:rPr sz="1600" b="0" i="0" dirty="0">
                <a:solidFill>
                  <a:srgbClr val="C00000"/>
                </a:solidFill>
                <a:latin typeface="Noto Sans CJK KR"/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단순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키워드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정렬이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아니라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, 각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태스크를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4개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축으로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1–5점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채점하고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근거를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함께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제시한다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495808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  <a:latin typeface="Noto Sans CJK KR"/>
              </a:rPr>
              <a:t>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rgbClr val="222222"/>
                </a:solidFill>
                <a:latin typeface="Noto Sans CJK KR"/>
              </a:rPr>
              <a:t>[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페르소나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] 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최건호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플랜트공학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기술자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, 63세)</a:t>
            </a:r>
          </a:p>
          <a:p>
            <a:pPr algn="l">
              <a:spcAft>
                <a:spcPts val="800"/>
              </a:spcAft>
            </a:pPr>
            <a:r>
              <a:rPr sz="1100" b="0" i="0" dirty="0" err="1">
                <a:solidFill>
                  <a:srgbClr val="5A5A5A"/>
                </a:solidFill>
                <a:latin typeface="Noto Sans CJK KR"/>
              </a:rPr>
              <a:t>오늘</a:t>
            </a:r>
            <a:r>
              <a:rPr sz="1100" b="0" i="0" dirty="0">
                <a:solidFill>
                  <a:srgbClr val="5A5A5A"/>
                </a:solidFill>
                <a:latin typeface="Noto Sans CJK KR"/>
              </a:rPr>
              <a:t>: 2026-0</a:t>
            </a:r>
            <a:r>
              <a:rPr lang="en-US" altLang="ko-KR" sz="1100" b="0" i="0" dirty="0">
                <a:solidFill>
                  <a:srgbClr val="5A5A5A"/>
                </a:solidFill>
                <a:latin typeface="Noto Sans CJK KR"/>
              </a:rPr>
              <a:t>3</a:t>
            </a:r>
            <a:r>
              <a:rPr sz="1100" b="0" i="0" dirty="0">
                <a:solidFill>
                  <a:srgbClr val="5A5A5A"/>
                </a:solidFill>
                <a:latin typeface="Noto Sans CJK KR"/>
              </a:rPr>
              <a:t>-</a:t>
            </a:r>
            <a:r>
              <a:rPr lang="en-US" altLang="ko-KR" sz="1100" b="0" i="0" dirty="0">
                <a:solidFill>
                  <a:srgbClr val="5A5A5A"/>
                </a:solidFill>
                <a:latin typeface="Noto Sans CJK KR"/>
              </a:rPr>
              <a:t>30</a:t>
            </a:r>
            <a:endParaRPr sz="110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배관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열손실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검토표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제출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lang="en-US" altLang="ko-KR" sz="1200" b="0" i="0" dirty="0">
                <a:solidFill>
                  <a:srgbClr val="222222"/>
                </a:solidFill>
                <a:latin typeface="Noto Sans CJK KR"/>
              </a:rPr>
              <a:t>3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/</a:t>
            </a:r>
            <a:r>
              <a:rPr lang="en-US" altLang="ko-KR" sz="1200" b="0" i="0" dirty="0">
                <a:solidFill>
                  <a:srgbClr val="222222"/>
                </a:solidFill>
                <a:latin typeface="Noto Sans CJK KR"/>
              </a:rPr>
              <a:t>30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09:30)</a:t>
            </a: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공정안전성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회의자료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초안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(4/4 10:00)</a:t>
            </a: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현장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펌프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진동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기록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정리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마감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없음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)</a:t>
            </a: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열교환기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시험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보고서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(3/30 15:00)</a:t>
            </a:r>
          </a:p>
          <a:p>
            <a:pPr algn="l"/>
            <a:r>
              <a:rPr sz="1200" b="0" i="0" dirty="0">
                <a:solidFill>
                  <a:srgbClr val="C0392B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부식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코팅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검토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의견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(3/29 18:00 →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지남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59600" y="2743200"/>
            <a:ext cx="470408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42480" y="2880360"/>
            <a:ext cx="50292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 err="1">
                <a:solidFill>
                  <a:srgbClr val="55A868"/>
                </a:solidFill>
                <a:latin typeface="Noto Sans CJK KR"/>
              </a:rPr>
              <a:t>출력</a:t>
            </a:r>
            <a:r>
              <a:rPr sz="1500" b="1" i="0" dirty="0">
                <a:solidFill>
                  <a:srgbClr val="55A868"/>
                </a:solidFill>
                <a:latin typeface="Noto Sans CJK KR"/>
              </a:rPr>
              <a:t> (4축 JSON)</a:t>
            </a:r>
            <a:r>
              <a:rPr lang="en-US" sz="1500" b="1" i="0" dirty="0">
                <a:solidFill>
                  <a:srgbClr val="55A868"/>
                </a:solidFill>
                <a:latin typeface="Noto Sans CJK KR"/>
              </a:rPr>
              <a:t>  -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긴급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중요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의존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시간</a:t>
            </a:r>
            <a:endParaRPr sz="1500" b="1" i="0" dirty="0">
              <a:solidFill>
                <a:srgbClr val="C00000"/>
              </a:solidFill>
              <a:latin typeface="Noto Sans CJK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2480" y="3291840"/>
            <a:ext cx="5120640" cy="1526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우선순위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: 1 → 4 → 2 → 3 → 5</a:t>
            </a: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①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배관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검토표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 [긴급5·중요4·의존1·시간5]</a:t>
            </a: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④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열교환기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보고서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[긴급4·중요4·의존2·시간4]</a:t>
            </a: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②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회의자료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초안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[긴급2·중요4·의존3·시간2]</a:t>
            </a: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③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펌프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기록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정리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[긴급1·중요2·의존1·시간1]</a:t>
            </a: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C0392B"/>
                </a:solidFill>
                <a:latin typeface="Noto Sans CJK KR"/>
              </a:rPr>
              <a:t>⑤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부식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검토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[긴급1·중요1·의존1·시간1]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이미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지남</a:t>
            </a:r>
            <a:endParaRPr sz="1150" b="0" i="0" dirty="0">
              <a:solidFill>
                <a:srgbClr val="C0392B"/>
              </a:solidFill>
              <a:latin typeface="Noto Sans CJK KR"/>
            </a:endParaRPr>
          </a:p>
          <a:p>
            <a:pPr algn="l">
              <a:spcBef>
                <a:spcPts val="600"/>
              </a:spcBef>
            </a:pPr>
            <a:r>
              <a:rPr lang="en-US" sz="1100" b="0" i="1" dirty="0">
                <a:solidFill>
                  <a:srgbClr val="55A868"/>
                </a:solidFill>
                <a:latin typeface="Noto Sans CJK KR"/>
              </a:rPr>
              <a:t>        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→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지난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일정은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자동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강등·최하위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배치</a:t>
            </a:r>
            <a:endParaRPr sz="1100" b="0" i="1" dirty="0">
              <a:solidFill>
                <a:srgbClr val="55A868"/>
              </a:solidFill>
              <a:latin typeface="Noto Sans CJK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</a:t>
            </a:r>
          </a:p>
        </p:txBody>
      </p:sp>
      <p:sp>
        <p:nvSpPr>
          <p:cNvPr id="14" name="화살표: 줄무늬가 있는 오른쪽 13">
            <a:extLst>
              <a:ext uri="{FF2B5EF4-FFF2-40B4-BE49-F238E27FC236}">
                <a16:creationId xmlns:a16="http://schemas.microsoft.com/office/drawing/2014/main" id="{6AC25102-FF55-4F17-B0AD-7A0774ED3807}"/>
              </a:ext>
            </a:extLst>
          </p:cNvPr>
          <p:cNvSpPr/>
          <p:nvPr/>
        </p:nvSpPr>
        <p:spPr>
          <a:xfrm>
            <a:off x="5760720" y="3779520"/>
            <a:ext cx="944880" cy="883920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18EE-F3D0-9696-0237-267A81AE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7F4189-4196-F78C-4485-408391F7071D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CE0B4-F278-F460-B7F3-BB5FED8CA6D5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4A813-170B-1AA5-56EF-5436C327007D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원본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과 증강 </a:t>
            </a:r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-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처리 절차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2FC29-2DB4-A627-8203-53B22A913E28}"/>
              </a:ext>
            </a:extLst>
          </p:cNvPr>
          <p:cNvSpPr txBox="1"/>
          <p:nvPr/>
        </p:nvSpPr>
        <p:spPr>
          <a:xfrm>
            <a:off x="10789920" y="67208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3</a:t>
            </a:r>
          </a:p>
        </p:txBody>
      </p:sp>
      <p:graphicFrame>
        <p:nvGraphicFramePr>
          <p:cNvPr id="15" name="다이어그램 14">
            <a:extLst>
              <a:ext uri="{FF2B5EF4-FFF2-40B4-BE49-F238E27FC236}">
                <a16:creationId xmlns:a16="http://schemas.microsoft.com/office/drawing/2014/main" id="{F4D3B83C-79B5-9424-9949-BF8971917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289803"/>
              </p:ext>
            </p:extLst>
          </p:nvPr>
        </p:nvGraphicFramePr>
        <p:xfrm>
          <a:off x="96520" y="1582229"/>
          <a:ext cx="12095176" cy="3539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D0D1E93-A7CF-4749-597E-4BC5E1DD86FE}"/>
              </a:ext>
            </a:extLst>
          </p:cNvPr>
          <p:cNvSpPr txBox="1"/>
          <p:nvPr/>
        </p:nvSpPr>
        <p:spPr>
          <a:xfrm>
            <a:off x="269240" y="4612307"/>
            <a:ext cx="1478280" cy="101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ko-KR" altLang="ko-KR" sz="1200" dirty="0" err="1"/>
              <a:t>Hugging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Face</a:t>
            </a:r>
            <a:endParaRPr lang="en-US" altLang="ko-KR" sz="1200" dirty="0"/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</a:rPr>
              <a:t>이벤트 스케줄링용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</a:rPr>
              <a:t>합성 데이터셋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D7EB0-7F84-65DB-82CD-336078044819}"/>
              </a:ext>
            </a:extLst>
          </p:cNvPr>
          <p:cNvSpPr txBox="1"/>
          <p:nvPr/>
        </p:nvSpPr>
        <p:spPr>
          <a:xfrm>
            <a:off x="2319020" y="4626820"/>
            <a:ext cx="3218180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N</a:t>
            </a:r>
            <a:r>
              <a:rPr lang="ko-KR" altLang="ko-KR" sz="1200" dirty="0" err="1"/>
              <a:t>VIDIA가</a:t>
            </a:r>
            <a:r>
              <a:rPr lang="ko-KR" altLang="ko-KR" sz="1200" dirty="0"/>
              <a:t> </a:t>
            </a:r>
            <a:r>
              <a:rPr lang="ko-KR" altLang="ko-KR" sz="1200" dirty="0" err="1"/>
              <a:t>Hugging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Face에</a:t>
            </a:r>
            <a:r>
              <a:rPr lang="ko-KR" altLang="ko-KR" sz="1200" dirty="0"/>
              <a:t> 공개한 </a:t>
            </a:r>
            <a:endParaRPr lang="en-US" altLang="ko-KR" sz="1200" dirty="0"/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</a:rPr>
              <a:t>한국형 합성 페르소나 데이터셋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dirty="0"/>
              <a:t>한국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ko-KR" sz="1200" dirty="0" err="1"/>
              <a:t>지역·직업·생활방식·관심사·전문성</a:t>
            </a:r>
            <a:r>
              <a:rPr lang="en-US" altLang="ko-KR" sz="1200" dirty="0"/>
              <a:t> </a:t>
            </a:r>
            <a:r>
              <a:rPr lang="ko-KR" altLang="ko-KR" sz="1200" dirty="0"/>
              <a:t>등</a:t>
            </a:r>
            <a:r>
              <a:rPr lang="en-US" altLang="ko-KR" sz="1200" dirty="0"/>
              <a:t> </a:t>
            </a:r>
            <a:r>
              <a:rPr lang="ko-KR" altLang="ko-KR" sz="1200" dirty="0"/>
              <a:t>반영한 </a:t>
            </a:r>
            <a:r>
              <a:rPr lang="ko-KR" altLang="ko-KR" sz="1200" b="1" dirty="0"/>
              <a:t>가상 인물 프로필 </a:t>
            </a:r>
            <a:r>
              <a:rPr lang="en-US" altLang="ko-KR" sz="1200" b="1" dirty="0"/>
              <a:t> </a:t>
            </a:r>
            <a:r>
              <a:rPr lang="ko-KR" altLang="ko-KR" sz="1200" b="1" dirty="0"/>
              <a:t>100만</a:t>
            </a:r>
            <a:r>
              <a:rPr lang="ko-KR" altLang="en-US" sz="1200" b="1" dirty="0"/>
              <a:t>개</a:t>
            </a:r>
            <a:r>
              <a:rPr lang="ko-KR" altLang="ko-KR" sz="1200" b="1" dirty="0"/>
              <a:t> 데이터셋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2F51-F505-82A6-0509-E31553F1A204}"/>
              </a:ext>
            </a:extLst>
          </p:cNvPr>
          <p:cNvSpPr txBox="1"/>
          <p:nvPr/>
        </p:nvSpPr>
        <p:spPr>
          <a:xfrm>
            <a:off x="269240" y="1184296"/>
            <a:ext cx="3952132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V1 : </a:t>
            </a:r>
            <a:r>
              <a:rPr lang="ko-KR" altLang="en-US" dirty="0"/>
              <a:t>원시 데이터 생성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75A43-697F-6507-82A8-8F8B1C320439}"/>
              </a:ext>
            </a:extLst>
          </p:cNvPr>
          <p:cNvSpPr txBox="1"/>
          <p:nvPr/>
        </p:nvSpPr>
        <p:spPr>
          <a:xfrm flipH="1">
            <a:off x="302514" y="5715861"/>
            <a:ext cx="5191255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/>
              <a:t>문제점 </a:t>
            </a:r>
            <a:endParaRPr lang="en-US" altLang="ko-KR" sz="1200" b="1" dirty="0"/>
          </a:p>
          <a:p>
            <a:r>
              <a:rPr lang="en-US" altLang="ko-KR" sz="1200" dirty="0"/>
              <a:t>     1. </a:t>
            </a:r>
            <a:r>
              <a:rPr lang="ko-KR" altLang="en-US" sz="1200" b="1" dirty="0"/>
              <a:t>학습 </a:t>
            </a:r>
            <a:r>
              <a:rPr lang="ko-KR" altLang="en-US" sz="1200" b="1" dirty="0" err="1"/>
              <a:t>않됨</a:t>
            </a:r>
            <a:r>
              <a:rPr lang="ko-KR" altLang="en-US" sz="1200" b="1" dirty="0"/>
              <a:t> </a:t>
            </a:r>
            <a:r>
              <a:rPr lang="en-US" altLang="ko-KR" sz="1200" b="1" dirty="0">
                <a:latin typeface="맑은 고딕" panose="020B0503020000020004" pitchFamily="50" charset="-127"/>
              </a:rPr>
              <a:t>☞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성능 저하</a:t>
            </a:r>
            <a:endParaRPr lang="en-US" altLang="ko-KR" sz="1200" b="1" dirty="0"/>
          </a:p>
          <a:p>
            <a:r>
              <a:rPr lang="en-US" altLang="ko-KR" sz="1200" dirty="0"/>
              <a:t>          - </a:t>
            </a:r>
            <a:r>
              <a:rPr lang="en-US" altLang="ko-KR" sz="1200" dirty="0" err="1"/>
              <a:t>nvida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데이터셋은 스케쥴 </a:t>
            </a:r>
            <a:r>
              <a:rPr lang="en-US" altLang="ko-KR" sz="1200" dirty="0"/>
              <a:t>DATA</a:t>
            </a:r>
            <a:r>
              <a:rPr lang="ko-KR" altLang="en-US" sz="1200" dirty="0"/>
              <a:t>가 아님</a:t>
            </a:r>
            <a:r>
              <a:rPr lang="en-US" altLang="ko-KR" sz="1200" dirty="0"/>
              <a:t>(</a:t>
            </a:r>
            <a:r>
              <a:rPr lang="ko-KR" altLang="en-US" sz="1200" dirty="0"/>
              <a:t>페르소나 중심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  - 2</a:t>
            </a:r>
            <a:r>
              <a:rPr lang="ko-KR" altLang="en-US" sz="1200" dirty="0"/>
              <a:t>개 데이터가 상관관계가 약해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     2. </a:t>
            </a:r>
            <a:r>
              <a:rPr lang="ko-KR" altLang="en-US" sz="1200" b="1" dirty="0"/>
              <a:t>데이터 양 너무 많음 </a:t>
            </a:r>
            <a:r>
              <a:rPr lang="en-US" altLang="ko-KR" sz="1200" dirty="0">
                <a:latin typeface="맑은 고딕" panose="020B0503020000020004" pitchFamily="50" charset="-127"/>
              </a:rPr>
              <a:t>☞ </a:t>
            </a:r>
            <a:r>
              <a:rPr lang="en-US" altLang="ko-KR" sz="1200" b="1" dirty="0">
                <a:solidFill>
                  <a:srgbClr val="C00000"/>
                </a:solidFill>
              </a:rPr>
              <a:t>500 * 100</a:t>
            </a:r>
            <a:r>
              <a:rPr lang="ko-KR" altLang="en-US" sz="1200" b="1" dirty="0">
                <a:solidFill>
                  <a:srgbClr val="C00000"/>
                </a:solidFill>
              </a:rPr>
              <a:t>만개 </a:t>
            </a:r>
            <a:r>
              <a:rPr lang="en-US" altLang="ko-KR" sz="1200" b="1" dirty="0">
                <a:solidFill>
                  <a:srgbClr val="C00000"/>
                </a:solidFill>
              </a:rPr>
              <a:t>=&gt; </a:t>
            </a:r>
            <a:r>
              <a:rPr lang="ko-KR" altLang="en-US" sz="1200" b="1" dirty="0">
                <a:solidFill>
                  <a:srgbClr val="C00000"/>
                </a:solidFill>
              </a:rPr>
              <a:t>중간 멈춤</a:t>
            </a:r>
            <a:endParaRPr lang="en-US" altLang="ko-KR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012BE-C976-FAF2-C3D5-7AAFC0C40813}"/>
              </a:ext>
            </a:extLst>
          </p:cNvPr>
          <p:cNvSpPr txBox="1"/>
          <p:nvPr/>
        </p:nvSpPr>
        <p:spPr>
          <a:xfrm>
            <a:off x="5430628" y="1634547"/>
            <a:ext cx="32896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 - </a:t>
            </a:r>
            <a:r>
              <a:rPr lang="ko-KR" altLang="en-US" sz="1200" dirty="0">
                <a:highlight>
                  <a:srgbClr val="FFFF00"/>
                </a:highlight>
              </a:rPr>
              <a:t>페로소나 적용된 스케쥴 </a:t>
            </a:r>
            <a:r>
              <a:rPr lang="en-US" altLang="ko-KR" sz="1200" dirty="0">
                <a:highlight>
                  <a:srgbClr val="FFFF00"/>
                </a:highlight>
              </a:rPr>
              <a:t>DATA </a:t>
            </a:r>
            <a:r>
              <a:rPr lang="ko-KR" altLang="en-US" sz="1200" dirty="0">
                <a:highlight>
                  <a:srgbClr val="FFFF00"/>
                </a:highlight>
              </a:rPr>
              <a:t>생성</a:t>
            </a:r>
            <a:endParaRPr lang="en-US" altLang="ko-KR" sz="1200" dirty="0">
              <a:highlight>
                <a:srgbClr val="FFFF00"/>
              </a:highlight>
            </a:endParaRPr>
          </a:p>
          <a:p>
            <a:r>
              <a:rPr lang="en-US" altLang="ko-KR" sz="1200" dirty="0"/>
              <a:t>    (</a:t>
            </a:r>
            <a:r>
              <a:rPr lang="ko-KR" altLang="en-US" sz="1200" dirty="0"/>
              <a:t>이벤트 스케줄링용 합성 데이터셋</a:t>
            </a:r>
            <a:r>
              <a:rPr lang="en-US" altLang="ko-KR" sz="1200" dirty="0"/>
              <a:t>:</a:t>
            </a:r>
            <a:r>
              <a:rPr lang="ko-KR" altLang="en-US" sz="1200" dirty="0"/>
              <a:t>아이디어</a:t>
            </a:r>
            <a:endParaRPr lang="en-US" altLang="ko-KR" sz="1200" dirty="0"/>
          </a:p>
          <a:p>
            <a:r>
              <a:rPr lang="en-US" altLang="ko-KR" sz="1200" dirty="0"/>
              <a:t>      + </a:t>
            </a:r>
            <a:r>
              <a:rPr lang="ko-KR" altLang="ko-KR" sz="1200" dirty="0"/>
              <a:t>한국형 합성 페르소나 데이터셋</a:t>
            </a:r>
            <a:r>
              <a:rPr lang="en-US" altLang="ko-KR" sz="1200" dirty="0"/>
              <a:t>:</a:t>
            </a:r>
            <a:r>
              <a:rPr lang="ko-KR" altLang="en-US" sz="1200" dirty="0" err="1"/>
              <a:t>켄셉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endParaRPr lang="en-US" altLang="ko-KR" sz="1200" dirty="0"/>
          </a:p>
          <a:p>
            <a:r>
              <a:rPr lang="ko-KR" altLang="en-US" sz="1200" dirty="0"/>
              <a:t>    </a:t>
            </a:r>
            <a:r>
              <a:rPr lang="en-US" altLang="ko-KR" sz="1200" dirty="0">
                <a:latin typeface="맑은 고딕" panose="020B0503020000020004" pitchFamily="50" charset="-127"/>
              </a:rPr>
              <a:t>☞</a:t>
            </a:r>
            <a:r>
              <a:rPr lang="en-US" altLang="ko-KR" sz="1200" dirty="0"/>
              <a:t> </a:t>
            </a:r>
            <a:r>
              <a:rPr lang="ko-KR" altLang="en-US" sz="1200" dirty="0"/>
              <a:t>페르소나별 우선순위</a:t>
            </a:r>
            <a:r>
              <a:rPr lang="en-US" altLang="ko-KR" sz="1200" dirty="0"/>
              <a:t>(5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</a:p>
          <a:p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          (JOB 5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 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* 1,000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) – 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약 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5,000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en-US" altLang="ko-KR" sz="1200" dirty="0">
                <a:highlight>
                  <a:srgbClr val="FFFF00"/>
                </a:highlight>
              </a:rPr>
              <a:t>Json </a:t>
            </a:r>
            <a:r>
              <a:rPr lang="ko-KR" altLang="en-US" sz="1200" dirty="0">
                <a:highlight>
                  <a:srgbClr val="FFFF00"/>
                </a:highlight>
              </a:rPr>
              <a:t>포맷 적용 </a:t>
            </a:r>
            <a:r>
              <a:rPr lang="en-US" altLang="ko-KR" sz="1200" dirty="0">
                <a:highlight>
                  <a:srgbClr val="FFFF00"/>
                </a:highlight>
              </a:rPr>
              <a:t>: </a:t>
            </a:r>
            <a:r>
              <a:rPr lang="ko-KR" altLang="en-US" sz="1200" dirty="0">
                <a:highlight>
                  <a:srgbClr val="FFFF00"/>
                </a:highlight>
              </a:rPr>
              <a:t>파싱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활용능력 향상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A17362-9DB8-CF84-3BB7-C45F7458AF26}"/>
              </a:ext>
            </a:extLst>
          </p:cNvPr>
          <p:cNvSpPr txBox="1"/>
          <p:nvPr/>
        </p:nvSpPr>
        <p:spPr>
          <a:xfrm>
            <a:off x="5564632" y="1181854"/>
            <a:ext cx="297281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V2 : SFT</a:t>
            </a:r>
            <a:r>
              <a:rPr lang="ko-KR" altLang="en-US" dirty="0"/>
              <a:t> 위한 </a:t>
            </a:r>
            <a:r>
              <a:rPr lang="en-US" altLang="ko-KR" dirty="0"/>
              <a:t>DATA </a:t>
            </a:r>
            <a:r>
              <a:rPr lang="ko-KR" altLang="en-US" dirty="0"/>
              <a:t>셋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176F1D-E471-0DB0-9AF5-E99428BD7FED}"/>
              </a:ext>
            </a:extLst>
          </p:cNvPr>
          <p:cNvSpPr txBox="1"/>
          <p:nvPr/>
        </p:nvSpPr>
        <p:spPr>
          <a:xfrm>
            <a:off x="8865616" y="1185051"/>
            <a:ext cx="283870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V3 : DPO </a:t>
            </a:r>
            <a:r>
              <a:rPr lang="ko-KR" altLang="en-US" dirty="0"/>
              <a:t>선호도 </a:t>
            </a:r>
            <a:r>
              <a:rPr lang="en-US" altLang="ko-KR" dirty="0"/>
              <a:t>DATA </a:t>
            </a:r>
            <a:r>
              <a:rPr lang="ko-KR" altLang="en-US" dirty="0"/>
              <a:t>셋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89CED3-46E1-7F44-BFAC-C76B8EE7D581}"/>
              </a:ext>
            </a:extLst>
          </p:cNvPr>
          <p:cNvSpPr txBox="1"/>
          <p:nvPr/>
        </p:nvSpPr>
        <p:spPr>
          <a:xfrm>
            <a:off x="8870646" y="3804920"/>
            <a:ext cx="3667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highlight>
                  <a:srgbClr val="FFFF00"/>
                </a:highlight>
              </a:rPr>
              <a:t>- SFT</a:t>
            </a:r>
            <a:r>
              <a:rPr lang="ko-KR" altLang="en-US" sz="1200" dirty="0">
                <a:highlight>
                  <a:srgbClr val="FFFF00"/>
                </a:highlight>
              </a:rPr>
              <a:t> 추가 골격 검증</a:t>
            </a:r>
            <a:r>
              <a:rPr lang="en-US" altLang="ko-KR" sz="1200" dirty="0">
                <a:highlight>
                  <a:srgbClr val="FFFF00"/>
                </a:highlight>
              </a:rPr>
              <a:t>(2</a:t>
            </a:r>
            <a:r>
              <a:rPr lang="ko-KR" altLang="en-US" sz="1200" dirty="0">
                <a:highlight>
                  <a:srgbClr val="FFFF00"/>
                </a:highlight>
              </a:rPr>
              <a:t>차 정제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</a:p>
          <a:p>
            <a:r>
              <a:rPr lang="en-US" altLang="ko-KR" sz="1200" dirty="0"/>
              <a:t> =&gt; V2 </a:t>
            </a:r>
            <a:r>
              <a:rPr lang="ko-KR" altLang="en-US" sz="1200" dirty="0"/>
              <a:t>데이터셋 </a:t>
            </a:r>
            <a:r>
              <a:rPr lang="en-US" altLang="ko-KR" sz="1200" dirty="0" err="1"/>
              <a:t>json</a:t>
            </a:r>
            <a:r>
              <a:rPr lang="en-US" altLang="ko-KR" sz="1200" dirty="0"/>
              <a:t> </a:t>
            </a:r>
            <a:r>
              <a:rPr lang="ko-KR" altLang="en-US" sz="1200" dirty="0"/>
              <a:t>표현 다양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</a:t>
            </a:r>
            <a:r>
              <a:rPr lang="en-US" altLang="ko-KR" sz="1200" dirty="0"/>
              <a:t> </a:t>
            </a:r>
            <a:r>
              <a:rPr lang="en-US" altLang="ko-KR" sz="1200" dirty="0" err="1"/>
              <a:t>json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데이터셋 통일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>
                <a:highlight>
                  <a:srgbClr val="FFFF00"/>
                </a:highlight>
              </a:rPr>
              <a:t>- DPO</a:t>
            </a:r>
            <a:r>
              <a:rPr lang="ko-KR" altLang="en-US" sz="1200" dirty="0">
                <a:highlight>
                  <a:srgbClr val="FFFF00"/>
                </a:highlight>
              </a:rPr>
              <a:t>을 위한 선호도 데이터셋</a:t>
            </a:r>
            <a:endParaRPr lang="en-US" altLang="ko-KR" sz="1200" dirty="0">
              <a:highlight>
                <a:srgbClr val="FFFF00"/>
              </a:highlight>
            </a:endParaRPr>
          </a:p>
          <a:p>
            <a:r>
              <a:rPr lang="en-US" altLang="ko-KR" sz="1200" dirty="0"/>
              <a:t> 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정답지</a:t>
            </a:r>
            <a:r>
              <a:rPr lang="en-US" altLang="ko-KR" sz="1200" b="1" dirty="0">
                <a:solidFill>
                  <a:srgbClr val="FF0000"/>
                </a:solidFill>
              </a:rPr>
              <a:t>-</a:t>
            </a:r>
            <a:r>
              <a:rPr lang="ko-KR" altLang="en-US" sz="1200" b="1" dirty="0">
                <a:solidFill>
                  <a:srgbClr val="FF0000"/>
                </a:solidFill>
              </a:rPr>
              <a:t>오답지</a:t>
            </a:r>
            <a:r>
              <a:rPr lang="en-US" altLang="ko-KR" sz="1200" b="1" dirty="0">
                <a:solidFill>
                  <a:srgbClr val="FF0000"/>
                </a:solidFill>
              </a:rPr>
              <a:t>) =&gt; </a:t>
            </a:r>
            <a:r>
              <a:rPr lang="ko-KR" altLang="en-US" sz="1200" b="1" dirty="0">
                <a:solidFill>
                  <a:srgbClr val="FF0000"/>
                </a:solidFill>
              </a:rPr>
              <a:t>약 </a:t>
            </a:r>
            <a:r>
              <a:rPr lang="en-US" altLang="ko-KR" sz="1200" b="1" dirty="0">
                <a:solidFill>
                  <a:srgbClr val="FF0000"/>
                </a:solidFill>
              </a:rPr>
              <a:t>21,000</a:t>
            </a:r>
            <a:r>
              <a:rPr lang="ko-KR" altLang="en-US" sz="1200" b="1" dirty="0">
                <a:solidFill>
                  <a:srgbClr val="FF0000"/>
                </a:solidFill>
              </a:rPr>
              <a:t>개</a:t>
            </a: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FED19926-4F0D-C179-CC0F-DC3CAA552B9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6252C2-AA9E-98DF-3ECC-4035F3300673}"/>
              </a:ext>
            </a:extLst>
          </p:cNvPr>
          <p:cNvSpPr txBox="1"/>
          <p:nvPr/>
        </p:nvSpPr>
        <p:spPr>
          <a:xfrm>
            <a:off x="457200" y="4119738"/>
            <a:ext cx="164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한글변환</a:t>
            </a:r>
          </a:p>
        </p:txBody>
      </p:sp>
    </p:spTree>
    <p:extLst>
      <p:ext uri="{BB962C8B-B14F-4D97-AF65-F5344CB8AC3E}">
        <p14:creationId xmlns:p14="http://schemas.microsoft.com/office/powerpoint/2010/main" val="152265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9A91-F4F4-3C31-4ACE-0504DF43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269BA8-EC50-CEAD-0996-96F10CC933D9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5C53A-63C2-5370-13EC-813A487A973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35AF3-C496-57EF-D6CB-B052AF1562B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A8C85-EDCC-BCFD-68BC-383ECF7490C1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V1(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원시데이터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F07A196-803C-8389-8B1E-7C4DBFAA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" y="1349904"/>
            <a:ext cx="4546007" cy="40775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75FEEC0-4B3C-C5FA-50FC-2C9B98A76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919" y="1358392"/>
            <a:ext cx="7129562" cy="40690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71DD1B-121A-AD7D-62A3-4E5E747238E8}"/>
              </a:ext>
            </a:extLst>
          </p:cNvPr>
          <p:cNvSpPr txBox="1"/>
          <p:nvPr/>
        </p:nvSpPr>
        <p:spPr>
          <a:xfrm>
            <a:off x="690880" y="5638063"/>
            <a:ext cx="305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우선순위 없음</a:t>
            </a:r>
            <a:r>
              <a:rPr lang="en-US" altLang="ko-KR" dirty="0"/>
              <a:t> =&gt; </a:t>
            </a:r>
            <a:r>
              <a:rPr lang="ko-KR" altLang="en-US" dirty="0"/>
              <a:t>최상의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7CD43-69C8-D28C-0BE2-CEB963099FFF}"/>
              </a:ext>
            </a:extLst>
          </p:cNvPr>
          <p:cNvSpPr txBox="1"/>
          <p:nvPr/>
        </p:nvSpPr>
        <p:spPr>
          <a:xfrm>
            <a:off x="6532880" y="5638063"/>
            <a:ext cx="339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우선순위 없음</a:t>
            </a:r>
            <a:r>
              <a:rPr lang="en-US" altLang="ko-KR" dirty="0"/>
              <a:t> =&gt; </a:t>
            </a:r>
            <a:r>
              <a:rPr lang="ko-KR" altLang="en-US" dirty="0"/>
              <a:t>페르소나 표현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5036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4FE8-101C-2C8B-2916-280A5E63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E45BAC-9B79-158C-2F8F-430B6D4DD00A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151A2-F20E-1D25-F555-7D2844ECA66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FE351-5040-FE3A-7D43-CB14F3748361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895470-B478-18E5-E837-D9F3120E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93" y="1693164"/>
            <a:ext cx="5920707" cy="3767836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3792D4-2B30-54C6-DC43-C3BEDB5A7CF5}"/>
              </a:ext>
            </a:extLst>
          </p:cNvPr>
          <p:cNvGrpSpPr/>
          <p:nvPr/>
        </p:nvGrpSpPr>
        <p:grpSpPr>
          <a:xfrm>
            <a:off x="6310078" y="1229043"/>
            <a:ext cx="5635508" cy="5628957"/>
            <a:chOff x="6310079" y="1188403"/>
            <a:chExt cx="5635508" cy="526900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762DCD-71D5-6739-B7E4-7312AFA6F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0079" y="2603723"/>
              <a:ext cx="5635507" cy="385368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DAF3BE2-4467-D917-C470-CEDF4E2BF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0080" y="1188403"/>
              <a:ext cx="5635507" cy="216160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FE8DB73-B40C-54C7-84E7-AA91B262393D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V2(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SFT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199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53F7-1EB3-FAE0-9121-A9F9905B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78854-D2F1-0DD5-13F8-5F74F2F72B0F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114C8-59A5-6DF0-D902-D24D8CD2A222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47752-3DD4-F38E-3060-F57B3152801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F2C3C-A650-6D66-D9F4-41E1D0275EAB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V3(</a:t>
            </a:r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</a:t>
            </a:r>
            <a:r>
              <a:rPr lang="ko-KR" altLang="en-US" sz="2600" b="1" dirty="0">
                <a:solidFill>
                  <a:srgbClr val="FFFFFF"/>
                </a:solidFill>
                <a:latin typeface="Noto Sans CJK KR"/>
              </a:rPr>
              <a:t> 선호도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F2D7371-112E-A895-17E0-E1F4AFED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41" y="1285949"/>
            <a:ext cx="6886173" cy="504195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03588C5-76F3-C7BA-7D7E-59E60538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74889"/>
            <a:ext cx="4689987" cy="52029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8843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출력 포맷 규격 — 왜 4축 JSON인가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94960" cy="2523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 dirty="0" err="1">
                <a:solidFill>
                  <a:srgbClr val="1F2D3D"/>
                </a:solidFill>
                <a:latin typeface="Noto Sans CJK KR"/>
              </a:rPr>
              <a:t>규격화</a:t>
            </a:r>
            <a:r>
              <a:rPr sz="16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1F2D3D"/>
                </a:solidFill>
                <a:latin typeface="Noto Sans CJK KR"/>
              </a:rPr>
              <a:t>의도</a:t>
            </a:r>
            <a:r>
              <a:rPr sz="1600" b="1" i="0" dirty="0">
                <a:solidFill>
                  <a:srgbClr val="1F2D3D"/>
                </a:solidFill>
                <a:latin typeface="Noto Sans CJK KR"/>
              </a:rPr>
              <a:t> 4가지</a:t>
            </a: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JSON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단일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출력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강제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앱이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후처리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없이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바로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파싱·렌더링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.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자유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텍스트는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연동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불가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점수와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순서의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분리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scores(왜) ↔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priority_order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(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결과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)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분리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→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후처리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ScoreRanker로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모순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교정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4축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다축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채점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단순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긴급순이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아닌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1" i="0" dirty="0" err="1">
                <a:solidFill>
                  <a:srgbClr val="C00000"/>
                </a:solidFill>
                <a:latin typeface="Noto Sans CJK KR"/>
              </a:rPr>
              <a:t>긴급·중요·의존·시간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을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독립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채점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원문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보존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(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tasks.text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)</a:t>
            </a:r>
          </a:p>
          <a:p>
            <a:pPr lvl="1" algn="l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id-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텍스트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매핑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강제로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항목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요약·누락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차단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>
              <a:spcBef>
                <a:spcPts val="400"/>
              </a:spcBef>
            </a:pPr>
            <a:r>
              <a:rPr sz="1200" b="1" i="1" dirty="0">
                <a:solidFill>
                  <a:srgbClr val="55A868"/>
                </a:solidFill>
                <a:latin typeface="Noto Sans CJK KR"/>
              </a:rPr>
              <a:t>→ </a:t>
            </a:r>
            <a:r>
              <a:rPr sz="1200" b="1" i="1" dirty="0" err="1">
                <a:solidFill>
                  <a:srgbClr val="55A868"/>
                </a:solidFill>
                <a:latin typeface="Noto Sans CJK KR"/>
              </a:rPr>
              <a:t>골격</a:t>
            </a:r>
            <a:r>
              <a:rPr sz="1200" b="1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55A868"/>
                </a:solidFill>
                <a:latin typeface="Noto Sans CJK KR"/>
              </a:rPr>
              <a:t>규칙으로</a:t>
            </a:r>
            <a:r>
              <a:rPr sz="1200" b="1" i="1" dirty="0">
                <a:solidFill>
                  <a:srgbClr val="55A868"/>
                </a:solidFill>
                <a:latin typeface="Noto Sans CJK KR"/>
              </a:rPr>
              <a:t> $0·결정론적 </a:t>
            </a:r>
            <a:r>
              <a:rPr sz="1200" b="1" i="1" dirty="0" err="1">
                <a:solidFill>
                  <a:srgbClr val="55A868"/>
                </a:solidFill>
                <a:latin typeface="Noto Sans CJK KR"/>
              </a:rPr>
              <a:t>자동</a:t>
            </a:r>
            <a:r>
              <a:rPr sz="1200" b="1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55A868"/>
                </a:solidFill>
                <a:latin typeface="Noto Sans CJK KR"/>
              </a:rPr>
              <a:t>채점</a:t>
            </a:r>
            <a:r>
              <a:rPr sz="1200" b="1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55A868"/>
                </a:solidFill>
                <a:latin typeface="Noto Sans CJK KR"/>
              </a:rPr>
              <a:t>가능</a:t>
            </a:r>
            <a:endParaRPr sz="1200" b="1" i="1" dirty="0">
              <a:solidFill>
                <a:srgbClr val="55A868"/>
              </a:solidFill>
              <a:latin typeface="Noto Sans CJK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7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DBE243A-2BA2-B352-E37C-FF9BD35EF42A}"/>
              </a:ext>
            </a:extLst>
          </p:cNvPr>
          <p:cNvGrpSpPr/>
          <p:nvPr/>
        </p:nvGrpSpPr>
        <p:grpSpPr>
          <a:xfrm>
            <a:off x="308092" y="1137603"/>
            <a:ext cx="6023882" cy="5628957"/>
            <a:chOff x="6310079" y="1188403"/>
            <a:chExt cx="5635508" cy="526900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1705783-FA99-D1FB-AAD1-5294248AC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0079" y="2603723"/>
              <a:ext cx="5635507" cy="385368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3C72A49-96E3-B5D2-2AE3-7FDD6734E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0080" y="1188403"/>
              <a:ext cx="5635507" cy="2161601"/>
            </a:xfrm>
            <a:prstGeom prst="rect">
              <a:avLst/>
            </a:prstGeom>
          </p:spPr>
        </p:pic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DCC5B87-BFD1-669A-D526-E6EC3B16F8FB}"/>
              </a:ext>
            </a:extLst>
          </p:cNvPr>
          <p:cNvCxnSpPr>
            <a:cxnSpLocks/>
          </p:cNvCxnSpPr>
          <p:nvPr/>
        </p:nvCxnSpPr>
        <p:spPr>
          <a:xfrm flipH="1" flipV="1">
            <a:off x="3002280" y="2203576"/>
            <a:ext cx="3535680" cy="1037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26E9A6C-4083-E6BE-F385-3A05DABE35F1}"/>
              </a:ext>
            </a:extLst>
          </p:cNvPr>
          <p:cNvCxnSpPr/>
          <p:nvPr/>
        </p:nvCxnSpPr>
        <p:spPr>
          <a:xfrm flipH="1">
            <a:off x="1790700" y="2806372"/>
            <a:ext cx="4747260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F9F1B6-CD0E-16CE-BAD9-FF78C7A27A29}"/>
              </a:ext>
            </a:extLst>
          </p:cNvPr>
          <p:cNvSpPr/>
          <p:nvPr/>
        </p:nvSpPr>
        <p:spPr>
          <a:xfrm>
            <a:off x="624840" y="3771900"/>
            <a:ext cx="1066553" cy="441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722E24-CB79-D126-48D3-E9BD35F5D73D}"/>
              </a:ext>
            </a:extLst>
          </p:cNvPr>
          <p:cNvSpPr/>
          <p:nvPr/>
        </p:nvSpPr>
        <p:spPr>
          <a:xfrm>
            <a:off x="377437" y="2935986"/>
            <a:ext cx="1207276" cy="622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D4C3E59-D265-304C-92D3-7CB3B1F029A9}"/>
              </a:ext>
            </a:extLst>
          </p:cNvPr>
          <p:cNvCxnSpPr/>
          <p:nvPr/>
        </p:nvCxnSpPr>
        <p:spPr>
          <a:xfrm flipH="1">
            <a:off x="1691393" y="2379652"/>
            <a:ext cx="4846567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F7C566-5D56-4D0D-4E56-6EDCDDFEC75E}"/>
              </a:ext>
            </a:extLst>
          </p:cNvPr>
          <p:cNvSpPr/>
          <p:nvPr/>
        </p:nvSpPr>
        <p:spPr>
          <a:xfrm>
            <a:off x="457200" y="1563170"/>
            <a:ext cx="2545080" cy="12611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4축 채점 기준 (각 1–5점)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234606"/>
              </p:ext>
            </p:extLst>
          </p:nvPr>
        </p:nvGraphicFramePr>
        <p:xfrm>
          <a:off x="457200" y="1463040"/>
          <a:ext cx="1129284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9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축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의미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5점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1점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urgency
긴급도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마감/시작 임박도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오늘 마감 (오전=5·오후=4)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없음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/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이미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지난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일정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importance
중요도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페르소나 목표 영향도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결정적 (에스컬레이션·위약금·법적기한)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옵션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없어도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무방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dependency
의존성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후속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작업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블로킹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정도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다수 후속의 선행 입력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완전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독립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time_constraint
시간제약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고정 시각 강도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시각 고정 (회의 등)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언제든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가능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83480"/>
            <a:ext cx="11292840" cy="1351788"/>
          </a:xfrm>
          <a:prstGeom prst="rect">
            <a:avLst/>
          </a:prstGeom>
          <a:solidFill>
            <a:srgbClr val="FDF3E7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994200"/>
            <a:ext cx="10972800" cy="12541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 err="1">
                <a:solidFill>
                  <a:srgbClr val="DD8452"/>
                </a:solidFill>
                <a:latin typeface="Noto Sans CJK KR"/>
              </a:rPr>
              <a:t>우선순위</a:t>
            </a:r>
            <a:r>
              <a:rPr sz="1300" b="1" i="0" dirty="0">
                <a:solidFill>
                  <a:srgbClr val="DD8452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DD8452"/>
                </a:solidFill>
                <a:latin typeface="Noto Sans CJK KR"/>
              </a:rPr>
              <a:t>결정</a:t>
            </a:r>
            <a:r>
              <a:rPr sz="1300" b="1" i="0" dirty="0">
                <a:solidFill>
                  <a:srgbClr val="DD8452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DD8452"/>
                </a:solidFill>
                <a:latin typeface="Noto Sans CJK KR"/>
              </a:rPr>
              <a:t>로직</a:t>
            </a:r>
            <a:r>
              <a:rPr sz="1300" b="1" i="0" dirty="0">
                <a:solidFill>
                  <a:srgbClr val="DD8452"/>
                </a:solidFill>
                <a:latin typeface="Noto Sans CJK KR"/>
              </a:rPr>
              <a:t> (</a:t>
            </a:r>
            <a:r>
              <a:rPr sz="1300" b="1" i="0" dirty="0" err="1">
                <a:solidFill>
                  <a:srgbClr val="DD8452"/>
                </a:solidFill>
                <a:latin typeface="Noto Sans CJK KR"/>
              </a:rPr>
              <a:t>단순</a:t>
            </a:r>
            <a:r>
              <a:rPr sz="1300" b="1" i="0" dirty="0">
                <a:solidFill>
                  <a:srgbClr val="DD8452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DD8452"/>
                </a:solidFill>
                <a:latin typeface="Noto Sans CJK KR"/>
              </a:rPr>
              <a:t>합산</a:t>
            </a:r>
            <a:r>
              <a:rPr sz="1300" b="1" i="0" dirty="0">
                <a:solidFill>
                  <a:srgbClr val="DD8452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DD8452"/>
                </a:solidFill>
                <a:latin typeface="Noto Sans CJK KR"/>
              </a:rPr>
              <a:t>아님</a:t>
            </a:r>
            <a:r>
              <a:rPr sz="1300" b="1" i="0" dirty="0">
                <a:solidFill>
                  <a:srgbClr val="DD8452"/>
                </a:solidFill>
                <a:latin typeface="Noto Sans CJK KR"/>
              </a:rPr>
              <a:t>)</a:t>
            </a: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①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이미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지난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일정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무조건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최하위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(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urgency·tc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강제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=1)  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②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의존성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체인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선행부터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연속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배치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  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③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나머지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4축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종합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판단</a:t>
            </a:r>
            <a:endParaRPr sz="1200" b="0" i="0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SFT vs DPO 데이터셋 개형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10259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4C72B0"/>
                </a:solidFill>
                <a:latin typeface="Noto Sans CJK KR"/>
              </a:rPr>
              <a:t>SFT — </a:t>
            </a:r>
            <a:r>
              <a:rPr sz="1400" b="1" i="0" dirty="0" err="1">
                <a:solidFill>
                  <a:srgbClr val="4C72B0"/>
                </a:solidFill>
                <a:latin typeface="Noto Sans CJK KR"/>
              </a:rPr>
              <a:t>지도학습</a:t>
            </a:r>
            <a:r>
              <a:rPr sz="1400" b="1" i="0" dirty="0">
                <a:solidFill>
                  <a:srgbClr val="4C72B0"/>
                </a:solidFill>
                <a:latin typeface="Noto Sans CJK KR"/>
              </a:rPr>
              <a:t> (sft_v4_train, </a:t>
            </a:r>
            <a:r>
              <a:rPr lang="en-US" sz="1400" b="1" i="0" dirty="0">
                <a:solidFill>
                  <a:srgbClr val="4C72B0"/>
                </a:solidFill>
                <a:latin typeface="Noto Sans CJK KR"/>
              </a:rPr>
              <a:t>989</a:t>
            </a:r>
            <a:r>
              <a:rPr sz="1400" b="1" i="0" dirty="0">
                <a:solidFill>
                  <a:srgbClr val="4C72B0"/>
                </a:solidFill>
                <a:latin typeface="Noto Sans CJK KR"/>
              </a:rPr>
              <a:t>행)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222222"/>
                </a:solidFill>
                <a:latin typeface="Noto Sans CJK KR"/>
              </a:rPr>
              <a:t>'이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입력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이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정답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'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쌍만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필요</a:t>
            </a:r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5A5A5A"/>
                </a:solidFill>
                <a:latin typeface="Noto Sans CJK KR"/>
              </a:rPr>
              <a:t>prompt · chosen(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정답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JSON) · persona · today · source</a:t>
            </a:r>
          </a:p>
          <a:p>
            <a:pPr algn="l">
              <a:spcBef>
                <a:spcPts val="600"/>
              </a:spcBef>
            </a:pP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목적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: 4축 JSON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포맷과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채점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규칙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자체를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주입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(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없는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능력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150" b="0" i="1" dirty="0" err="1">
                <a:solidFill>
                  <a:srgbClr val="4C72B0"/>
                </a:solidFill>
                <a:latin typeface="Noto Sans CJK KR"/>
              </a:rPr>
              <a:t>추가</a:t>
            </a:r>
            <a:r>
              <a:rPr sz="1150" b="0" i="1" dirty="0">
                <a:solidFill>
                  <a:srgbClr val="4C72B0"/>
                </a:solidFill>
                <a:latin typeface="Noto Sans CJK KR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8640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D8452"/>
                </a:solidFill>
                <a:latin typeface="Noto Sans CJK KR"/>
              </a:rPr>
              <a:t>DPO — 선호학습 (dpo_pairs_v5, 1,368쌍)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'좋은 답(chosen) vs 나쁜 답(rejected)' 쌍 필요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Noto Sans CJK KR"/>
              </a:rPr>
              <a:t>+ rejected · category(위반유형)</a:t>
            </a:r>
          </a:p>
          <a:p>
            <a:pPr algn="l">
              <a:spcBef>
                <a:spcPts val="600"/>
              </a:spcBef>
            </a:pPr>
            <a:r>
              <a:rPr sz="1150" b="0" i="1">
                <a:solidFill>
                  <a:srgbClr val="DD8452"/>
                </a:solidFill>
                <a:latin typeface="Noto Sans CJK KR"/>
              </a:rPr>
              <a:t>목적: 한 가지 규칙만 틀린 hard negative로 그 규칙 위반을 벌점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595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1F2D3D"/>
                </a:solidFill>
                <a:latin typeface="Noto Sans CJK KR"/>
              </a:rPr>
              <a:t>DPO rejected </a:t>
            </a:r>
            <a:r>
              <a:rPr sz="1300" b="1" i="0" dirty="0" err="1">
                <a:solidFill>
                  <a:srgbClr val="1F2D3D"/>
                </a:solidFill>
                <a:latin typeface="Noto Sans CJK KR"/>
              </a:rPr>
              <a:t>위반</a:t>
            </a:r>
            <a:r>
              <a:rPr sz="13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F2D3D"/>
                </a:solidFill>
                <a:latin typeface="Noto Sans CJK KR"/>
              </a:rPr>
              <a:t>유형</a:t>
            </a:r>
            <a:r>
              <a:rPr sz="13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F2D3D"/>
                </a:solidFill>
                <a:latin typeface="Noto Sans CJK KR"/>
              </a:rPr>
              <a:t>분포</a:t>
            </a:r>
            <a:r>
              <a:rPr sz="1300" b="1" i="0" dirty="0">
                <a:solidFill>
                  <a:srgbClr val="1F2D3D"/>
                </a:solidFill>
                <a:latin typeface="Noto Sans CJK KR"/>
              </a:rPr>
              <a:t> (v5)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977497"/>
              </p:ext>
            </p:extLst>
          </p:nvPr>
        </p:nvGraphicFramePr>
        <p:xfrm>
          <a:off x="457200" y="4446934"/>
          <a:ext cx="11292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0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937">
                  <a:extLst>
                    <a:ext uri="{9D8B030D-6E8A-4147-A177-3AD203B41FA5}">
                      <a16:colId xmlns:a16="http://schemas.microsoft.com/office/drawing/2014/main" val="22909833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유형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rejected가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일부러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저지른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오류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쌍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order_score_mismatch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점수는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맞는데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순서가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점수와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모순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230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granularity_swap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단위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(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시각↔날짜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혼동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220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date_confusion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지난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날짜를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오늘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/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미래로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착각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177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dependency_scatter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의존성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체인을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분산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배치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185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Noto Sans CJK KR"/>
                        </a:rPr>
                        <a:t>risk_ignore / past_hallucination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리스크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미반영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/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지남</a:t>
                      </a:r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단정</a:t>
                      </a:r>
                      <a:endParaRPr sz="12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92 / 36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DPO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DPO 선호쌍 실제 예시 — date_confusion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입력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: </a:t>
            </a: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정순자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무직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, 86세) · </a:t>
            </a: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오늘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 = 2026-12-11</a:t>
            </a:r>
          </a:p>
          <a:p>
            <a:pPr algn="l"/>
            <a:r>
              <a:rPr sz="1250" b="0" i="0" dirty="0">
                <a:solidFill>
                  <a:srgbClr val="C0392B"/>
                </a:solidFill>
                <a:latin typeface="Noto Sans CJK KR"/>
              </a:rPr>
              <a:t>id=4 '12월 9일 14:00까지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손주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겨울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인사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카드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써두기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' →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오늘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(12/11)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보다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 2일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지난</a:t>
            </a:r>
            <a:r>
              <a:rPr sz="12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50" b="0" i="0" dirty="0" err="1">
                <a:solidFill>
                  <a:srgbClr val="C0392B"/>
                </a:solidFill>
                <a:latin typeface="Noto Sans CJK KR"/>
              </a:rPr>
              <a:t>일정</a:t>
            </a:r>
            <a:endParaRPr lang="ko-KR" altLang="en-US" sz="1200" dirty="0">
              <a:solidFill>
                <a:srgbClr val="C0392B"/>
              </a:solidFill>
              <a:latin typeface="Noto Sans CJK K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153264"/>
            <a:ext cx="5486400" cy="3200400"/>
          </a:xfrm>
          <a:prstGeom prst="rect">
            <a:avLst/>
          </a:prstGeom>
          <a:solidFill>
            <a:srgbClr val="ECF6EE"/>
          </a:solidFill>
          <a:ln w="254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90424"/>
            <a:ext cx="5120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5A868"/>
                </a:solidFill>
                <a:latin typeface="Noto Sans CJK KR"/>
              </a:rPr>
              <a:t>✅ chosen (선호)</a:t>
            </a:r>
          </a:p>
          <a:p>
            <a:pPr algn="l"/>
            <a:r>
              <a:rPr sz="1300" b="1" i="0">
                <a:solidFill>
                  <a:srgbClr val="222222"/>
                </a:solidFill>
                <a:latin typeface="D2Coding"/>
              </a:rPr>
              <a:t>priority_order: [1, 3, 5, 2, 4]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→ id=4를 최하위(5번째) 배치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D2Coding"/>
              </a:rPr>
              <a:t>id=4 점수: urgency=1, time_constraint=1</a:t>
            </a:r>
          </a:p>
          <a:p>
            <a:pPr algn="l">
              <a:spcBef>
                <a:spcPts val="400"/>
              </a:spcBef>
            </a:pPr>
            <a:r>
              <a:rPr sz="1150" b="0" i="1">
                <a:solidFill>
                  <a:srgbClr val="55A868"/>
                </a:solidFill>
                <a:latin typeface="Noto Sans CJK KR"/>
              </a:rPr>
              <a:t>reason: "12월 9일 마감으로 오늘 기준</a:t>
            </a:r>
          </a:p>
          <a:p>
            <a:pPr algn="l"/>
            <a:r>
              <a:rPr sz="1150" b="0" i="1">
                <a:solidFill>
                  <a:srgbClr val="55A868"/>
                </a:solidFill>
                <a:latin typeface="Noto Sans CJK KR"/>
              </a:rPr>
              <a:t> 이미 지난 일정이므로 최하위로 배치"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153264"/>
            <a:ext cx="5486400" cy="3200400"/>
          </a:xfrm>
          <a:prstGeom prst="rect">
            <a:avLst/>
          </a:prstGeom>
          <a:solidFill>
            <a:srgbClr val="FBECE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290424"/>
            <a:ext cx="5120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Noto Sans CJK KR"/>
              </a:rPr>
              <a:t>❌ rejected (비선호)</a:t>
            </a:r>
          </a:p>
          <a:p>
            <a:pPr algn="l"/>
            <a:r>
              <a:rPr sz="1300" b="1" i="0">
                <a:solidFill>
                  <a:srgbClr val="222222"/>
                </a:solidFill>
                <a:latin typeface="D2Coding"/>
              </a:rPr>
              <a:t>priority_order: [4, 1, 3, 5, 2]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→ id=4를 1위 배치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D2Coding"/>
              </a:rPr>
              <a:t>id=4 점수: urgency=5, time_constraint=5</a:t>
            </a:r>
          </a:p>
          <a:p>
            <a:pPr algn="l">
              <a:spcBef>
                <a:spcPts val="400"/>
              </a:spcBef>
            </a:pPr>
            <a:r>
              <a:rPr sz="1150" b="0" i="1">
                <a:solidFill>
                  <a:srgbClr val="C0392B"/>
                </a:solidFill>
                <a:latin typeface="Noto Sans CJK KR"/>
              </a:rPr>
              <a:t>reason: "마감이 오늘이라</a:t>
            </a:r>
          </a:p>
          <a:p>
            <a:pPr algn="l"/>
            <a:r>
              <a:rPr sz="1150" b="0" i="1">
                <a:solidFill>
                  <a:srgbClr val="C0392B"/>
                </a:solidFill>
                <a:latin typeface="Noto Sans CJK KR"/>
              </a:rPr>
              <a:t> 즉시 착수해야 합니다" (12/9를 오늘로 착각)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90824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1F2D3D"/>
                </a:solidFill>
                <a:latin typeface="Noto Sans CJK KR"/>
              </a:rPr>
              <a:t>포맷은 100% 동일, 내용 한 곳만 다름 → 학습 신호가 '날짜 추론 규칙'에 정확히 집중 (hard negative)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5856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10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3EFD483-12D1-B513-B2CC-A5AEC032966C}"/>
              </a:ext>
            </a:extLst>
          </p:cNvPr>
          <p:cNvSpPr/>
          <p:nvPr/>
        </p:nvSpPr>
        <p:spPr>
          <a:xfrm>
            <a:off x="2468880" y="2620624"/>
            <a:ext cx="193040" cy="218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EC2DA60-ACD6-073C-CDA2-1D79A52BF3E3}"/>
              </a:ext>
            </a:extLst>
          </p:cNvPr>
          <p:cNvSpPr/>
          <p:nvPr/>
        </p:nvSpPr>
        <p:spPr>
          <a:xfrm>
            <a:off x="7589520" y="2630784"/>
            <a:ext cx="193040" cy="2184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데이터셋 진화 v1 → v5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35163"/>
              </p:ext>
            </p:extLst>
          </p:nvPr>
        </p:nvGraphicFramePr>
        <p:xfrm>
          <a:off x="457200" y="1417320"/>
          <a:ext cx="1129284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057">
                  <a:extLst>
                    <a:ext uri="{9D8B030D-6E8A-4147-A177-3AD203B41FA5}">
                      <a16:colId xmlns:a16="http://schemas.microsoft.com/office/drawing/2014/main" val="74392414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버전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출력 형식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핵심 추가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기대효과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데이터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자유 텍스트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페르소나 기반 우선순위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말투·관점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반영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(앱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파싱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불가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5,999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v2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점수 JSON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구조화·앱연동·설명가능성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정렬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근거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정량화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개념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없음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10,958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JSON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오늘 날짜 주입·지난 일정 규칙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혼동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해결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(dated 38→77%)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1,978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v4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JSON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이중 생성·prompt loss 마스킹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56.7 → 77.3% (+20.6%p)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989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JSON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on-policy DPO·체인 보강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성능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보존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+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미세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개선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1,368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34560"/>
            <a:ext cx="1129284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853432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72B0"/>
                </a:solidFill>
                <a:latin typeface="Noto Sans CJK KR"/>
              </a:rPr>
              <a:t>핵심 흐름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자유 텍스트(v1) → 구조화 JSON(v2) → 날짜 추론(v3) → 데이터 품질·이중생성(v4) → on-policy 보강(v5)</a:t>
            </a:r>
          </a:p>
          <a:p>
            <a:pPr algn="l"/>
            <a:r>
              <a:rPr sz="1200" b="1" i="1">
                <a:solidFill>
                  <a:srgbClr val="DD8452"/>
                </a:solidFill>
                <a:latin typeface="Noto Sans CJK KR"/>
              </a:rPr>
              <a:t>성능 점프(+20.6%p)는 모델 구조가 아니라 데이터 큐레이션 + prompt loss 마스킹에서 나왔다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0EEBF7-92A0-4622-E173-27C8EF092BA1}"/>
              </a:ext>
            </a:extLst>
          </p:cNvPr>
          <p:cNvSpPr/>
          <p:nvPr/>
        </p:nvSpPr>
        <p:spPr>
          <a:xfrm>
            <a:off x="952747" y="2417752"/>
            <a:ext cx="1033369" cy="14650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ＳＦＴ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1A39FB-93AC-9375-AF49-6142485D1551}"/>
              </a:ext>
            </a:extLst>
          </p:cNvPr>
          <p:cNvSpPr/>
          <p:nvPr/>
        </p:nvSpPr>
        <p:spPr>
          <a:xfrm>
            <a:off x="967987" y="3955175"/>
            <a:ext cx="1018129" cy="3184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ＤＰＯ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파이프라인 &amp; RTX 12GB 제약 극복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377440" cy="100584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Base
Qwen3.5-4B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377440" cy="100584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SFT v4
포맷·규칙 주입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2377440" cy="100584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DPO v5
선호 미세조정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Noto Sans CJK KR"/>
              </a:rPr>
              <a:t>12GB VRAM 한계 극복 기법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QLoRA 4-bit NF4 — 4.2B 모델 + 248K vocab을 12GB에 적재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MemEfficientDPOTrainer — chosen/rejected [1,T] 순차 처리 + 청킹 log_softmax + 수동 gradient 주입</a:t>
            </a:r>
          </a:p>
          <a:p>
            <a:pPr lvl="1" algn="l">
              <a:spcAft>
                <a:spcPts val="500"/>
              </a:spcAft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(248K vocab → [2,T,248K] logits ~1.1GiB, 표준 DPO 불가 → 자체 구현)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prompt loss 마스킹 — 응답 토큰에만 loss → 학습 밀도 ~2.5배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Qwen3.5 CUDA 버그 우회 — is_fast_path_available 강제 패치 (fla delta-rule)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Noto Sans CJK KR"/>
              </a:rPr>
              <a:t>•  precompute_ref_log_probs — ref 모델 forward 사전 계산으로 메모리 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벤치마크 — 학습 여정의 두 점프</a:t>
            </a:r>
          </a:p>
        </p:txBody>
      </p:sp>
      <p:pic>
        <p:nvPicPr>
          <p:cNvPr id="6" name="Picture 5" descr="chart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15" y="1325880"/>
            <a:ext cx="750968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성능 점프는 모델 구조가 아니라 데이터 큐레이션(+20.6%p)과 모델 업그레이드(+8.0%p)에서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Qwen3.5-4B 파인튜닝 단계별 통과율</a:t>
            </a:r>
          </a:p>
        </p:txBody>
      </p:sp>
      <p:pic>
        <p:nvPicPr>
          <p:cNvPr id="6" name="Picture 5" descr="char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4" y="1325880"/>
            <a:ext cx="749987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Noto Sans CJK KR"/>
              </a:rPr>
              <a:t>어댑터 없음 0% → Base 14.7% → SFT 85.3% → DPO 85.3% (held-out n=150)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시나리오별 통과율 — SFT vs DPO</a:t>
            </a:r>
          </a:p>
        </p:txBody>
      </p:sp>
      <p:pic>
        <p:nvPicPr>
          <p:cNvPr id="6" name="Picture 5" descr="chart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82" y="1325880"/>
            <a:ext cx="83425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대부분 시나리오 90~100% · 의존성 체인만 47%로 공통 막힘 (SFT·DPO 동일, n=150)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4모델 실제 출력 비교 (동일 쿼리)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쿼리(시나리오)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Base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Instruct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 / 당일시각 / 리스크 / 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6쿼리 통과 합계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108960"/>
            <a:ext cx="5486400" cy="3017520"/>
          </a:xfrm>
          <a:prstGeom prst="rect">
            <a:avLst/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Noto Sans CJK KR"/>
              </a:rPr>
              <a:t>Instruct (어댑터 없음) — ❌ 파싱 실패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"tasks": [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"배관 열손실 검토표를 정리해...",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"4월 4일 10:00까지 회의자료...",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  ... ]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C0392B"/>
                </a:solidFill>
                <a:latin typeface="Noto Sans CJK KR"/>
              </a:rPr>
              <a:t>tasks를 문자열 배열로 출력 (객체 아님)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추론은 합리적이나 스키마 위반으로 파싱 실패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3017520"/>
          </a:xfrm>
          <a:prstGeom prst="rect">
            <a:avLst/>
          </a:prstGeom>
          <a:solidFill>
            <a:srgbClr val="ECF6EE"/>
          </a:solidFill>
          <a:ln w="127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5A868"/>
                </a:solidFill>
                <a:latin typeface="Noto Sans CJK KR"/>
              </a:rPr>
              <a:t>SFT v4 — ✅ 통과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{"tasks":[{"id":1,"text":"배관..."},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  {"id":2,"text":"회의자료..."}, ...],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"priority_order":[1,4,2,3,5],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"scores":[...]}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55A868"/>
                </a:solidFill>
                <a:latin typeface="Noto Sans CJK KR"/>
              </a:rPr>
              <a:t>정확한 {id,text} 객체 스키마 준수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지난 일정(id=5) 최하위, urgency=1 강등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파인튜닝의 1차 효과는 '스키마 준수'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37160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D8452"/>
                </a:solidFill>
                <a:latin typeface="Noto Sans CJK KR"/>
              </a:rPr>
              <a:t>"instruct 0%"는 추론 실패가 아니라 스키마 미준수 — tasks를 ["문자열"]로 출력해 파싱 실패.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내용만 채점(포맷 무시)하면 instruct 34.0% · base 31.3% — 추론 능력의 1/3은 이미 있었고, 파인튜닝이 앱 규격으로 고정한 것.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통과율(n=150)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원인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Qwen3.5-4B instruct (no FT)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tasks를 문자열 배열로 출력 → 파싱 실패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Qwen3.5-4B-Base (no FT)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14.7%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시스템 프롬프트 스키마 예시를 더 충실히 모방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+ SFT v4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85.3%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정확한 JSON 스키마 + 채점 규칙 학습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1">
                <a:solidFill>
                  <a:srgbClr val="1F2D3D"/>
                </a:solidFill>
                <a:latin typeface="Noto Sans CJK KR"/>
              </a:rPr>
              <a:t>역설: base가 instruct보다 통과율이 높다 (2/6 vs 0/6) — RLHF instruct가 오히려 스키마를 '재해석'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→ 파인튜닝은 '없는 추론 주입'이 아니라 '앱이 파싱할 정확한 출력 규격 고정'이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DPO는 '능력 부재'를 해결하지 못한다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23444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D8452"/>
                </a:solidFill>
                <a:latin typeface="Noto Sans CJK KR"/>
              </a:rPr>
              <a:t>의존성 체인에서 SFT v4와 DPO v5가 글자 단위로 동일하게 실패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같은 priority_order [5,3,4,1,2], 같은 dependency=2 → 동일한 위반 2건. DPO가 체인을 전혀 안 옮겼다.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260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시나리오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변화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날짜혼재·당일시각·상대날짜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90~100%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유지/소폭 개선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의존성 체인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47%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47%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 (불변)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2D3D"/>
                </a:solidFill>
                <a:latin typeface="Noto Sans CJK KR"/>
              </a:rPr>
              <a:t>왜 DPO가 체인을 못 고쳤나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DPO는 '모델이 정답을 생성할 수 있는데 잘못 선택'할 때만 효과적 — 체인은 4B 모델의 능력 부재라 선호학습으로 안 됨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reward_accuracy 98.9% → 이미 아는 것을 재학습한 셈 (가중치 변화 미미)</a:t>
            </a:r>
          </a:p>
          <a:p>
            <a:pPr algn="l"/>
            <a:r>
              <a:rPr sz="1250" b="1" i="0">
                <a:solidFill>
                  <a:srgbClr val="55A868"/>
                </a:solidFill>
                <a:latin typeface="Noto Sans CJK KR"/>
              </a:rPr>
              <a:t>•  해결책: 4–5단계 긴 체인 특화 SFT 데이터 3× 증량 (선호학습이 아닌 능력 보강)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CJK KR"/>
              </a:rPr>
              <a:t>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성능 점프는 데이터 품질·loss 마스킹에서 나왔다</a:t>
            </a:r>
          </a:p>
          <a:p>
            <a:pPr lvl="1" algn="l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DPO/GRPO 선호학습 단독으로는 한계 약점을 못 옮김 (+20.6%p는 SFT 데이터 큐레이션)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파인튜닝의 1차 효과는 정확한 JSON 스키마 준수</a:t>
            </a:r>
          </a:p>
          <a:p>
            <a:pPr lvl="1" algn="l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instruct 0% → SFT 90%: 추론이 아닌 출력 규격 고정이 핵심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의존성 체인은 미해결 — SFT 데이터 증량이 다음 레버</a:t>
            </a:r>
          </a:p>
          <a:p>
            <a:pPr lvl="1" algn="l"/>
            <a:r>
              <a:rPr sz="1300" b="0" i="0">
                <a:solidFill>
                  <a:srgbClr val="C9D4E0"/>
                </a:solidFill>
                <a:latin typeface="Noto Sans CJK KR"/>
              </a:rPr>
              <a:t>4–5단계 긴 체인 특화 데이터 3× 증량으로 능력 자체를 보강해야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solidFill>
            <a:srgbClr val="2A3B4F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CJK KR"/>
              </a:rPr>
              <a:t>최종 성과: Qwen3.5-4B 85.3% · Qwen3.5-9B 88.7% (RTX 4090) — 둘 다 held-out n=150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모델 크기 효과 — Qwen3.5 4B vs 9B</a:t>
            </a:r>
          </a:p>
        </p:txBody>
      </p:sp>
      <p:pic>
        <p:nvPicPr>
          <p:cNvPr id="6" name="Picture 5" descr="chart_4b_vs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83" y="1325880"/>
            <a:ext cx="1011707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동일 표본(n=150): 4B 85.3% vs 9B 88.7% (+3.4%p) — 9B는 당일시각·체인에서 앞섬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→ 체인은 4B 47%·9B 57%로 둘 다 미해결 — 모델 크기가 아니라 SFT 데이터 보강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Qwen3.5-9B 4-way — 포맷 vs 추론 (n=30)</a:t>
            </a:r>
          </a:p>
        </p:txBody>
      </p:sp>
      <p:pic>
        <p:nvPicPr>
          <p:cNvPr id="6" name="Picture 5" descr="chart_9b_schema_vs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51" y="1325880"/>
            <a:ext cx="7856938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9B도 4B와 동일 패턴 — no-adapter 스키마 0%지만 내용 46.7%(포맷만 미준수), SFT가 93.3%로 고정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SFT=DPO 완전 동일(체인 4/6 고착) — 9B에서도 DPO가 체인을 못 옮김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TRAINING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지표 비교 — 4B vs 9B</a:t>
            </a:r>
          </a:p>
        </p:txBody>
      </p:sp>
      <p:pic>
        <p:nvPicPr>
          <p:cNvPr id="6" name="Picture 5" descr="chart_train_metrics_4b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94762"/>
            <a:ext cx="6675120" cy="259415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371600"/>
          <a:ext cx="4572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25880"/>
                <a:gridCol w="11430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지표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4B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9B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파라미터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4.2B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9.4B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GPU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3080Ti 12G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4090 24G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train_loss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0.309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0.320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token acc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90.8%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91.5%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시간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9.5h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11.5h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reward_acc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97.5%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88.0%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margin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3.50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0.099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시간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~0.5h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2.5h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검증(n=150)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85.3%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88.7%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532120"/>
            <a:ext cx="1143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1F2D3D"/>
                </a:solidFill>
                <a:latin typeface="Noto Sans CJK KR"/>
              </a:rPr>
              <a:t>SFT(동일 데이터): 9B도 4B와 거의 동일 — 모델 2.3×로도 SFT 학습 이득 미미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DPO(데이터 다름): margin 차이(3.50 vs 0.099)는 모델이 아닌 데이터 난이도(on-policy vs v4_extra) 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2050</Words>
  <Application>Microsoft Office PowerPoint</Application>
  <PresentationFormat>와이드스크린</PresentationFormat>
  <Paragraphs>310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D2Coding</vt:lpstr>
      <vt:lpstr>Noto Sans CJK KR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소석영</cp:lastModifiedBy>
  <cp:revision>341</cp:revision>
  <dcterms:created xsi:type="dcterms:W3CDTF">2013-01-27T09:14:16Z</dcterms:created>
  <dcterms:modified xsi:type="dcterms:W3CDTF">2026-06-13T20:30:42Z</dcterms:modified>
  <cp:category/>
</cp:coreProperties>
</file>