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83" r:id="rId3"/>
    <p:sldId id="257" r:id="rId4"/>
    <p:sldId id="272" r:id="rId5"/>
    <p:sldId id="282" r:id="rId6"/>
    <p:sldId id="278" r:id="rId7"/>
    <p:sldId id="274" r:id="rId8"/>
    <p:sldId id="279" r:id="rId9"/>
    <p:sldId id="277" r:id="rId10"/>
    <p:sldId id="280" r:id="rId11"/>
    <p:sldId id="276" r:id="rId12"/>
    <p:sldId id="281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84" r:id="rId32"/>
    <p:sldId id="285" r:id="rId33"/>
    <p:sldId id="286" r:id="rId34"/>
    <p:sldId id="271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301" y="3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5B9D8F7-FCAA-4745-8CA6-E9E8E261F05E}" type="doc">
      <dgm:prSet loTypeId="urn:microsoft.com/office/officeart/2005/8/layout/hProcess11" loCatId="timelin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39A7C58B-42AD-48FE-9825-766EC58C870D}">
      <dgm:prSet phldrT="[텍스트]" custT="1"/>
      <dgm:spPr/>
      <dgm:t>
        <a:bodyPr/>
        <a:lstStyle/>
        <a:p>
          <a:pPr latinLnBrk="1"/>
          <a:r>
            <a:rPr lang="en-US" sz="1300" b="1" i="0" dirty="0">
              <a:solidFill>
                <a:srgbClr val="4C72B0"/>
              </a:solidFill>
              <a:latin typeface="Noto Sans CJK KR"/>
            </a:rPr>
            <a:t>anakin87/</a:t>
          </a:r>
        </a:p>
        <a:p>
          <a:pPr latinLnBrk="1"/>
          <a:r>
            <a:rPr lang="en-US" sz="1300" b="1" i="0" dirty="0">
              <a:solidFill>
                <a:srgbClr val="4C72B0"/>
              </a:solidFill>
              <a:latin typeface="Noto Sans CJK KR"/>
            </a:rPr>
            <a:t>events-scheduling </a:t>
          </a:r>
        </a:p>
        <a:p>
          <a:pPr latinLnBrk="1"/>
          <a:r>
            <a:rPr lang="en-US" sz="1300" b="1" i="0" dirty="0">
              <a:solidFill>
                <a:srgbClr val="FF0000"/>
              </a:solidFill>
              <a:highlight>
                <a:srgbClr val="FFFF00"/>
              </a:highlight>
              <a:latin typeface="Noto Sans CJK KR"/>
            </a:rPr>
            <a:t>(</a:t>
          </a:r>
          <a:r>
            <a:rPr lang="ko-KR" altLang="en-US" sz="1300" b="1" i="0" dirty="0">
              <a:solidFill>
                <a:srgbClr val="FF0000"/>
              </a:solidFill>
              <a:highlight>
                <a:srgbClr val="FFFF00"/>
              </a:highlight>
              <a:latin typeface="Noto Sans CJK KR"/>
            </a:rPr>
            <a:t>영문</a:t>
          </a:r>
          <a:r>
            <a:rPr lang="en-US" altLang="ko-KR" sz="1300" b="1" i="0" dirty="0">
              <a:solidFill>
                <a:srgbClr val="FF0000"/>
              </a:solidFill>
              <a:highlight>
                <a:srgbClr val="FFFF00"/>
              </a:highlight>
              <a:latin typeface="Noto Sans CJK KR"/>
            </a:rPr>
            <a:t>, 500</a:t>
          </a:r>
          <a:r>
            <a:rPr lang="ko-KR" altLang="en-US" sz="1300" b="1" i="0" dirty="0">
              <a:solidFill>
                <a:srgbClr val="FF0000"/>
              </a:solidFill>
              <a:highlight>
                <a:srgbClr val="FFFF00"/>
              </a:highlight>
              <a:latin typeface="Noto Sans CJK KR"/>
            </a:rPr>
            <a:t>행</a:t>
          </a:r>
          <a:r>
            <a:rPr lang="en-US" altLang="ko-KR" sz="1300" b="1" i="0" dirty="0">
              <a:solidFill>
                <a:srgbClr val="FF0000"/>
              </a:solidFill>
              <a:highlight>
                <a:srgbClr val="FFFF00"/>
              </a:highlight>
              <a:latin typeface="Noto Sans CJK KR"/>
            </a:rPr>
            <a:t>)</a:t>
          </a:r>
          <a:endParaRPr lang="ko-KR" altLang="en-US" sz="1300" dirty="0">
            <a:solidFill>
              <a:srgbClr val="FF0000"/>
            </a:solidFill>
            <a:highlight>
              <a:srgbClr val="FFFF00"/>
            </a:highlight>
          </a:endParaRPr>
        </a:p>
      </dgm:t>
    </dgm:pt>
    <dgm:pt modelId="{46162150-3ACA-416C-92DC-1AE095A82EB8}" type="parTrans" cxnId="{9D0E6491-74C5-4F67-8BB3-84014ACD8447}">
      <dgm:prSet/>
      <dgm:spPr/>
      <dgm:t>
        <a:bodyPr/>
        <a:lstStyle/>
        <a:p>
          <a:pPr latinLnBrk="1"/>
          <a:endParaRPr lang="ko-KR" altLang="en-US"/>
        </a:p>
      </dgm:t>
    </dgm:pt>
    <dgm:pt modelId="{A1FA2783-CFC5-4A91-8B47-C05EB5B8D40B}" type="sibTrans" cxnId="{9D0E6491-74C5-4F67-8BB3-84014ACD8447}">
      <dgm:prSet/>
      <dgm:spPr/>
      <dgm:t>
        <a:bodyPr/>
        <a:lstStyle/>
        <a:p>
          <a:pPr latinLnBrk="1"/>
          <a:endParaRPr lang="ko-KR" altLang="en-US"/>
        </a:p>
      </dgm:t>
    </dgm:pt>
    <dgm:pt modelId="{8B138B62-8C4F-429F-BFF5-969D2ABCB7D8}">
      <dgm:prSet phldrT="[텍스트]" custT="1"/>
      <dgm:spPr/>
      <dgm:t>
        <a:bodyPr/>
        <a:lstStyle/>
        <a:p>
          <a:pPr latinLnBrk="1"/>
          <a:r>
            <a:rPr lang="en-US" sz="1300" b="1" i="0" dirty="0" err="1">
              <a:solidFill>
                <a:srgbClr val="55A868"/>
              </a:solidFill>
              <a:latin typeface="Noto Sans CJK KR"/>
            </a:rPr>
            <a:t>nvidia</a:t>
          </a:r>
          <a:r>
            <a:rPr lang="en-US" sz="1300" b="1" i="0" dirty="0">
              <a:solidFill>
                <a:srgbClr val="55A868"/>
              </a:solidFill>
              <a:latin typeface="Noto Sans CJK KR"/>
            </a:rPr>
            <a:t>/</a:t>
          </a:r>
        </a:p>
        <a:p>
          <a:pPr latinLnBrk="1"/>
          <a:r>
            <a:rPr lang="en-US" sz="1300" b="1" i="0" dirty="0" err="1">
              <a:solidFill>
                <a:srgbClr val="55A868"/>
              </a:solidFill>
              <a:latin typeface="Noto Sans CJK KR"/>
            </a:rPr>
            <a:t>Nemotron</a:t>
          </a:r>
          <a:r>
            <a:rPr lang="en-US" sz="1300" b="1" i="0" dirty="0">
              <a:solidFill>
                <a:srgbClr val="55A868"/>
              </a:solidFill>
              <a:latin typeface="Noto Sans CJK KR"/>
            </a:rPr>
            <a:t>-Personas-Korea </a:t>
          </a:r>
        </a:p>
        <a:p>
          <a:pPr latinLnBrk="1"/>
          <a:r>
            <a:rPr lang="en-US" sz="1300" b="1" i="0" dirty="0">
              <a:solidFill>
                <a:srgbClr val="FF0000"/>
              </a:solidFill>
              <a:highlight>
                <a:srgbClr val="FFFF00"/>
              </a:highlight>
              <a:latin typeface="Noto Sans CJK KR"/>
            </a:rPr>
            <a:t>(</a:t>
          </a:r>
          <a:r>
            <a:rPr lang="ko-KR" altLang="en-US" sz="1300" b="1" i="0" dirty="0">
              <a:solidFill>
                <a:srgbClr val="FF0000"/>
              </a:solidFill>
              <a:highlight>
                <a:srgbClr val="FFFF00"/>
              </a:highlight>
              <a:latin typeface="Noto Sans CJK KR"/>
            </a:rPr>
            <a:t>한국어</a:t>
          </a:r>
          <a:r>
            <a:rPr lang="en-US" altLang="ko-KR" sz="1300" b="1" i="0" dirty="0">
              <a:solidFill>
                <a:srgbClr val="FF0000"/>
              </a:solidFill>
              <a:highlight>
                <a:srgbClr val="FFFF00"/>
              </a:highlight>
              <a:latin typeface="Noto Sans CJK KR"/>
            </a:rPr>
            <a:t>, 100</a:t>
          </a:r>
          <a:r>
            <a:rPr lang="ko-KR" altLang="en-US" sz="1300" b="1" i="0" dirty="0">
              <a:solidFill>
                <a:srgbClr val="FF0000"/>
              </a:solidFill>
              <a:highlight>
                <a:srgbClr val="FFFF00"/>
              </a:highlight>
              <a:latin typeface="Noto Sans CJK KR"/>
            </a:rPr>
            <a:t>만행</a:t>
          </a:r>
          <a:r>
            <a:rPr lang="en-US" altLang="ko-KR" sz="1300" b="1" i="0" dirty="0">
              <a:solidFill>
                <a:srgbClr val="FF0000"/>
              </a:solidFill>
              <a:highlight>
                <a:srgbClr val="FFFF00"/>
              </a:highlight>
              <a:latin typeface="Noto Sans CJK KR"/>
            </a:rPr>
            <a:t>)</a:t>
          </a:r>
          <a:endParaRPr lang="ko-KR" altLang="en-US" sz="1300" dirty="0">
            <a:solidFill>
              <a:srgbClr val="FF0000"/>
            </a:solidFill>
            <a:highlight>
              <a:srgbClr val="FFFF00"/>
            </a:highlight>
          </a:endParaRPr>
        </a:p>
      </dgm:t>
    </dgm:pt>
    <dgm:pt modelId="{4308CB87-9F32-4F4A-BABA-33BFE499D6B7}" type="parTrans" cxnId="{AE2642D7-D05B-4D25-B17F-A568F95DF327}">
      <dgm:prSet/>
      <dgm:spPr/>
      <dgm:t>
        <a:bodyPr/>
        <a:lstStyle/>
        <a:p>
          <a:pPr latinLnBrk="1"/>
          <a:endParaRPr lang="ko-KR" altLang="en-US"/>
        </a:p>
      </dgm:t>
    </dgm:pt>
    <dgm:pt modelId="{9CDAE363-26BA-469A-813A-DA4D78D6F12B}" type="sibTrans" cxnId="{AE2642D7-D05B-4D25-B17F-A568F95DF327}">
      <dgm:prSet/>
      <dgm:spPr/>
      <dgm:t>
        <a:bodyPr/>
        <a:lstStyle/>
        <a:p>
          <a:pPr latinLnBrk="1"/>
          <a:endParaRPr lang="ko-KR" altLang="en-US"/>
        </a:p>
      </dgm:t>
    </dgm:pt>
    <dgm:pt modelId="{1D48558B-D7BF-4131-B863-5F2465B2953D}">
      <dgm:prSet phldrT="[텍스트]" phldr="0"/>
      <dgm:spPr/>
      <dgm:t>
        <a:bodyPr/>
        <a:lstStyle/>
        <a:p>
          <a:pPr latinLnBrk="1"/>
          <a:endParaRPr lang="ko-KR" altLang="en-US" dirty="0"/>
        </a:p>
      </dgm:t>
    </dgm:pt>
    <dgm:pt modelId="{97BE763D-ECE8-4D18-884B-7DCF32B34624}" type="parTrans" cxnId="{069E7B62-67DC-402C-A20E-815FE5DCA1D4}">
      <dgm:prSet/>
      <dgm:spPr/>
      <dgm:t>
        <a:bodyPr/>
        <a:lstStyle/>
        <a:p>
          <a:pPr latinLnBrk="1"/>
          <a:endParaRPr lang="ko-KR" altLang="en-US"/>
        </a:p>
      </dgm:t>
    </dgm:pt>
    <dgm:pt modelId="{C8E687FE-3331-434F-AE6E-D8766BCFDC59}" type="sibTrans" cxnId="{069E7B62-67DC-402C-A20E-815FE5DCA1D4}">
      <dgm:prSet/>
      <dgm:spPr/>
      <dgm:t>
        <a:bodyPr/>
        <a:lstStyle/>
        <a:p>
          <a:pPr latinLnBrk="1"/>
          <a:endParaRPr lang="ko-KR" altLang="en-US"/>
        </a:p>
      </dgm:t>
    </dgm:pt>
    <dgm:pt modelId="{3CC93A98-39FB-48F4-BF9F-CEEFD6E20496}">
      <dgm:prSet phldrT="[텍스트]" phldr="0" custT="1"/>
      <dgm:spPr/>
      <dgm:t>
        <a:bodyPr/>
        <a:lstStyle/>
        <a:p>
          <a:pPr latinLnBrk="1"/>
          <a:endParaRPr lang="en-US" altLang="ko-KR" sz="1200" b="1" i="0" dirty="0">
            <a:solidFill>
              <a:srgbClr val="FF0000"/>
            </a:solidFill>
            <a:latin typeface="Noto Sans CJK KR"/>
          </a:endParaRPr>
        </a:p>
        <a:p>
          <a:pPr latinLnBrk="1"/>
          <a:endParaRPr lang="en-US" altLang="ko-KR" sz="1200" b="1" i="0" dirty="0">
            <a:solidFill>
              <a:srgbClr val="FF0000"/>
            </a:solidFill>
            <a:latin typeface="Noto Sans CJK KR"/>
          </a:endParaRPr>
        </a:p>
        <a:p>
          <a:pPr latinLnBrk="1"/>
          <a:endParaRPr lang="en-US" altLang="ko-KR" sz="1200" b="1" i="0" dirty="0">
            <a:solidFill>
              <a:srgbClr val="FF0000"/>
            </a:solidFill>
            <a:latin typeface="Noto Sans CJK KR"/>
          </a:endParaRPr>
        </a:p>
        <a:p>
          <a:pPr latinLnBrk="1"/>
          <a:endParaRPr lang="ko-KR" altLang="en-US" sz="1200" b="1" dirty="0">
            <a:solidFill>
              <a:srgbClr val="FF0000"/>
            </a:solidFill>
          </a:endParaRPr>
        </a:p>
      </dgm:t>
    </dgm:pt>
    <dgm:pt modelId="{F16B81EB-BF6A-4405-BE28-819CD9C15CB8}" type="sibTrans" cxnId="{DDAFBA45-CD58-48E8-BC1D-AE867ADA64D5}">
      <dgm:prSet/>
      <dgm:spPr/>
      <dgm:t>
        <a:bodyPr/>
        <a:lstStyle/>
        <a:p>
          <a:pPr latinLnBrk="1"/>
          <a:endParaRPr lang="ko-KR" altLang="en-US"/>
        </a:p>
      </dgm:t>
    </dgm:pt>
    <dgm:pt modelId="{D6973EA4-7A48-4C49-8F0C-2E23B48C20F6}" type="parTrans" cxnId="{DDAFBA45-CD58-48E8-BC1D-AE867ADA64D5}">
      <dgm:prSet/>
      <dgm:spPr/>
      <dgm:t>
        <a:bodyPr/>
        <a:lstStyle/>
        <a:p>
          <a:pPr latinLnBrk="1"/>
          <a:endParaRPr lang="ko-KR" altLang="en-US"/>
        </a:p>
      </dgm:t>
    </dgm:pt>
    <dgm:pt modelId="{985E501E-D467-4BD7-85D5-99B8FC0EB252}" type="pres">
      <dgm:prSet presAssocID="{C5B9D8F7-FCAA-4745-8CA6-E9E8E261F05E}" presName="Name0" presStyleCnt="0">
        <dgm:presLayoutVars>
          <dgm:dir/>
          <dgm:resizeHandles val="exact"/>
        </dgm:presLayoutVars>
      </dgm:prSet>
      <dgm:spPr/>
    </dgm:pt>
    <dgm:pt modelId="{42AF412B-E9EC-4E4E-AFCD-31055CC6230B}" type="pres">
      <dgm:prSet presAssocID="{C5B9D8F7-FCAA-4745-8CA6-E9E8E261F05E}" presName="arrow" presStyleLbl="bgShp" presStyleIdx="0" presStyleCnt="1" custLinFactNeighborX="85"/>
      <dgm:spPr/>
    </dgm:pt>
    <dgm:pt modelId="{38D2235C-8B1C-4108-8C0E-017DE6EE7D38}" type="pres">
      <dgm:prSet presAssocID="{C5B9D8F7-FCAA-4745-8CA6-E9E8E261F05E}" presName="points" presStyleCnt="0"/>
      <dgm:spPr/>
    </dgm:pt>
    <dgm:pt modelId="{F3DA0CF4-9251-4980-A4C4-8E788B260374}" type="pres">
      <dgm:prSet presAssocID="{39A7C58B-42AD-48FE-9825-766EC58C870D}" presName="compositeA" presStyleCnt="0"/>
      <dgm:spPr/>
    </dgm:pt>
    <dgm:pt modelId="{25B73BBE-C317-4D92-84F0-95F0D535986B}" type="pres">
      <dgm:prSet presAssocID="{39A7C58B-42AD-48FE-9825-766EC58C870D}" presName="textA" presStyleLbl="revTx" presStyleIdx="0" presStyleCnt="4">
        <dgm:presLayoutVars>
          <dgm:bulletEnabled val="1"/>
        </dgm:presLayoutVars>
      </dgm:prSet>
      <dgm:spPr/>
    </dgm:pt>
    <dgm:pt modelId="{BCBA9CB0-2C39-4DFC-9412-8E8A1E83BEF1}" type="pres">
      <dgm:prSet presAssocID="{39A7C58B-42AD-48FE-9825-766EC58C870D}" presName="circleA" presStyleLbl="node1" presStyleIdx="0" presStyleCnt="4"/>
      <dgm:spPr/>
    </dgm:pt>
    <dgm:pt modelId="{A49DD8F2-E8E3-493F-ABEA-CFCF5CA6BB76}" type="pres">
      <dgm:prSet presAssocID="{39A7C58B-42AD-48FE-9825-766EC58C870D}" presName="spaceA" presStyleCnt="0"/>
      <dgm:spPr/>
    </dgm:pt>
    <dgm:pt modelId="{A68B2B42-3374-45CD-A099-86C60CE70CF7}" type="pres">
      <dgm:prSet presAssocID="{A1FA2783-CFC5-4A91-8B47-C05EB5B8D40B}" presName="space" presStyleCnt="0"/>
      <dgm:spPr/>
    </dgm:pt>
    <dgm:pt modelId="{995964D0-9535-4DEB-88BA-0D8D494163B6}" type="pres">
      <dgm:prSet presAssocID="{8B138B62-8C4F-429F-BFF5-969D2ABCB7D8}" presName="compositeB" presStyleCnt="0"/>
      <dgm:spPr/>
    </dgm:pt>
    <dgm:pt modelId="{6A38A344-6198-4B82-A2F6-BF6740A6CC06}" type="pres">
      <dgm:prSet presAssocID="{8B138B62-8C4F-429F-BFF5-969D2ABCB7D8}" presName="textB" presStyleLbl="revTx" presStyleIdx="1" presStyleCnt="4">
        <dgm:presLayoutVars>
          <dgm:bulletEnabled val="1"/>
        </dgm:presLayoutVars>
      </dgm:prSet>
      <dgm:spPr/>
    </dgm:pt>
    <dgm:pt modelId="{AE52A786-94D3-4C8E-B88D-212F45FD56C0}" type="pres">
      <dgm:prSet presAssocID="{8B138B62-8C4F-429F-BFF5-969D2ABCB7D8}" presName="circleB" presStyleLbl="node1" presStyleIdx="1" presStyleCnt="4"/>
      <dgm:spPr>
        <a:solidFill>
          <a:srgbClr val="FFC000"/>
        </a:solidFill>
        <a:ln>
          <a:solidFill>
            <a:srgbClr val="FF0000"/>
          </a:solidFill>
        </a:ln>
      </dgm:spPr>
    </dgm:pt>
    <dgm:pt modelId="{2F54BD12-F398-4BA9-ACBF-03006B801751}" type="pres">
      <dgm:prSet presAssocID="{8B138B62-8C4F-429F-BFF5-969D2ABCB7D8}" presName="spaceB" presStyleCnt="0"/>
      <dgm:spPr/>
    </dgm:pt>
    <dgm:pt modelId="{49A438CF-5762-473D-90BB-B6148DABC8F6}" type="pres">
      <dgm:prSet presAssocID="{9CDAE363-26BA-469A-813A-DA4D78D6F12B}" presName="space" presStyleCnt="0"/>
      <dgm:spPr/>
    </dgm:pt>
    <dgm:pt modelId="{B5ADD660-40E7-40FB-8F1D-12867346F949}" type="pres">
      <dgm:prSet presAssocID="{3CC93A98-39FB-48F4-BF9F-CEEFD6E20496}" presName="compositeA" presStyleCnt="0"/>
      <dgm:spPr/>
    </dgm:pt>
    <dgm:pt modelId="{94658EE2-0C66-4135-80F4-DF92E46A4CE9}" type="pres">
      <dgm:prSet presAssocID="{3CC93A98-39FB-48F4-BF9F-CEEFD6E20496}" presName="textA" presStyleLbl="revTx" presStyleIdx="2" presStyleCnt="4">
        <dgm:presLayoutVars>
          <dgm:bulletEnabled val="1"/>
        </dgm:presLayoutVars>
      </dgm:prSet>
      <dgm:spPr/>
    </dgm:pt>
    <dgm:pt modelId="{BEB8233A-E01F-464D-A52A-9FA0BE1D0400}" type="pres">
      <dgm:prSet presAssocID="{3CC93A98-39FB-48F4-BF9F-CEEFD6E20496}" presName="circleA" presStyleLbl="node1" presStyleIdx="2" presStyleCnt="4"/>
      <dgm:spPr>
        <a:solidFill>
          <a:srgbClr val="FFFF00"/>
        </a:solidFill>
      </dgm:spPr>
    </dgm:pt>
    <dgm:pt modelId="{9EEA092F-F13D-42EE-9BB3-75BA3F0EADB0}" type="pres">
      <dgm:prSet presAssocID="{3CC93A98-39FB-48F4-BF9F-CEEFD6E20496}" presName="spaceA" presStyleCnt="0"/>
      <dgm:spPr/>
    </dgm:pt>
    <dgm:pt modelId="{90B4405B-E9F0-418B-BEFC-714F66AF67DD}" type="pres">
      <dgm:prSet presAssocID="{F16B81EB-BF6A-4405-BE28-819CD9C15CB8}" presName="space" presStyleCnt="0"/>
      <dgm:spPr/>
    </dgm:pt>
    <dgm:pt modelId="{5876AE8C-256B-4338-B449-66380B30C888}" type="pres">
      <dgm:prSet presAssocID="{1D48558B-D7BF-4131-B863-5F2465B2953D}" presName="compositeB" presStyleCnt="0"/>
      <dgm:spPr/>
    </dgm:pt>
    <dgm:pt modelId="{8669DE5D-94F9-4C34-B581-79C651E8DF77}" type="pres">
      <dgm:prSet presAssocID="{1D48558B-D7BF-4131-B863-5F2465B2953D}" presName="textB" presStyleLbl="revTx" presStyleIdx="3" presStyleCnt="4">
        <dgm:presLayoutVars>
          <dgm:bulletEnabled val="1"/>
        </dgm:presLayoutVars>
      </dgm:prSet>
      <dgm:spPr/>
    </dgm:pt>
    <dgm:pt modelId="{8221333C-2905-481A-BAAC-4371FA806EFB}" type="pres">
      <dgm:prSet presAssocID="{1D48558B-D7BF-4131-B863-5F2465B2953D}" presName="circleB" presStyleLbl="node1" presStyleIdx="3" presStyleCnt="4"/>
      <dgm:spPr/>
    </dgm:pt>
    <dgm:pt modelId="{E20E7D06-E25D-48A1-894B-125D26A1FC57}" type="pres">
      <dgm:prSet presAssocID="{1D48558B-D7BF-4131-B863-5F2465B2953D}" presName="spaceB" presStyleCnt="0"/>
      <dgm:spPr/>
    </dgm:pt>
  </dgm:ptLst>
  <dgm:cxnLst>
    <dgm:cxn modelId="{10CC2C04-809A-42F8-854A-B1C338F68AB5}" type="presOf" srcId="{C5B9D8F7-FCAA-4745-8CA6-E9E8E261F05E}" destId="{985E501E-D467-4BD7-85D5-99B8FC0EB252}" srcOrd="0" destOrd="0" presId="urn:microsoft.com/office/officeart/2005/8/layout/hProcess11"/>
    <dgm:cxn modelId="{B223ED2A-4655-4A51-AEA0-F32693B83882}" type="presOf" srcId="{8B138B62-8C4F-429F-BFF5-969D2ABCB7D8}" destId="{6A38A344-6198-4B82-A2F6-BF6740A6CC06}" srcOrd="0" destOrd="0" presId="urn:microsoft.com/office/officeart/2005/8/layout/hProcess11"/>
    <dgm:cxn modelId="{069E7B62-67DC-402C-A20E-815FE5DCA1D4}" srcId="{C5B9D8F7-FCAA-4745-8CA6-E9E8E261F05E}" destId="{1D48558B-D7BF-4131-B863-5F2465B2953D}" srcOrd="3" destOrd="0" parTransId="{97BE763D-ECE8-4D18-884B-7DCF32B34624}" sibTransId="{C8E687FE-3331-434F-AE6E-D8766BCFDC59}"/>
    <dgm:cxn modelId="{DDAFBA45-CD58-48E8-BC1D-AE867ADA64D5}" srcId="{C5B9D8F7-FCAA-4745-8CA6-E9E8E261F05E}" destId="{3CC93A98-39FB-48F4-BF9F-CEEFD6E20496}" srcOrd="2" destOrd="0" parTransId="{D6973EA4-7A48-4C49-8F0C-2E23B48C20F6}" sibTransId="{F16B81EB-BF6A-4405-BE28-819CD9C15CB8}"/>
    <dgm:cxn modelId="{48DD0E7C-9051-4306-B3AE-DB685421A76B}" type="presOf" srcId="{39A7C58B-42AD-48FE-9825-766EC58C870D}" destId="{25B73BBE-C317-4D92-84F0-95F0D535986B}" srcOrd="0" destOrd="0" presId="urn:microsoft.com/office/officeart/2005/8/layout/hProcess11"/>
    <dgm:cxn modelId="{9D0E6491-74C5-4F67-8BB3-84014ACD8447}" srcId="{C5B9D8F7-FCAA-4745-8CA6-E9E8E261F05E}" destId="{39A7C58B-42AD-48FE-9825-766EC58C870D}" srcOrd="0" destOrd="0" parTransId="{46162150-3ACA-416C-92DC-1AE095A82EB8}" sibTransId="{A1FA2783-CFC5-4A91-8B47-C05EB5B8D40B}"/>
    <dgm:cxn modelId="{EDAE369A-860E-4A53-9236-7C497BFD3B57}" type="presOf" srcId="{1D48558B-D7BF-4131-B863-5F2465B2953D}" destId="{8669DE5D-94F9-4C34-B581-79C651E8DF77}" srcOrd="0" destOrd="0" presId="urn:microsoft.com/office/officeart/2005/8/layout/hProcess11"/>
    <dgm:cxn modelId="{BC8D4CA7-0D9C-484B-BC6F-12429C984AC2}" type="presOf" srcId="{3CC93A98-39FB-48F4-BF9F-CEEFD6E20496}" destId="{94658EE2-0C66-4135-80F4-DF92E46A4CE9}" srcOrd="0" destOrd="0" presId="urn:microsoft.com/office/officeart/2005/8/layout/hProcess11"/>
    <dgm:cxn modelId="{AE2642D7-D05B-4D25-B17F-A568F95DF327}" srcId="{C5B9D8F7-FCAA-4745-8CA6-E9E8E261F05E}" destId="{8B138B62-8C4F-429F-BFF5-969D2ABCB7D8}" srcOrd="1" destOrd="0" parTransId="{4308CB87-9F32-4F4A-BABA-33BFE499D6B7}" sibTransId="{9CDAE363-26BA-469A-813A-DA4D78D6F12B}"/>
    <dgm:cxn modelId="{7BD8CDCC-DC9D-40C4-8C31-FA0EDEC50B3B}" type="presParOf" srcId="{985E501E-D467-4BD7-85D5-99B8FC0EB252}" destId="{42AF412B-E9EC-4E4E-AFCD-31055CC6230B}" srcOrd="0" destOrd="0" presId="urn:microsoft.com/office/officeart/2005/8/layout/hProcess11"/>
    <dgm:cxn modelId="{5F662A82-AEF1-444D-B513-A2DCA69A6295}" type="presParOf" srcId="{985E501E-D467-4BD7-85D5-99B8FC0EB252}" destId="{38D2235C-8B1C-4108-8C0E-017DE6EE7D38}" srcOrd="1" destOrd="0" presId="urn:microsoft.com/office/officeart/2005/8/layout/hProcess11"/>
    <dgm:cxn modelId="{0051E908-5F46-4B12-B493-76791B6AB3E3}" type="presParOf" srcId="{38D2235C-8B1C-4108-8C0E-017DE6EE7D38}" destId="{F3DA0CF4-9251-4980-A4C4-8E788B260374}" srcOrd="0" destOrd="0" presId="urn:microsoft.com/office/officeart/2005/8/layout/hProcess11"/>
    <dgm:cxn modelId="{141DE4B6-2EBC-4C24-BB92-295571000125}" type="presParOf" srcId="{F3DA0CF4-9251-4980-A4C4-8E788B260374}" destId="{25B73BBE-C317-4D92-84F0-95F0D535986B}" srcOrd="0" destOrd="0" presId="urn:microsoft.com/office/officeart/2005/8/layout/hProcess11"/>
    <dgm:cxn modelId="{00F60219-4C00-41CC-A905-F158A91F8073}" type="presParOf" srcId="{F3DA0CF4-9251-4980-A4C4-8E788B260374}" destId="{BCBA9CB0-2C39-4DFC-9412-8E8A1E83BEF1}" srcOrd="1" destOrd="0" presId="urn:microsoft.com/office/officeart/2005/8/layout/hProcess11"/>
    <dgm:cxn modelId="{CC85B920-2871-4C73-9927-F374A07F4F93}" type="presParOf" srcId="{F3DA0CF4-9251-4980-A4C4-8E788B260374}" destId="{A49DD8F2-E8E3-493F-ABEA-CFCF5CA6BB76}" srcOrd="2" destOrd="0" presId="urn:microsoft.com/office/officeart/2005/8/layout/hProcess11"/>
    <dgm:cxn modelId="{A78C988D-051C-4BB1-A993-92945A011034}" type="presParOf" srcId="{38D2235C-8B1C-4108-8C0E-017DE6EE7D38}" destId="{A68B2B42-3374-45CD-A099-86C60CE70CF7}" srcOrd="1" destOrd="0" presId="urn:microsoft.com/office/officeart/2005/8/layout/hProcess11"/>
    <dgm:cxn modelId="{5D5EF120-1036-41F3-8EF0-D71D97B91525}" type="presParOf" srcId="{38D2235C-8B1C-4108-8C0E-017DE6EE7D38}" destId="{995964D0-9535-4DEB-88BA-0D8D494163B6}" srcOrd="2" destOrd="0" presId="urn:microsoft.com/office/officeart/2005/8/layout/hProcess11"/>
    <dgm:cxn modelId="{B2F884E2-93DF-494F-AA82-A1D39FD1150B}" type="presParOf" srcId="{995964D0-9535-4DEB-88BA-0D8D494163B6}" destId="{6A38A344-6198-4B82-A2F6-BF6740A6CC06}" srcOrd="0" destOrd="0" presId="urn:microsoft.com/office/officeart/2005/8/layout/hProcess11"/>
    <dgm:cxn modelId="{0BF53571-BDD9-44C4-8AA4-0D4B9AA00E55}" type="presParOf" srcId="{995964D0-9535-4DEB-88BA-0D8D494163B6}" destId="{AE52A786-94D3-4C8E-B88D-212F45FD56C0}" srcOrd="1" destOrd="0" presId="urn:microsoft.com/office/officeart/2005/8/layout/hProcess11"/>
    <dgm:cxn modelId="{4C837615-8412-4162-9BAC-A342ABD8A05E}" type="presParOf" srcId="{995964D0-9535-4DEB-88BA-0D8D494163B6}" destId="{2F54BD12-F398-4BA9-ACBF-03006B801751}" srcOrd="2" destOrd="0" presId="urn:microsoft.com/office/officeart/2005/8/layout/hProcess11"/>
    <dgm:cxn modelId="{226A44A1-A7E0-4846-912A-184982A67DDD}" type="presParOf" srcId="{38D2235C-8B1C-4108-8C0E-017DE6EE7D38}" destId="{49A438CF-5762-473D-90BB-B6148DABC8F6}" srcOrd="3" destOrd="0" presId="urn:microsoft.com/office/officeart/2005/8/layout/hProcess11"/>
    <dgm:cxn modelId="{90FE2588-AAAA-4464-9B72-9A882EF4F210}" type="presParOf" srcId="{38D2235C-8B1C-4108-8C0E-017DE6EE7D38}" destId="{B5ADD660-40E7-40FB-8F1D-12867346F949}" srcOrd="4" destOrd="0" presId="urn:microsoft.com/office/officeart/2005/8/layout/hProcess11"/>
    <dgm:cxn modelId="{1491837A-5F8B-480E-B32A-42D7F2BD9917}" type="presParOf" srcId="{B5ADD660-40E7-40FB-8F1D-12867346F949}" destId="{94658EE2-0C66-4135-80F4-DF92E46A4CE9}" srcOrd="0" destOrd="0" presId="urn:microsoft.com/office/officeart/2005/8/layout/hProcess11"/>
    <dgm:cxn modelId="{31688865-4BE6-4A16-9307-D812450AA8E3}" type="presParOf" srcId="{B5ADD660-40E7-40FB-8F1D-12867346F949}" destId="{BEB8233A-E01F-464D-A52A-9FA0BE1D0400}" srcOrd="1" destOrd="0" presId="urn:microsoft.com/office/officeart/2005/8/layout/hProcess11"/>
    <dgm:cxn modelId="{D273AD9C-C974-41B9-8BD8-B88848C6185B}" type="presParOf" srcId="{B5ADD660-40E7-40FB-8F1D-12867346F949}" destId="{9EEA092F-F13D-42EE-9BB3-75BA3F0EADB0}" srcOrd="2" destOrd="0" presId="urn:microsoft.com/office/officeart/2005/8/layout/hProcess11"/>
    <dgm:cxn modelId="{772024B4-8F47-4889-985D-F9DDEDF8A148}" type="presParOf" srcId="{38D2235C-8B1C-4108-8C0E-017DE6EE7D38}" destId="{90B4405B-E9F0-418B-BEFC-714F66AF67DD}" srcOrd="5" destOrd="0" presId="urn:microsoft.com/office/officeart/2005/8/layout/hProcess11"/>
    <dgm:cxn modelId="{4B8771B9-9B0F-4F0F-BA56-7C5A3E29EFBE}" type="presParOf" srcId="{38D2235C-8B1C-4108-8C0E-017DE6EE7D38}" destId="{5876AE8C-256B-4338-B449-66380B30C888}" srcOrd="6" destOrd="0" presId="urn:microsoft.com/office/officeart/2005/8/layout/hProcess11"/>
    <dgm:cxn modelId="{76136431-7BA2-4635-A2C3-A2BB295FFECC}" type="presParOf" srcId="{5876AE8C-256B-4338-B449-66380B30C888}" destId="{8669DE5D-94F9-4C34-B581-79C651E8DF77}" srcOrd="0" destOrd="0" presId="urn:microsoft.com/office/officeart/2005/8/layout/hProcess11"/>
    <dgm:cxn modelId="{516CAF68-A9C5-45BD-A61E-EBCCFDA4FECD}" type="presParOf" srcId="{5876AE8C-256B-4338-B449-66380B30C888}" destId="{8221333C-2905-481A-BAAC-4371FA806EFB}" srcOrd="1" destOrd="0" presId="urn:microsoft.com/office/officeart/2005/8/layout/hProcess11"/>
    <dgm:cxn modelId="{85CBAD83-0A5E-43A2-BAE6-13A115A87611}" type="presParOf" srcId="{5876AE8C-256B-4338-B449-66380B30C888}" destId="{E20E7D06-E25D-48A1-894B-125D26A1FC57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AF412B-E9EC-4E4E-AFCD-31055CC6230B}">
      <dsp:nvSpPr>
        <dsp:cNvPr id="0" name=""/>
        <dsp:cNvSpPr/>
      </dsp:nvSpPr>
      <dsp:spPr>
        <a:xfrm>
          <a:off x="0" y="1061974"/>
          <a:ext cx="11973560" cy="1415966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B73BBE-C317-4D92-84F0-95F0D535986B}">
      <dsp:nvSpPr>
        <dsp:cNvPr id="0" name=""/>
        <dsp:cNvSpPr/>
      </dsp:nvSpPr>
      <dsp:spPr>
        <a:xfrm>
          <a:off x="5393" y="0"/>
          <a:ext cx="2594076" cy="1415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b" anchorCtr="0">
          <a:noAutofit/>
        </a:bodyPr>
        <a:lstStyle/>
        <a:p>
          <a:pPr marL="0" lvl="0" indent="0" algn="ctr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 dirty="0">
              <a:solidFill>
                <a:srgbClr val="4C72B0"/>
              </a:solidFill>
              <a:latin typeface="Noto Sans CJK KR"/>
            </a:rPr>
            <a:t>anakin87/</a:t>
          </a:r>
        </a:p>
        <a:p>
          <a:pPr marL="0" lvl="0" indent="0" algn="ctr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 dirty="0">
              <a:solidFill>
                <a:srgbClr val="4C72B0"/>
              </a:solidFill>
              <a:latin typeface="Noto Sans CJK KR"/>
            </a:rPr>
            <a:t>events-scheduling </a:t>
          </a:r>
        </a:p>
        <a:p>
          <a:pPr marL="0" lvl="0" indent="0" algn="ctr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 dirty="0">
              <a:solidFill>
                <a:srgbClr val="FF0000"/>
              </a:solidFill>
              <a:highlight>
                <a:srgbClr val="FFFF00"/>
              </a:highlight>
              <a:latin typeface="Noto Sans CJK KR"/>
            </a:rPr>
            <a:t>(</a:t>
          </a:r>
          <a:r>
            <a:rPr lang="ko-KR" altLang="en-US" sz="1300" b="1" i="0" kern="1200" dirty="0">
              <a:solidFill>
                <a:srgbClr val="FF0000"/>
              </a:solidFill>
              <a:highlight>
                <a:srgbClr val="FFFF00"/>
              </a:highlight>
              <a:latin typeface="Noto Sans CJK KR"/>
            </a:rPr>
            <a:t>영문</a:t>
          </a:r>
          <a:r>
            <a:rPr lang="en-US" altLang="ko-KR" sz="1300" b="1" i="0" kern="1200" dirty="0">
              <a:solidFill>
                <a:srgbClr val="FF0000"/>
              </a:solidFill>
              <a:highlight>
                <a:srgbClr val="FFFF00"/>
              </a:highlight>
              <a:latin typeface="Noto Sans CJK KR"/>
            </a:rPr>
            <a:t>, 500</a:t>
          </a:r>
          <a:r>
            <a:rPr lang="ko-KR" altLang="en-US" sz="1300" b="1" i="0" kern="1200" dirty="0">
              <a:solidFill>
                <a:srgbClr val="FF0000"/>
              </a:solidFill>
              <a:highlight>
                <a:srgbClr val="FFFF00"/>
              </a:highlight>
              <a:latin typeface="Noto Sans CJK KR"/>
            </a:rPr>
            <a:t>행</a:t>
          </a:r>
          <a:r>
            <a:rPr lang="en-US" altLang="ko-KR" sz="1300" b="1" i="0" kern="1200" dirty="0">
              <a:solidFill>
                <a:srgbClr val="FF0000"/>
              </a:solidFill>
              <a:highlight>
                <a:srgbClr val="FFFF00"/>
              </a:highlight>
              <a:latin typeface="Noto Sans CJK KR"/>
            </a:rPr>
            <a:t>)</a:t>
          </a:r>
          <a:endParaRPr lang="ko-KR" altLang="en-US" sz="1300" kern="1200" dirty="0">
            <a:solidFill>
              <a:srgbClr val="FF0000"/>
            </a:solidFill>
            <a:highlight>
              <a:srgbClr val="FFFF00"/>
            </a:highlight>
          </a:endParaRPr>
        </a:p>
      </dsp:txBody>
      <dsp:txXfrm>
        <a:off x="5393" y="0"/>
        <a:ext cx="2594076" cy="1415966"/>
      </dsp:txXfrm>
    </dsp:sp>
    <dsp:sp modelId="{BCBA9CB0-2C39-4DFC-9412-8E8A1E83BEF1}">
      <dsp:nvSpPr>
        <dsp:cNvPr id="0" name=""/>
        <dsp:cNvSpPr/>
      </dsp:nvSpPr>
      <dsp:spPr>
        <a:xfrm>
          <a:off x="1125435" y="1592961"/>
          <a:ext cx="353991" cy="35399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38A344-6198-4B82-A2F6-BF6740A6CC06}">
      <dsp:nvSpPr>
        <dsp:cNvPr id="0" name=""/>
        <dsp:cNvSpPr/>
      </dsp:nvSpPr>
      <dsp:spPr>
        <a:xfrm>
          <a:off x="2729173" y="2123949"/>
          <a:ext cx="2594076" cy="1415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t" anchorCtr="0">
          <a:noAutofit/>
        </a:bodyPr>
        <a:lstStyle/>
        <a:p>
          <a:pPr marL="0" lvl="0" indent="0" algn="ctr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 dirty="0" err="1">
              <a:solidFill>
                <a:srgbClr val="55A868"/>
              </a:solidFill>
              <a:latin typeface="Noto Sans CJK KR"/>
            </a:rPr>
            <a:t>nvidia</a:t>
          </a:r>
          <a:r>
            <a:rPr lang="en-US" sz="1300" b="1" i="0" kern="1200" dirty="0">
              <a:solidFill>
                <a:srgbClr val="55A868"/>
              </a:solidFill>
              <a:latin typeface="Noto Sans CJK KR"/>
            </a:rPr>
            <a:t>/</a:t>
          </a:r>
        </a:p>
        <a:p>
          <a:pPr marL="0" lvl="0" indent="0" algn="ctr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 dirty="0" err="1">
              <a:solidFill>
                <a:srgbClr val="55A868"/>
              </a:solidFill>
              <a:latin typeface="Noto Sans CJK KR"/>
            </a:rPr>
            <a:t>Nemotron</a:t>
          </a:r>
          <a:r>
            <a:rPr lang="en-US" sz="1300" b="1" i="0" kern="1200" dirty="0">
              <a:solidFill>
                <a:srgbClr val="55A868"/>
              </a:solidFill>
              <a:latin typeface="Noto Sans CJK KR"/>
            </a:rPr>
            <a:t>-Personas-Korea </a:t>
          </a:r>
        </a:p>
        <a:p>
          <a:pPr marL="0" lvl="0" indent="0" algn="ctr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 dirty="0">
              <a:solidFill>
                <a:srgbClr val="FF0000"/>
              </a:solidFill>
              <a:highlight>
                <a:srgbClr val="FFFF00"/>
              </a:highlight>
              <a:latin typeface="Noto Sans CJK KR"/>
            </a:rPr>
            <a:t>(</a:t>
          </a:r>
          <a:r>
            <a:rPr lang="ko-KR" altLang="en-US" sz="1300" b="1" i="0" kern="1200" dirty="0">
              <a:solidFill>
                <a:srgbClr val="FF0000"/>
              </a:solidFill>
              <a:highlight>
                <a:srgbClr val="FFFF00"/>
              </a:highlight>
              <a:latin typeface="Noto Sans CJK KR"/>
            </a:rPr>
            <a:t>한국어</a:t>
          </a:r>
          <a:r>
            <a:rPr lang="en-US" altLang="ko-KR" sz="1300" b="1" i="0" kern="1200" dirty="0">
              <a:solidFill>
                <a:srgbClr val="FF0000"/>
              </a:solidFill>
              <a:highlight>
                <a:srgbClr val="FFFF00"/>
              </a:highlight>
              <a:latin typeface="Noto Sans CJK KR"/>
            </a:rPr>
            <a:t>, 100</a:t>
          </a:r>
          <a:r>
            <a:rPr lang="ko-KR" altLang="en-US" sz="1300" b="1" i="0" kern="1200" dirty="0">
              <a:solidFill>
                <a:srgbClr val="FF0000"/>
              </a:solidFill>
              <a:highlight>
                <a:srgbClr val="FFFF00"/>
              </a:highlight>
              <a:latin typeface="Noto Sans CJK KR"/>
            </a:rPr>
            <a:t>만행</a:t>
          </a:r>
          <a:r>
            <a:rPr lang="en-US" altLang="ko-KR" sz="1300" b="1" i="0" kern="1200" dirty="0">
              <a:solidFill>
                <a:srgbClr val="FF0000"/>
              </a:solidFill>
              <a:highlight>
                <a:srgbClr val="FFFF00"/>
              </a:highlight>
              <a:latin typeface="Noto Sans CJK KR"/>
            </a:rPr>
            <a:t>)</a:t>
          </a:r>
          <a:endParaRPr lang="ko-KR" altLang="en-US" sz="1300" kern="1200" dirty="0">
            <a:solidFill>
              <a:srgbClr val="FF0000"/>
            </a:solidFill>
            <a:highlight>
              <a:srgbClr val="FFFF00"/>
            </a:highlight>
          </a:endParaRPr>
        </a:p>
      </dsp:txBody>
      <dsp:txXfrm>
        <a:off x="2729173" y="2123949"/>
        <a:ext cx="2594076" cy="1415966"/>
      </dsp:txXfrm>
    </dsp:sp>
    <dsp:sp modelId="{AE52A786-94D3-4C8E-B88D-212F45FD56C0}">
      <dsp:nvSpPr>
        <dsp:cNvPr id="0" name=""/>
        <dsp:cNvSpPr/>
      </dsp:nvSpPr>
      <dsp:spPr>
        <a:xfrm>
          <a:off x="3849216" y="1592961"/>
          <a:ext cx="353991" cy="353991"/>
        </a:xfrm>
        <a:prstGeom prst="ellipse">
          <a:avLst/>
        </a:prstGeom>
        <a:solidFill>
          <a:srgbClr val="FFC000"/>
        </a:solidFill>
        <a:ln w="25400" cap="flat" cmpd="sng" algn="ctr">
          <a:solidFill>
            <a:srgbClr val="FF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658EE2-0C66-4135-80F4-DF92E46A4CE9}">
      <dsp:nvSpPr>
        <dsp:cNvPr id="0" name=""/>
        <dsp:cNvSpPr/>
      </dsp:nvSpPr>
      <dsp:spPr>
        <a:xfrm>
          <a:off x="5452953" y="0"/>
          <a:ext cx="2594076" cy="1415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b" anchorCtr="0">
          <a:noAutofit/>
        </a:bodyPr>
        <a:lstStyle/>
        <a:p>
          <a:pPr marL="0" lvl="0" indent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altLang="ko-KR" sz="1200" b="1" i="0" kern="1200" dirty="0">
            <a:solidFill>
              <a:srgbClr val="FF0000"/>
            </a:solidFill>
            <a:latin typeface="Noto Sans CJK KR"/>
          </a:endParaRPr>
        </a:p>
        <a:p>
          <a:pPr marL="0" lvl="0" indent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altLang="ko-KR" sz="1200" b="1" i="0" kern="1200" dirty="0">
            <a:solidFill>
              <a:srgbClr val="FF0000"/>
            </a:solidFill>
            <a:latin typeface="Noto Sans CJK KR"/>
          </a:endParaRPr>
        </a:p>
        <a:p>
          <a:pPr marL="0" lvl="0" indent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altLang="ko-KR" sz="1200" b="1" i="0" kern="1200" dirty="0">
            <a:solidFill>
              <a:srgbClr val="FF0000"/>
            </a:solidFill>
            <a:latin typeface="Noto Sans CJK KR"/>
          </a:endParaRPr>
        </a:p>
        <a:p>
          <a:pPr marL="0" lvl="0" indent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200" b="1" kern="1200" dirty="0">
            <a:solidFill>
              <a:srgbClr val="FF0000"/>
            </a:solidFill>
          </a:endParaRPr>
        </a:p>
      </dsp:txBody>
      <dsp:txXfrm>
        <a:off x="5452953" y="0"/>
        <a:ext cx="2594076" cy="1415966"/>
      </dsp:txXfrm>
    </dsp:sp>
    <dsp:sp modelId="{BEB8233A-E01F-464D-A52A-9FA0BE1D0400}">
      <dsp:nvSpPr>
        <dsp:cNvPr id="0" name=""/>
        <dsp:cNvSpPr/>
      </dsp:nvSpPr>
      <dsp:spPr>
        <a:xfrm>
          <a:off x="6572996" y="1592961"/>
          <a:ext cx="353991" cy="353991"/>
        </a:xfrm>
        <a:prstGeom prst="ellipse">
          <a:avLst/>
        </a:prstGeom>
        <a:solidFill>
          <a:srgbClr val="FFFF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69DE5D-94F9-4C34-B581-79C651E8DF77}">
      <dsp:nvSpPr>
        <dsp:cNvPr id="0" name=""/>
        <dsp:cNvSpPr/>
      </dsp:nvSpPr>
      <dsp:spPr>
        <a:xfrm>
          <a:off x="8176734" y="2123949"/>
          <a:ext cx="2594076" cy="1415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0" tIns="355600" rIns="355600" bIns="355600" numCol="1" spcCol="1270" anchor="t" anchorCtr="0">
          <a:noAutofit/>
        </a:bodyPr>
        <a:lstStyle/>
        <a:p>
          <a:pPr marL="0" lvl="0" indent="0" algn="ctr" defTabSz="2222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5000" kern="1200" dirty="0"/>
        </a:p>
      </dsp:txBody>
      <dsp:txXfrm>
        <a:off x="8176734" y="2123949"/>
        <a:ext cx="2594076" cy="1415966"/>
      </dsp:txXfrm>
    </dsp:sp>
    <dsp:sp modelId="{8221333C-2905-481A-BAAC-4371FA806EFB}">
      <dsp:nvSpPr>
        <dsp:cNvPr id="0" name=""/>
        <dsp:cNvSpPr/>
      </dsp:nvSpPr>
      <dsp:spPr>
        <a:xfrm>
          <a:off x="9296776" y="1592961"/>
          <a:ext cx="353991" cy="35399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timeline" pri="103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7362AB-C23C-4F4D-B692-33A8753798BD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F75969-28BC-49E5-81E1-E8157F2BA0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8212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355520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977639"/>
            <a:ext cx="12191695" cy="508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Noto Sans CJK KR"/>
              </a:rPr>
              <a:t>TimeSorter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2004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 i="0">
                <a:solidFill>
                  <a:srgbClr val="C9D4E0"/>
                </a:solidFill>
                <a:latin typeface="Noto Sans CJK KR"/>
              </a:rPr>
              <a:t>한국어 일정 우선순위 정렬 비서 — Qwen3.5-4B 파인튜닝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2062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DD8452"/>
                </a:solidFill>
                <a:latin typeface="Noto Sans CJK KR"/>
              </a:rPr>
              <a:t>SFT → DPO 파이프라인 · 4축 JSON 채점 · RTX 12GB QLoRA</a:t>
            </a:r>
          </a:p>
          <a:p>
            <a:pPr algn="l">
              <a:spcBef>
                <a:spcPts val="800"/>
              </a:spcBef>
            </a:pPr>
            <a:r>
              <a:rPr sz="1300" b="0" i="0">
                <a:solidFill>
                  <a:srgbClr val="9FAEBF"/>
                </a:solidFill>
                <a:latin typeface="Noto Sans CJK KR"/>
              </a:rPr>
              <a:t>할 일 목록을 긴급도·중요도·의존성·시간제약 4축으로 채점해 실행 순서를 제안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A6B09A-5584-5773-6049-9D8008274991}"/>
              </a:ext>
            </a:extLst>
          </p:cNvPr>
          <p:cNvSpPr txBox="1"/>
          <p:nvPr/>
        </p:nvSpPr>
        <p:spPr>
          <a:xfrm>
            <a:off x="466344" y="5002636"/>
            <a:ext cx="3657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chemeClr val="bg1"/>
                </a:solidFill>
              </a:rPr>
              <a:t>2026 · 0</a:t>
            </a:r>
            <a:r>
              <a:rPr lang="en-US" sz="1400" b="0" i="0" dirty="0">
                <a:solidFill>
                  <a:schemeClr val="bg1"/>
                </a:solidFill>
              </a:rPr>
              <a:t>6</a:t>
            </a:r>
            <a:r>
              <a:rPr sz="1400" b="0" i="0" dirty="0">
                <a:solidFill>
                  <a:schemeClr val="bg1"/>
                </a:solidFill>
              </a:rPr>
              <a:t> · </a:t>
            </a:r>
            <a:r>
              <a:rPr lang="en-US" sz="1400" dirty="0">
                <a:solidFill>
                  <a:schemeClr val="bg1"/>
                </a:solidFill>
              </a:rPr>
              <a:t>17</a:t>
            </a:r>
            <a:endParaRPr sz="1400" b="0" i="0" dirty="0">
              <a:solidFill>
                <a:schemeClr val="bg1"/>
              </a:solidFill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00C15586-CE4E-1806-96E4-A5580AD9823B}"/>
              </a:ext>
            </a:extLst>
          </p:cNvPr>
          <p:cNvSpPr/>
          <p:nvPr/>
        </p:nvSpPr>
        <p:spPr>
          <a:xfrm>
            <a:off x="548640" y="5486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B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팀원</a:t>
            </a:r>
            <a:endParaRPr lang="en-US" sz="10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1A87C2D4-00CA-2BB3-884C-F2437AA8F754}"/>
              </a:ext>
            </a:extLst>
          </p:cNvPr>
          <p:cNvSpPr/>
          <p:nvPr/>
        </p:nvSpPr>
        <p:spPr>
          <a:xfrm>
            <a:off x="548640" y="5760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소석영  ·  김경한  ·  봉정근</a:t>
            </a:r>
            <a:endParaRPr lang="en-US" sz="1600" dirty="0"/>
          </a:p>
        </p:txBody>
      </p:sp>
      <p:pic>
        <p:nvPicPr>
          <p:cNvPr id="15" name="Image 0" descr="preencoded.png">
            <a:extLst>
              <a:ext uri="{FF2B5EF4-FFF2-40B4-BE49-F238E27FC236}">
                <a16:creationId xmlns:a16="http://schemas.microsoft.com/office/drawing/2014/main" id="{8DA63E04-1CD6-F09E-C5D1-6062E84AD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1045" y="392382"/>
            <a:ext cx="1280160" cy="1280160"/>
          </a:xfrm>
          <a:prstGeom prst="rect">
            <a:avLst/>
          </a:prstGeom>
        </p:spPr>
      </p:pic>
      <p:pic>
        <p:nvPicPr>
          <p:cNvPr id="17" name="Image 1" descr="preencoded.png">
            <a:extLst>
              <a:ext uri="{FF2B5EF4-FFF2-40B4-BE49-F238E27FC236}">
                <a16:creationId xmlns:a16="http://schemas.microsoft.com/office/drawing/2014/main" id="{C5270BD3-E211-11FE-4698-2CED8EBBC4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1045" y="1855422"/>
            <a:ext cx="1280160" cy="1280160"/>
          </a:xfrm>
          <a:prstGeom prst="rect">
            <a:avLst/>
          </a:prstGeom>
        </p:spPr>
      </p:pic>
      <p:sp>
        <p:nvSpPr>
          <p:cNvPr id="19" name="Text 2">
            <a:extLst>
              <a:ext uri="{FF2B5EF4-FFF2-40B4-BE49-F238E27FC236}">
                <a16:creationId xmlns:a16="http://schemas.microsoft.com/office/drawing/2014/main" id="{90954908-61E7-29B1-8122-BB432862AFBA}"/>
              </a:ext>
            </a:extLst>
          </p:cNvPr>
          <p:cNvSpPr/>
          <p:nvPr/>
        </p:nvSpPr>
        <p:spPr>
          <a:xfrm>
            <a:off x="548640" y="548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FB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533765" y="366559"/>
            <a:ext cx="3047206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33" b="1" kern="0" spc="4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× LLM PROJECT</a:t>
            </a:r>
            <a:endParaRPr lang="en-US" sz="1333" dirty="0"/>
          </a:p>
        </p:txBody>
      </p:sp>
      <p:sp>
        <p:nvSpPr>
          <p:cNvPr id="4" name="Text 2"/>
          <p:cNvSpPr/>
          <p:nvPr/>
        </p:nvSpPr>
        <p:spPr>
          <a:xfrm>
            <a:off x="611030" y="662198"/>
            <a:ext cx="10969943" cy="853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999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우리가 풀려는 문제</a:t>
            </a:r>
            <a:endParaRPr lang="en-US" sz="3999" dirty="0"/>
          </a:p>
        </p:txBody>
      </p:sp>
      <p:sp>
        <p:nvSpPr>
          <p:cNvPr id="5" name="Text 3"/>
          <p:cNvSpPr/>
          <p:nvPr/>
        </p:nvSpPr>
        <p:spPr>
          <a:xfrm>
            <a:off x="611030" y="1391237"/>
            <a:ext cx="10969943" cy="426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6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Prioritization as a Preference Learning Problem</a:t>
            </a:r>
            <a:endParaRPr lang="en-US" sz="1866" dirty="0"/>
          </a:p>
        </p:txBody>
      </p:sp>
      <p:sp>
        <p:nvSpPr>
          <p:cNvPr id="6" name="Shape 4"/>
          <p:cNvSpPr/>
          <p:nvPr/>
        </p:nvSpPr>
        <p:spPr>
          <a:xfrm>
            <a:off x="611030" y="1862919"/>
            <a:ext cx="3412871" cy="2803430"/>
          </a:xfrm>
          <a:prstGeom prst="rect">
            <a:avLst/>
          </a:prstGeom>
          <a:solidFill>
            <a:srgbClr val="F4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KR" sz="2399"/>
          </a:p>
        </p:txBody>
      </p:sp>
      <p:sp>
        <p:nvSpPr>
          <p:cNvPr id="7" name="Shape 5"/>
          <p:cNvSpPr/>
          <p:nvPr/>
        </p:nvSpPr>
        <p:spPr>
          <a:xfrm>
            <a:off x="611030" y="1862920"/>
            <a:ext cx="3412871" cy="97511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KR" sz="2399"/>
          </a:p>
        </p:txBody>
      </p:sp>
      <p:sp>
        <p:nvSpPr>
          <p:cNvPr id="8" name="Text 6"/>
          <p:cNvSpPr/>
          <p:nvPr/>
        </p:nvSpPr>
        <p:spPr>
          <a:xfrm>
            <a:off x="854805" y="2106696"/>
            <a:ext cx="2925318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kern="0" spc="533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333" dirty="0"/>
          </a:p>
        </p:txBody>
      </p:sp>
      <p:sp>
        <p:nvSpPr>
          <p:cNvPr id="9" name="Text 7"/>
          <p:cNvSpPr/>
          <p:nvPr/>
        </p:nvSpPr>
        <p:spPr>
          <a:xfrm>
            <a:off x="854805" y="2472361"/>
            <a:ext cx="2925318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6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자연어 할일 목록</a:t>
            </a:r>
            <a:endParaRPr lang="en-US" sz="1866" dirty="0"/>
          </a:p>
        </p:txBody>
      </p:sp>
      <p:sp>
        <p:nvSpPr>
          <p:cNvPr id="10" name="Text 8"/>
          <p:cNvSpPr/>
          <p:nvPr/>
        </p:nvSpPr>
        <p:spPr>
          <a:xfrm>
            <a:off x="854805" y="2898969"/>
            <a:ext cx="3047206" cy="1706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"내일 오전 임원 보고"</a:t>
            </a:r>
            <a:endParaRPr lang="en-US" sz="1333" dirty="0"/>
          </a:p>
          <a:p>
            <a:r>
              <a:rPr lang="en-US" sz="1333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"세탁소 옷 찾기"</a:t>
            </a:r>
            <a:endParaRPr lang="en-US" sz="1333" dirty="0"/>
          </a:p>
          <a:p>
            <a:r>
              <a:rPr lang="en-US" sz="1333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"3주 후 컨퍼런스 발표 준비"</a:t>
            </a:r>
            <a:endParaRPr lang="en-US" sz="1333" dirty="0"/>
          </a:p>
          <a:p>
            <a:r>
              <a:rPr lang="en-US" sz="1333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"동료에게 회신"</a:t>
            </a:r>
            <a:endParaRPr lang="en-US" sz="1333" dirty="0"/>
          </a:p>
        </p:txBody>
      </p:sp>
      <p:sp>
        <p:nvSpPr>
          <p:cNvPr id="11" name="Shape 9"/>
          <p:cNvSpPr/>
          <p:nvPr/>
        </p:nvSpPr>
        <p:spPr>
          <a:xfrm>
            <a:off x="4145789" y="3264634"/>
            <a:ext cx="548497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  <a:tailEnd type="triangle"/>
          </a:ln>
        </p:spPr>
        <p:txBody>
          <a:bodyPr/>
          <a:lstStyle/>
          <a:p>
            <a:endParaRPr lang="en-KR" sz="2399"/>
          </a:p>
        </p:txBody>
      </p:sp>
      <p:sp>
        <p:nvSpPr>
          <p:cNvPr id="12" name="Shape 10"/>
          <p:cNvSpPr/>
          <p:nvPr/>
        </p:nvSpPr>
        <p:spPr>
          <a:xfrm>
            <a:off x="4755229" y="1862919"/>
            <a:ext cx="2681542" cy="280343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KR" sz="2399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79" y="2350472"/>
            <a:ext cx="731330" cy="73133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816175" y="3264635"/>
            <a:ext cx="2559653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LLMs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16175" y="3630299"/>
            <a:ext cx="2559653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6" i="1" dirty="0">
                <a:solidFill>
                  <a:srgbClr val="FFB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Qwen3.5-4B/9B + DPO+LoRA</a:t>
            </a:r>
            <a:endParaRPr lang="en-US" sz="1466" i="1" dirty="0"/>
          </a:p>
        </p:txBody>
      </p:sp>
      <p:sp>
        <p:nvSpPr>
          <p:cNvPr id="16" name="Text 13"/>
          <p:cNvSpPr/>
          <p:nvPr/>
        </p:nvSpPr>
        <p:spPr>
          <a:xfrm>
            <a:off x="4816175" y="4117852"/>
            <a:ext cx="2559653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 선호 학습</a:t>
            </a:r>
            <a:endParaRPr lang="en-US" sz="1333" dirty="0"/>
          </a:p>
        </p:txBody>
      </p:sp>
      <p:sp>
        <p:nvSpPr>
          <p:cNvPr id="17" name="Shape 14"/>
          <p:cNvSpPr/>
          <p:nvPr/>
        </p:nvSpPr>
        <p:spPr>
          <a:xfrm>
            <a:off x="7558660" y="3264634"/>
            <a:ext cx="548497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  <a:tailEnd type="triangle"/>
          </a:ln>
        </p:spPr>
        <p:txBody>
          <a:bodyPr/>
          <a:lstStyle/>
          <a:p>
            <a:endParaRPr lang="en-KR" sz="2399"/>
          </a:p>
        </p:txBody>
      </p:sp>
      <p:sp>
        <p:nvSpPr>
          <p:cNvPr id="18" name="Shape 15"/>
          <p:cNvSpPr/>
          <p:nvPr/>
        </p:nvSpPr>
        <p:spPr>
          <a:xfrm>
            <a:off x="8168101" y="1862919"/>
            <a:ext cx="3412871" cy="2803430"/>
          </a:xfrm>
          <a:prstGeom prst="rect">
            <a:avLst/>
          </a:prstGeom>
          <a:solidFill>
            <a:srgbClr val="F4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KR" sz="2399"/>
          </a:p>
        </p:txBody>
      </p:sp>
      <p:sp>
        <p:nvSpPr>
          <p:cNvPr id="19" name="Shape 16"/>
          <p:cNvSpPr/>
          <p:nvPr/>
        </p:nvSpPr>
        <p:spPr>
          <a:xfrm>
            <a:off x="8168101" y="1862920"/>
            <a:ext cx="3412871" cy="97511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  <p:txBody>
          <a:bodyPr/>
          <a:lstStyle/>
          <a:p>
            <a:endParaRPr lang="en-KR" sz="2399"/>
          </a:p>
        </p:txBody>
      </p:sp>
      <p:sp>
        <p:nvSpPr>
          <p:cNvPr id="20" name="Text 17"/>
          <p:cNvSpPr/>
          <p:nvPr/>
        </p:nvSpPr>
        <p:spPr>
          <a:xfrm>
            <a:off x="8411877" y="2106696"/>
            <a:ext cx="2925318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kern="0" spc="533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33" dirty="0"/>
          </a:p>
        </p:txBody>
      </p:sp>
      <p:sp>
        <p:nvSpPr>
          <p:cNvPr id="21" name="Text 18"/>
          <p:cNvSpPr/>
          <p:nvPr/>
        </p:nvSpPr>
        <p:spPr>
          <a:xfrm>
            <a:off x="8411877" y="2472361"/>
            <a:ext cx="2925318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6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우선순위 + 근거</a:t>
            </a:r>
            <a:endParaRPr lang="en-US" sz="1866" dirty="0"/>
          </a:p>
        </p:txBody>
      </p:sp>
      <p:sp>
        <p:nvSpPr>
          <p:cNvPr id="22" name="Text 19"/>
          <p:cNvSpPr/>
          <p:nvPr/>
        </p:nvSpPr>
        <p:spPr>
          <a:xfrm>
            <a:off x="8411878" y="2898969"/>
            <a:ext cx="3169095" cy="1706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임원 보고 (마감 임박)</a:t>
            </a:r>
            <a:endParaRPr lang="en-US" sz="1333" dirty="0"/>
          </a:p>
          <a:p>
            <a:r>
              <a:rPr lang="en-US" sz="1333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컨퍼런스 준비 (장기 중요)</a:t>
            </a:r>
            <a:endParaRPr lang="en-US" sz="1333" dirty="0"/>
          </a:p>
          <a:p>
            <a:r>
              <a:rPr lang="en-US" sz="1333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동료 회신 (관계 유지)</a:t>
            </a:r>
            <a:endParaRPr lang="en-US" sz="1333" dirty="0"/>
          </a:p>
          <a:p>
            <a:r>
              <a:rPr lang="en-US" sz="1333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세탁소 (저긴급)</a:t>
            </a:r>
            <a:endParaRPr lang="en-US" sz="1333" dirty="0"/>
          </a:p>
        </p:txBody>
      </p:sp>
      <p:sp>
        <p:nvSpPr>
          <p:cNvPr id="23" name="Shape 20"/>
          <p:cNvSpPr/>
          <p:nvPr/>
        </p:nvSpPr>
        <p:spPr>
          <a:xfrm>
            <a:off x="611030" y="4824312"/>
            <a:ext cx="10969943" cy="85321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KR" sz="2399"/>
          </a:p>
        </p:txBody>
      </p:sp>
      <p:sp>
        <p:nvSpPr>
          <p:cNvPr id="24" name="Text 21"/>
          <p:cNvSpPr/>
          <p:nvPr/>
        </p:nvSpPr>
        <p:spPr>
          <a:xfrm>
            <a:off x="854805" y="4824312"/>
            <a:ext cx="10482390" cy="853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B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가설 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DPO로 학습한 Qwen3.5-4B/9B는, GPT-4o 프롬프팅 또는 SFT-only </a:t>
            </a: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모델보다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r>
              <a:rPr lang="en-US" sz="1600" b="1" dirty="0" err="1">
                <a:solidFill>
                  <a:srgbClr val="FFB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일관되고</a:t>
            </a:r>
            <a:r>
              <a:rPr lang="en-US" sz="1600" b="1" dirty="0">
                <a:solidFill>
                  <a:srgbClr val="FFB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개인화된 </a:t>
            </a:r>
            <a:r>
              <a:rPr lang="en-US" sz="1600" b="1" dirty="0" err="1">
                <a:solidFill>
                  <a:srgbClr val="FFB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우선순위</a:t>
            </a: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를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제공</a:t>
            </a:r>
            <a:r>
              <a:rPr lang="ko-KR" alt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한다</a:t>
            </a:r>
            <a:r>
              <a:rPr lang="en-US" altLang="ko-KR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77E0E99-D0DE-9A36-8398-3B715B73A25F}"/>
              </a:ext>
            </a:extLst>
          </p:cNvPr>
          <p:cNvSpPr txBox="1"/>
          <p:nvPr/>
        </p:nvSpPr>
        <p:spPr>
          <a:xfrm>
            <a:off x="618996" y="5826592"/>
            <a:ext cx="10961975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ko-KR" altLang="ko-KR" dirty="0"/>
              <a:t>단순히 GPT-4o</a:t>
            </a:r>
            <a:r>
              <a:rPr lang="en-US" altLang="ko-KR" dirty="0"/>
              <a:t> </a:t>
            </a:r>
            <a:r>
              <a:rPr lang="ko-KR" altLang="en-US" dirty="0"/>
              <a:t>또는 </a:t>
            </a:r>
            <a:r>
              <a:rPr lang="en-US" altLang="ko-KR" dirty="0"/>
              <a:t>SFT </a:t>
            </a:r>
            <a:r>
              <a:rPr lang="ko-KR" altLang="en-US" dirty="0"/>
              <a:t>모델</a:t>
            </a:r>
            <a:r>
              <a:rPr lang="ko-KR" altLang="ko-KR" dirty="0"/>
              <a:t>에게 프롬프트로 “중요한 순서대로 </a:t>
            </a:r>
            <a:r>
              <a:rPr lang="ko-KR" altLang="ko-KR" dirty="0" err="1"/>
              <a:t>정렬해줘”라고</a:t>
            </a:r>
            <a:r>
              <a:rPr lang="ko-KR" altLang="ko-KR" dirty="0"/>
              <a:t> 하는 것보다,</a:t>
            </a:r>
            <a:br>
              <a:rPr lang="ko-KR" altLang="ko-KR" dirty="0"/>
            </a:br>
            <a:r>
              <a:rPr lang="ko-KR" altLang="ko-KR" b="1" dirty="0">
                <a:highlight>
                  <a:srgbClr val="FFFF00"/>
                </a:highlight>
              </a:rPr>
              <a:t>사용자의 선호 피드백을 반영해 </a:t>
            </a:r>
            <a:r>
              <a:rPr lang="ko-KR" altLang="ko-KR" b="1" dirty="0" err="1">
                <a:highlight>
                  <a:srgbClr val="FFFF00"/>
                </a:highlight>
              </a:rPr>
              <a:t>DPO로</a:t>
            </a:r>
            <a:r>
              <a:rPr lang="ko-KR" altLang="ko-KR" b="1" dirty="0">
                <a:highlight>
                  <a:srgbClr val="FFFF00"/>
                </a:highlight>
              </a:rPr>
              <a:t> 학습한 </a:t>
            </a:r>
            <a:r>
              <a:rPr lang="ko-KR" altLang="ko-KR" b="1" dirty="0" err="1">
                <a:highlight>
                  <a:srgbClr val="FFFF00"/>
                </a:highlight>
              </a:rPr>
              <a:t>Qwen</a:t>
            </a:r>
            <a:r>
              <a:rPr lang="ko-KR" altLang="ko-KR" b="1" dirty="0">
                <a:highlight>
                  <a:srgbClr val="FFFF00"/>
                </a:highlight>
              </a:rPr>
              <a:t> 모델이 더 </a:t>
            </a:r>
            <a:r>
              <a:rPr lang="ko-KR" altLang="ko-KR" b="1" dirty="0" err="1">
                <a:highlight>
                  <a:srgbClr val="FFFF00"/>
                </a:highlight>
              </a:rPr>
              <a:t>사용자답게</a:t>
            </a:r>
            <a:r>
              <a:rPr lang="ko-KR" altLang="ko-KR" b="1" dirty="0">
                <a:highlight>
                  <a:srgbClr val="FFFF00"/>
                </a:highlight>
              </a:rPr>
              <a:t> 우선순위를 정할 것이다</a:t>
            </a:r>
            <a:r>
              <a:rPr lang="en-US" altLang="ko-KR" b="1" dirty="0">
                <a:highlight>
                  <a:srgbClr val="FFFF00"/>
                </a:highlight>
              </a:rPr>
              <a:t>.</a:t>
            </a:r>
            <a:endParaRPr lang="ko-KR" altLang="en-US" dirty="0">
              <a:highlight>
                <a:srgbClr val="FFFF00"/>
              </a:highlight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Noto Sans CJK K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dirty="0" err="1">
                <a:solidFill>
                  <a:srgbClr val="FFFFFF"/>
                </a:solidFill>
                <a:latin typeface="Noto Sans CJK KR"/>
              </a:rPr>
              <a:t>프로젝트</a:t>
            </a:r>
            <a:r>
              <a:rPr sz="2600" b="1" i="0" dirty="0">
                <a:solidFill>
                  <a:srgbClr val="FFFFFF"/>
                </a:solidFill>
                <a:latin typeface="Noto Sans CJK KR"/>
              </a:rPr>
              <a:t> </a:t>
            </a:r>
            <a:r>
              <a:rPr sz="2600" b="1" i="0" dirty="0" err="1">
                <a:solidFill>
                  <a:srgbClr val="FFFFFF"/>
                </a:solidFill>
                <a:latin typeface="Noto Sans CJK KR"/>
              </a:rPr>
              <a:t>개요</a:t>
            </a:r>
            <a:r>
              <a:rPr sz="2600" b="1" i="0" dirty="0">
                <a:solidFill>
                  <a:srgbClr val="FFFFFF"/>
                </a:solidFill>
                <a:latin typeface="Noto Sans CJK KR"/>
              </a:rPr>
              <a:t> — </a:t>
            </a:r>
            <a:r>
              <a:rPr sz="2600" b="1" i="0" dirty="0" err="1">
                <a:solidFill>
                  <a:srgbClr val="FFFFFF"/>
                </a:solidFill>
                <a:latin typeface="Noto Sans CJK KR"/>
              </a:rPr>
              <a:t>무엇을</a:t>
            </a:r>
            <a:r>
              <a:rPr sz="2600" b="1" i="0" dirty="0">
                <a:solidFill>
                  <a:srgbClr val="FFFFFF"/>
                </a:solidFill>
                <a:latin typeface="Noto Sans CJK KR"/>
              </a:rPr>
              <a:t> </a:t>
            </a:r>
            <a:r>
              <a:rPr sz="2600" b="1" i="0" dirty="0" err="1">
                <a:solidFill>
                  <a:srgbClr val="FFFFFF"/>
                </a:solidFill>
                <a:latin typeface="Noto Sans CJK KR"/>
              </a:rPr>
              <a:t>푸는가</a:t>
            </a:r>
            <a:r>
              <a:rPr lang="en-US" sz="2600" b="1" i="0" dirty="0">
                <a:solidFill>
                  <a:srgbClr val="FFFFFF"/>
                </a:solidFill>
                <a:latin typeface="Noto Sans CJK KR"/>
              </a:rPr>
              <a:t>?</a:t>
            </a:r>
            <a:endParaRPr sz="2600" b="1" i="0" dirty="0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47120" cy="6309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 dirty="0" err="1">
                <a:solidFill>
                  <a:srgbClr val="222222"/>
                </a:solidFill>
                <a:latin typeface="Noto Sans CJK KR"/>
              </a:rPr>
              <a:t>스마트폰·PC에서</a:t>
            </a:r>
            <a:r>
              <a:rPr sz="1600" b="0" i="0" dirty="0">
                <a:solidFill>
                  <a:srgbClr val="222222"/>
                </a:solidFill>
                <a:latin typeface="Noto Sans CJK KR"/>
              </a:rPr>
              <a:t> '</a:t>
            </a:r>
            <a:r>
              <a:rPr sz="1600" b="0" i="0" dirty="0" err="1">
                <a:solidFill>
                  <a:srgbClr val="222222"/>
                </a:solidFill>
                <a:latin typeface="Noto Sans CJK KR"/>
              </a:rPr>
              <a:t>오늘</a:t>
            </a:r>
            <a:r>
              <a:rPr sz="1600" b="0" i="0" dirty="0">
                <a:solidFill>
                  <a:srgbClr val="222222"/>
                </a:solidFill>
                <a:latin typeface="Noto Sans CJK KR"/>
              </a:rPr>
              <a:t> 할 </a:t>
            </a:r>
            <a:r>
              <a:rPr sz="1600" b="0" i="0" dirty="0" err="1">
                <a:solidFill>
                  <a:srgbClr val="222222"/>
                </a:solidFill>
                <a:latin typeface="Noto Sans CJK KR"/>
              </a:rPr>
              <a:t>일'을</a:t>
            </a:r>
            <a:r>
              <a:rPr sz="1600" b="0" i="0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Noto Sans CJK KR"/>
              </a:rPr>
              <a:t>입력하면</a:t>
            </a:r>
            <a:r>
              <a:rPr sz="1600" b="0" i="0" dirty="0">
                <a:solidFill>
                  <a:srgbClr val="222222"/>
                </a:solidFill>
                <a:latin typeface="Noto Sans CJK KR"/>
              </a:rPr>
              <a:t>, </a:t>
            </a:r>
            <a:r>
              <a:rPr sz="1600" b="1" i="0" dirty="0" err="1">
                <a:latin typeface="Noto Sans CJK KR"/>
              </a:rPr>
              <a:t>AI가</a:t>
            </a:r>
            <a:r>
              <a:rPr sz="1600" b="1" i="0" dirty="0">
                <a:latin typeface="Noto Sans CJK KR"/>
              </a:rPr>
              <a:t> </a:t>
            </a:r>
            <a:r>
              <a:rPr sz="1600" b="1" i="0" dirty="0" err="1">
                <a:latin typeface="Noto Sans CJK KR"/>
              </a:rPr>
              <a:t>페르소나와</a:t>
            </a:r>
            <a:r>
              <a:rPr sz="1600" b="1" i="0" dirty="0">
                <a:latin typeface="Noto Sans CJK KR"/>
              </a:rPr>
              <a:t> </a:t>
            </a:r>
            <a:r>
              <a:rPr sz="1600" b="1" i="0" dirty="0" err="1">
                <a:latin typeface="Noto Sans CJK KR"/>
              </a:rPr>
              <a:t>맥락을</a:t>
            </a:r>
            <a:r>
              <a:rPr sz="1600" b="1" i="0" dirty="0">
                <a:latin typeface="Noto Sans CJK KR"/>
              </a:rPr>
              <a:t> </a:t>
            </a:r>
            <a:r>
              <a:rPr sz="1600" b="1" i="0" dirty="0" err="1">
                <a:latin typeface="Noto Sans CJK KR"/>
              </a:rPr>
              <a:t>이해해</a:t>
            </a:r>
            <a:r>
              <a:rPr sz="1600" b="1" i="0" dirty="0">
                <a:latin typeface="Noto Sans CJK KR"/>
              </a:rPr>
              <a:t> </a:t>
            </a:r>
            <a:r>
              <a:rPr sz="1600" b="1" i="0" dirty="0" err="1">
                <a:latin typeface="Noto Sans CJK KR"/>
              </a:rPr>
              <a:t>실행</a:t>
            </a:r>
            <a:r>
              <a:rPr sz="1600" b="1" i="0" dirty="0">
                <a:latin typeface="Noto Sans CJK KR"/>
              </a:rPr>
              <a:t> </a:t>
            </a:r>
            <a:r>
              <a:rPr sz="1600" b="1" i="0" dirty="0" err="1">
                <a:latin typeface="Noto Sans CJK KR"/>
              </a:rPr>
              <a:t>순서를</a:t>
            </a:r>
            <a:r>
              <a:rPr sz="1600" b="1" i="0" dirty="0">
                <a:latin typeface="Noto Sans CJK KR"/>
              </a:rPr>
              <a:t> </a:t>
            </a:r>
            <a:r>
              <a:rPr sz="1600" b="1" i="0" dirty="0" err="1">
                <a:latin typeface="Noto Sans CJK KR"/>
              </a:rPr>
              <a:t>제안하는</a:t>
            </a:r>
            <a:r>
              <a:rPr sz="1600" b="1" i="0" dirty="0">
                <a:latin typeface="Noto Sans CJK KR"/>
              </a:rPr>
              <a:t> </a:t>
            </a:r>
            <a:r>
              <a:rPr sz="1600" b="1" i="0" dirty="0" err="1">
                <a:latin typeface="Noto Sans CJK KR"/>
              </a:rPr>
              <a:t>개인</a:t>
            </a:r>
            <a:r>
              <a:rPr sz="1600" b="1" i="0" dirty="0">
                <a:latin typeface="Noto Sans CJK KR"/>
              </a:rPr>
              <a:t> </a:t>
            </a:r>
            <a:r>
              <a:rPr sz="1600" b="1" i="0" dirty="0" err="1">
                <a:latin typeface="Noto Sans CJK KR"/>
              </a:rPr>
              <a:t>비서</a:t>
            </a:r>
            <a:r>
              <a:rPr sz="1600" b="1" i="0" dirty="0">
                <a:latin typeface="Noto Sans CJK KR"/>
              </a:rPr>
              <a:t> </a:t>
            </a:r>
            <a:r>
              <a:rPr sz="1600" b="1" i="0" dirty="0" err="1">
                <a:latin typeface="Noto Sans CJK KR"/>
              </a:rPr>
              <a:t>코어</a:t>
            </a:r>
            <a:r>
              <a:rPr sz="1600" b="1" i="0" dirty="0">
                <a:latin typeface="Noto Sans CJK KR"/>
              </a:rPr>
              <a:t> </a:t>
            </a:r>
            <a:r>
              <a:rPr sz="1600" b="1" i="0" dirty="0" err="1">
                <a:latin typeface="Noto Sans CJK KR"/>
              </a:rPr>
              <a:t>모델</a:t>
            </a:r>
            <a:r>
              <a:rPr sz="1600" b="0" i="0" dirty="0">
                <a:solidFill>
                  <a:srgbClr val="C00000"/>
                </a:solidFill>
                <a:latin typeface="Noto Sans CJK KR"/>
              </a:rPr>
              <a:t>.</a:t>
            </a:r>
          </a:p>
          <a:p>
            <a:pPr algn="l">
              <a:spcBef>
                <a:spcPts val="600"/>
              </a:spcBef>
            </a:pPr>
            <a:r>
              <a:rPr sz="1400" b="0" i="0" dirty="0" err="1">
                <a:solidFill>
                  <a:srgbClr val="5A5A5A"/>
                </a:solidFill>
                <a:latin typeface="Noto Sans CJK KR"/>
              </a:rPr>
              <a:t>단순</a:t>
            </a:r>
            <a:r>
              <a:rPr sz="1400" b="0" i="0" dirty="0">
                <a:solidFill>
                  <a:srgbClr val="5A5A5A"/>
                </a:solidFill>
                <a:latin typeface="Noto Sans CJK KR"/>
              </a:rPr>
              <a:t> </a:t>
            </a:r>
            <a:r>
              <a:rPr sz="1400" b="0" i="0" dirty="0" err="1">
                <a:solidFill>
                  <a:srgbClr val="5A5A5A"/>
                </a:solidFill>
                <a:latin typeface="Noto Sans CJK KR"/>
              </a:rPr>
              <a:t>키워드</a:t>
            </a:r>
            <a:r>
              <a:rPr sz="1400" b="0" i="0" dirty="0">
                <a:solidFill>
                  <a:srgbClr val="5A5A5A"/>
                </a:solidFill>
                <a:latin typeface="Noto Sans CJK KR"/>
              </a:rPr>
              <a:t> </a:t>
            </a:r>
            <a:r>
              <a:rPr sz="1400" b="0" i="0" dirty="0" err="1">
                <a:solidFill>
                  <a:srgbClr val="5A5A5A"/>
                </a:solidFill>
                <a:latin typeface="Noto Sans CJK KR"/>
              </a:rPr>
              <a:t>정렬이</a:t>
            </a:r>
            <a:r>
              <a:rPr sz="1400" b="0" i="0" dirty="0">
                <a:solidFill>
                  <a:srgbClr val="5A5A5A"/>
                </a:solidFill>
                <a:latin typeface="Noto Sans CJK KR"/>
              </a:rPr>
              <a:t> </a:t>
            </a:r>
            <a:r>
              <a:rPr sz="1400" b="0" i="0" dirty="0" err="1">
                <a:solidFill>
                  <a:srgbClr val="5A5A5A"/>
                </a:solidFill>
                <a:latin typeface="Noto Sans CJK KR"/>
              </a:rPr>
              <a:t>아니라</a:t>
            </a:r>
            <a:r>
              <a:rPr sz="1400" b="0" i="0" dirty="0">
                <a:solidFill>
                  <a:srgbClr val="5A5A5A"/>
                </a:solidFill>
                <a:latin typeface="Noto Sans CJK KR"/>
              </a:rPr>
              <a:t>, 각 </a:t>
            </a:r>
            <a:r>
              <a:rPr sz="1400" b="1" i="0" dirty="0" err="1">
                <a:solidFill>
                  <a:srgbClr val="5A5A5A"/>
                </a:solidFill>
                <a:latin typeface="Noto Sans CJK KR"/>
              </a:rPr>
              <a:t>태스크를</a:t>
            </a:r>
            <a:r>
              <a:rPr sz="1400" b="1" i="0" dirty="0">
                <a:solidFill>
                  <a:srgbClr val="5A5A5A"/>
                </a:solidFill>
                <a:latin typeface="Noto Sans CJK KR"/>
              </a:rPr>
              <a:t> 4개 </a:t>
            </a:r>
            <a:r>
              <a:rPr sz="1400" b="1" i="0" dirty="0" err="1">
                <a:solidFill>
                  <a:srgbClr val="5A5A5A"/>
                </a:solidFill>
                <a:latin typeface="Noto Sans CJK KR"/>
              </a:rPr>
              <a:t>축으로</a:t>
            </a:r>
            <a:r>
              <a:rPr sz="1400" b="1" i="0" dirty="0">
                <a:solidFill>
                  <a:srgbClr val="5A5A5A"/>
                </a:solidFill>
                <a:latin typeface="Noto Sans CJK KR"/>
              </a:rPr>
              <a:t> 1–5점 </a:t>
            </a:r>
            <a:r>
              <a:rPr sz="1400" b="1" i="0" dirty="0" err="1">
                <a:solidFill>
                  <a:srgbClr val="5A5A5A"/>
                </a:solidFill>
                <a:latin typeface="Noto Sans CJK KR"/>
              </a:rPr>
              <a:t>채점하고</a:t>
            </a:r>
            <a:r>
              <a:rPr sz="1400" b="1" i="0" dirty="0">
                <a:solidFill>
                  <a:srgbClr val="5A5A5A"/>
                </a:solidFill>
                <a:latin typeface="Noto Sans CJK KR"/>
              </a:rPr>
              <a:t> </a:t>
            </a:r>
            <a:r>
              <a:rPr sz="1400" b="1" i="0" dirty="0" err="1">
                <a:solidFill>
                  <a:srgbClr val="5A5A5A"/>
                </a:solidFill>
                <a:latin typeface="Noto Sans CJK KR"/>
              </a:rPr>
              <a:t>근거를</a:t>
            </a:r>
            <a:r>
              <a:rPr sz="1400" b="1" i="0" dirty="0">
                <a:solidFill>
                  <a:srgbClr val="5A5A5A"/>
                </a:solidFill>
                <a:latin typeface="Noto Sans CJK KR"/>
              </a:rPr>
              <a:t> </a:t>
            </a:r>
            <a:r>
              <a:rPr sz="1400" b="1" i="0" dirty="0" err="1">
                <a:solidFill>
                  <a:srgbClr val="5A5A5A"/>
                </a:solidFill>
                <a:latin typeface="Noto Sans CJK KR"/>
              </a:rPr>
              <a:t>함께</a:t>
            </a:r>
            <a:r>
              <a:rPr sz="1400" b="1" i="0" dirty="0">
                <a:solidFill>
                  <a:srgbClr val="5A5A5A"/>
                </a:solidFill>
                <a:latin typeface="Noto Sans CJK KR"/>
              </a:rPr>
              <a:t> </a:t>
            </a:r>
            <a:r>
              <a:rPr sz="1400" b="1" i="0" dirty="0" err="1">
                <a:solidFill>
                  <a:srgbClr val="5A5A5A"/>
                </a:solidFill>
                <a:latin typeface="Noto Sans CJK KR"/>
              </a:rPr>
              <a:t>제시한다</a:t>
            </a:r>
            <a:r>
              <a:rPr sz="1400" b="1" i="0" dirty="0">
                <a:solidFill>
                  <a:srgbClr val="5A5A5A"/>
                </a:solidFill>
                <a:latin typeface="Noto Sans CJK KR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528320" y="2082800"/>
            <a:ext cx="4958080" cy="3383280"/>
          </a:xfrm>
          <a:prstGeom prst="rect">
            <a:avLst/>
          </a:prstGeom>
          <a:solidFill>
            <a:srgbClr val="F4F6F8"/>
          </a:solidFill>
          <a:ln w="19050">
            <a:solidFill>
              <a:srgbClr val="4C7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21996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4C72B0"/>
                </a:solidFill>
                <a:latin typeface="Noto Sans CJK KR"/>
              </a:rPr>
              <a:t>입력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72080"/>
            <a:ext cx="5120640" cy="2015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 dirty="0">
                <a:solidFill>
                  <a:srgbClr val="222222"/>
                </a:solidFill>
                <a:latin typeface="Noto Sans CJK KR"/>
              </a:rPr>
              <a:t>[</a:t>
            </a:r>
            <a:r>
              <a:rPr sz="1200" b="1" i="0" dirty="0" err="1">
                <a:solidFill>
                  <a:srgbClr val="222222"/>
                </a:solidFill>
                <a:latin typeface="Noto Sans CJK KR"/>
              </a:rPr>
              <a:t>페르소나</a:t>
            </a:r>
            <a:r>
              <a:rPr sz="1200" b="1" i="0" dirty="0">
                <a:solidFill>
                  <a:srgbClr val="222222"/>
                </a:solidFill>
                <a:latin typeface="Noto Sans CJK KR"/>
              </a:rPr>
              <a:t>] </a:t>
            </a:r>
            <a:r>
              <a:rPr sz="1200" b="1" i="0" dirty="0" err="1">
                <a:solidFill>
                  <a:srgbClr val="222222"/>
                </a:solidFill>
                <a:latin typeface="Noto Sans CJK KR"/>
              </a:rPr>
              <a:t>최건호</a:t>
            </a:r>
            <a:r>
              <a:rPr sz="1200" b="1" i="0" dirty="0">
                <a:solidFill>
                  <a:srgbClr val="222222"/>
                </a:solidFill>
                <a:latin typeface="Noto Sans CJK KR"/>
              </a:rPr>
              <a:t> (</a:t>
            </a:r>
            <a:r>
              <a:rPr sz="1200" b="1" i="0" dirty="0" err="1">
                <a:solidFill>
                  <a:srgbClr val="222222"/>
                </a:solidFill>
                <a:latin typeface="Noto Sans CJK KR"/>
              </a:rPr>
              <a:t>플랜트공학</a:t>
            </a:r>
            <a:r>
              <a:rPr sz="1200" b="1" i="0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200" b="1" i="0" dirty="0" err="1">
                <a:solidFill>
                  <a:srgbClr val="222222"/>
                </a:solidFill>
                <a:latin typeface="Noto Sans CJK KR"/>
              </a:rPr>
              <a:t>기술자</a:t>
            </a:r>
            <a:r>
              <a:rPr sz="1200" b="1" i="0" dirty="0">
                <a:solidFill>
                  <a:srgbClr val="222222"/>
                </a:solidFill>
                <a:latin typeface="Noto Sans CJK KR"/>
              </a:rPr>
              <a:t>, 63세)</a:t>
            </a:r>
            <a:r>
              <a:rPr lang="en-US" sz="1200" b="1" i="0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100" b="0" i="0" dirty="0" err="1">
                <a:solidFill>
                  <a:srgbClr val="5A5A5A"/>
                </a:solidFill>
                <a:latin typeface="Noto Sans CJK KR"/>
              </a:rPr>
              <a:t>오늘</a:t>
            </a:r>
            <a:r>
              <a:rPr sz="1100" b="0" i="0" dirty="0">
                <a:solidFill>
                  <a:srgbClr val="5A5A5A"/>
                </a:solidFill>
                <a:latin typeface="Noto Sans CJK KR"/>
              </a:rPr>
              <a:t>: 2026-0</a:t>
            </a:r>
            <a:r>
              <a:rPr lang="en-US" altLang="ko-KR" sz="1100" b="0" i="0" dirty="0">
                <a:solidFill>
                  <a:srgbClr val="5A5A5A"/>
                </a:solidFill>
                <a:latin typeface="Noto Sans CJK KR"/>
              </a:rPr>
              <a:t>3</a:t>
            </a:r>
            <a:r>
              <a:rPr sz="1100" b="0" i="0" dirty="0">
                <a:solidFill>
                  <a:srgbClr val="5A5A5A"/>
                </a:solidFill>
                <a:latin typeface="Noto Sans CJK KR"/>
              </a:rPr>
              <a:t>-</a:t>
            </a:r>
            <a:r>
              <a:rPr lang="en-US" altLang="ko-KR" sz="1100" b="0" i="0" dirty="0">
                <a:solidFill>
                  <a:srgbClr val="5A5A5A"/>
                </a:solidFill>
                <a:latin typeface="Noto Sans CJK KR"/>
              </a:rPr>
              <a:t>30</a:t>
            </a:r>
            <a:endParaRPr sz="1100" b="0" i="0" dirty="0">
              <a:solidFill>
                <a:srgbClr val="5A5A5A"/>
              </a:solidFill>
              <a:latin typeface="Noto Sans CJK KR"/>
            </a:endParaRPr>
          </a:p>
          <a:p>
            <a:pPr algn="l"/>
            <a:r>
              <a:rPr sz="1200" b="0" i="0" dirty="0">
                <a:solidFill>
                  <a:srgbClr val="222222"/>
                </a:solidFill>
                <a:latin typeface="Noto Sans CJK KR"/>
              </a:rPr>
              <a:t>- </a:t>
            </a:r>
            <a:r>
              <a:rPr sz="1200" b="0" i="0" dirty="0" err="1">
                <a:solidFill>
                  <a:srgbClr val="222222"/>
                </a:solidFill>
                <a:latin typeface="Noto Sans CJK KR"/>
              </a:rPr>
              <a:t>배관</a:t>
            </a:r>
            <a:r>
              <a:rPr sz="1200" b="0" i="0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200" b="0" i="0" dirty="0" err="1">
                <a:solidFill>
                  <a:srgbClr val="222222"/>
                </a:solidFill>
                <a:latin typeface="Noto Sans CJK KR"/>
              </a:rPr>
              <a:t>열손실</a:t>
            </a:r>
            <a:r>
              <a:rPr sz="1200" b="0" i="0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200" b="0" i="0" dirty="0" err="1">
                <a:solidFill>
                  <a:srgbClr val="222222"/>
                </a:solidFill>
                <a:latin typeface="Noto Sans CJK KR"/>
              </a:rPr>
              <a:t>검토표</a:t>
            </a:r>
            <a:r>
              <a:rPr sz="1200" b="0" i="0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200" b="0" i="0" dirty="0" err="1">
                <a:solidFill>
                  <a:srgbClr val="222222"/>
                </a:solidFill>
                <a:latin typeface="Noto Sans CJK KR"/>
              </a:rPr>
              <a:t>제출</a:t>
            </a:r>
            <a:r>
              <a:rPr sz="1200" b="0" i="0" dirty="0">
                <a:solidFill>
                  <a:srgbClr val="222222"/>
                </a:solidFill>
                <a:latin typeface="Noto Sans CJK KR"/>
              </a:rPr>
              <a:t> (</a:t>
            </a:r>
            <a:r>
              <a:rPr lang="en-US" altLang="ko-KR" sz="1200" b="0" i="0" dirty="0">
                <a:solidFill>
                  <a:srgbClr val="222222"/>
                </a:solidFill>
                <a:latin typeface="Noto Sans CJK KR"/>
              </a:rPr>
              <a:t>3</a:t>
            </a:r>
            <a:r>
              <a:rPr sz="1200" b="0" i="0" dirty="0">
                <a:solidFill>
                  <a:srgbClr val="222222"/>
                </a:solidFill>
                <a:latin typeface="Noto Sans CJK KR"/>
              </a:rPr>
              <a:t>/</a:t>
            </a:r>
            <a:r>
              <a:rPr lang="en-US" altLang="ko-KR" sz="1200" b="0" i="0" dirty="0">
                <a:solidFill>
                  <a:srgbClr val="222222"/>
                </a:solidFill>
                <a:latin typeface="Noto Sans CJK KR"/>
              </a:rPr>
              <a:t>30</a:t>
            </a:r>
            <a:r>
              <a:rPr sz="1200" b="0" i="0" dirty="0">
                <a:solidFill>
                  <a:srgbClr val="222222"/>
                </a:solidFill>
                <a:latin typeface="Noto Sans CJK KR"/>
              </a:rPr>
              <a:t> 09:30)</a:t>
            </a:r>
            <a:endParaRPr lang="en-US" sz="1200" b="0" i="0" dirty="0">
              <a:solidFill>
                <a:srgbClr val="222222"/>
              </a:solidFill>
              <a:latin typeface="Noto Sans CJK KR"/>
            </a:endParaRPr>
          </a:p>
          <a:p>
            <a:pPr algn="l"/>
            <a:endParaRPr sz="1200" b="0" i="0" dirty="0">
              <a:solidFill>
                <a:srgbClr val="222222"/>
              </a:solidFill>
              <a:latin typeface="Noto Sans CJK KR"/>
            </a:endParaRPr>
          </a:p>
          <a:p>
            <a:pPr algn="l"/>
            <a:r>
              <a:rPr sz="1200" b="0" i="0" dirty="0">
                <a:solidFill>
                  <a:srgbClr val="222222"/>
                </a:solidFill>
                <a:latin typeface="Noto Sans CJK KR"/>
              </a:rPr>
              <a:t>- </a:t>
            </a:r>
            <a:r>
              <a:rPr sz="1200" b="0" i="0" dirty="0" err="1">
                <a:solidFill>
                  <a:srgbClr val="222222"/>
                </a:solidFill>
                <a:latin typeface="Noto Sans CJK KR"/>
              </a:rPr>
              <a:t>공정안전성</a:t>
            </a:r>
            <a:r>
              <a:rPr sz="1200" b="0" i="0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200" b="0" i="0" dirty="0" err="1">
                <a:solidFill>
                  <a:srgbClr val="222222"/>
                </a:solidFill>
                <a:latin typeface="Noto Sans CJK KR"/>
              </a:rPr>
              <a:t>회의자료</a:t>
            </a:r>
            <a:r>
              <a:rPr sz="1200" b="0" i="0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200" b="0" i="0" dirty="0" err="1">
                <a:solidFill>
                  <a:srgbClr val="222222"/>
                </a:solidFill>
                <a:latin typeface="Noto Sans CJK KR"/>
              </a:rPr>
              <a:t>초안</a:t>
            </a:r>
            <a:r>
              <a:rPr sz="1200" b="0" i="0" dirty="0">
                <a:solidFill>
                  <a:srgbClr val="222222"/>
                </a:solidFill>
                <a:latin typeface="Noto Sans CJK KR"/>
              </a:rPr>
              <a:t> (4/4 10:00)</a:t>
            </a:r>
            <a:endParaRPr lang="en-US" sz="1200" b="0" i="0" dirty="0">
              <a:solidFill>
                <a:srgbClr val="222222"/>
              </a:solidFill>
              <a:latin typeface="Noto Sans CJK KR"/>
            </a:endParaRPr>
          </a:p>
          <a:p>
            <a:pPr algn="l"/>
            <a:endParaRPr sz="1200" b="0" i="0" dirty="0">
              <a:solidFill>
                <a:srgbClr val="222222"/>
              </a:solidFill>
              <a:latin typeface="Noto Sans CJK KR"/>
            </a:endParaRPr>
          </a:p>
          <a:p>
            <a:pPr algn="l"/>
            <a:r>
              <a:rPr sz="1200" b="0" i="0" dirty="0">
                <a:solidFill>
                  <a:srgbClr val="222222"/>
                </a:solidFill>
                <a:latin typeface="Noto Sans CJK KR"/>
              </a:rPr>
              <a:t>- </a:t>
            </a:r>
            <a:r>
              <a:rPr sz="1200" b="0" i="0" dirty="0" err="1">
                <a:solidFill>
                  <a:srgbClr val="222222"/>
                </a:solidFill>
                <a:latin typeface="Noto Sans CJK KR"/>
              </a:rPr>
              <a:t>현장</a:t>
            </a:r>
            <a:r>
              <a:rPr sz="1200" b="0" i="0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200" b="0" i="0" dirty="0" err="1">
                <a:solidFill>
                  <a:srgbClr val="222222"/>
                </a:solidFill>
                <a:latin typeface="Noto Sans CJK KR"/>
              </a:rPr>
              <a:t>펌프</a:t>
            </a:r>
            <a:r>
              <a:rPr sz="1200" b="0" i="0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200" b="0" i="0" dirty="0" err="1">
                <a:solidFill>
                  <a:srgbClr val="222222"/>
                </a:solidFill>
                <a:latin typeface="Noto Sans CJK KR"/>
              </a:rPr>
              <a:t>진동</a:t>
            </a:r>
            <a:r>
              <a:rPr sz="1200" b="0" i="0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200" b="0" i="0" dirty="0" err="1">
                <a:solidFill>
                  <a:srgbClr val="222222"/>
                </a:solidFill>
                <a:latin typeface="Noto Sans CJK KR"/>
              </a:rPr>
              <a:t>기록</a:t>
            </a:r>
            <a:r>
              <a:rPr sz="1200" b="0" i="0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200" b="0" i="0" dirty="0" err="1">
                <a:solidFill>
                  <a:srgbClr val="222222"/>
                </a:solidFill>
                <a:latin typeface="Noto Sans CJK KR"/>
              </a:rPr>
              <a:t>정리</a:t>
            </a:r>
            <a:r>
              <a:rPr sz="1200" b="0" i="0" dirty="0">
                <a:solidFill>
                  <a:srgbClr val="222222"/>
                </a:solidFill>
                <a:latin typeface="Noto Sans CJK KR"/>
              </a:rPr>
              <a:t> (</a:t>
            </a:r>
            <a:r>
              <a:rPr sz="1200" b="0" i="0" dirty="0" err="1">
                <a:solidFill>
                  <a:srgbClr val="222222"/>
                </a:solidFill>
                <a:latin typeface="Noto Sans CJK KR"/>
              </a:rPr>
              <a:t>마감</a:t>
            </a:r>
            <a:r>
              <a:rPr sz="1200" b="0" i="0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200" b="0" i="0" dirty="0" err="1">
                <a:solidFill>
                  <a:srgbClr val="222222"/>
                </a:solidFill>
                <a:latin typeface="Noto Sans CJK KR"/>
              </a:rPr>
              <a:t>없음</a:t>
            </a:r>
            <a:r>
              <a:rPr sz="1200" b="0" i="0" dirty="0">
                <a:solidFill>
                  <a:srgbClr val="222222"/>
                </a:solidFill>
                <a:latin typeface="Noto Sans CJK KR"/>
              </a:rPr>
              <a:t>)</a:t>
            </a:r>
            <a:endParaRPr lang="en-US" sz="1200" b="0" i="0" dirty="0">
              <a:solidFill>
                <a:srgbClr val="222222"/>
              </a:solidFill>
              <a:latin typeface="Noto Sans CJK KR"/>
            </a:endParaRPr>
          </a:p>
          <a:p>
            <a:pPr algn="l"/>
            <a:endParaRPr sz="1200" b="0" i="0" dirty="0">
              <a:solidFill>
                <a:srgbClr val="222222"/>
              </a:solidFill>
              <a:latin typeface="Noto Sans CJK KR"/>
            </a:endParaRPr>
          </a:p>
          <a:p>
            <a:pPr algn="l"/>
            <a:r>
              <a:rPr sz="1200" b="0" i="0" dirty="0">
                <a:solidFill>
                  <a:srgbClr val="222222"/>
                </a:solidFill>
                <a:latin typeface="Noto Sans CJK KR"/>
              </a:rPr>
              <a:t>- </a:t>
            </a:r>
            <a:r>
              <a:rPr sz="1200" b="0" i="0" dirty="0" err="1">
                <a:solidFill>
                  <a:srgbClr val="222222"/>
                </a:solidFill>
                <a:latin typeface="Noto Sans CJK KR"/>
              </a:rPr>
              <a:t>열교환기</a:t>
            </a:r>
            <a:r>
              <a:rPr sz="1200" b="0" i="0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200" b="0" i="0" dirty="0" err="1">
                <a:solidFill>
                  <a:srgbClr val="222222"/>
                </a:solidFill>
                <a:latin typeface="Noto Sans CJK KR"/>
              </a:rPr>
              <a:t>시험</a:t>
            </a:r>
            <a:r>
              <a:rPr sz="1200" b="0" i="0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200" b="0" i="0" dirty="0" err="1">
                <a:solidFill>
                  <a:srgbClr val="222222"/>
                </a:solidFill>
                <a:latin typeface="Noto Sans CJK KR"/>
              </a:rPr>
              <a:t>보고서</a:t>
            </a:r>
            <a:r>
              <a:rPr sz="1200" b="0" i="0" dirty="0">
                <a:solidFill>
                  <a:srgbClr val="222222"/>
                </a:solidFill>
                <a:latin typeface="Noto Sans CJK KR"/>
              </a:rPr>
              <a:t> (3/30 15:00)</a:t>
            </a:r>
            <a:endParaRPr lang="en-US" sz="1200" b="0" i="0" dirty="0">
              <a:solidFill>
                <a:srgbClr val="222222"/>
              </a:solidFill>
              <a:latin typeface="Noto Sans CJK KR"/>
            </a:endParaRPr>
          </a:p>
          <a:p>
            <a:pPr algn="l"/>
            <a:endParaRPr sz="1200" b="0" i="0" dirty="0">
              <a:solidFill>
                <a:srgbClr val="222222"/>
              </a:solidFill>
              <a:latin typeface="Noto Sans CJK KR"/>
            </a:endParaRPr>
          </a:p>
          <a:p>
            <a:pPr algn="l"/>
            <a:r>
              <a:rPr sz="1200" b="0" i="0" dirty="0">
                <a:solidFill>
                  <a:srgbClr val="C0392B"/>
                </a:solidFill>
                <a:latin typeface="Noto Sans CJK KR"/>
              </a:rPr>
              <a:t>- </a:t>
            </a:r>
            <a:r>
              <a:rPr sz="1200" b="0" i="0" dirty="0" err="1">
                <a:solidFill>
                  <a:srgbClr val="C0392B"/>
                </a:solidFill>
                <a:latin typeface="Noto Sans CJK KR"/>
              </a:rPr>
              <a:t>부식</a:t>
            </a:r>
            <a:r>
              <a:rPr sz="1200" b="0" i="0" dirty="0">
                <a:solidFill>
                  <a:srgbClr val="C0392B"/>
                </a:solidFill>
                <a:latin typeface="Noto Sans CJK KR"/>
              </a:rPr>
              <a:t> </a:t>
            </a:r>
            <a:r>
              <a:rPr sz="1200" b="0" i="0" dirty="0" err="1">
                <a:solidFill>
                  <a:srgbClr val="C0392B"/>
                </a:solidFill>
                <a:latin typeface="Noto Sans CJK KR"/>
              </a:rPr>
              <a:t>코팅</a:t>
            </a:r>
            <a:r>
              <a:rPr sz="1200" b="0" i="0" dirty="0">
                <a:solidFill>
                  <a:srgbClr val="C0392B"/>
                </a:solidFill>
                <a:latin typeface="Noto Sans CJK KR"/>
              </a:rPr>
              <a:t> </a:t>
            </a:r>
            <a:r>
              <a:rPr sz="1200" b="0" i="0" dirty="0" err="1">
                <a:solidFill>
                  <a:srgbClr val="C0392B"/>
                </a:solidFill>
                <a:latin typeface="Noto Sans CJK KR"/>
              </a:rPr>
              <a:t>검토</a:t>
            </a:r>
            <a:r>
              <a:rPr sz="1200" b="0" i="0" dirty="0">
                <a:solidFill>
                  <a:srgbClr val="C0392B"/>
                </a:solidFill>
                <a:latin typeface="Noto Sans CJK KR"/>
              </a:rPr>
              <a:t> </a:t>
            </a:r>
            <a:r>
              <a:rPr sz="1200" b="0" i="0" dirty="0" err="1">
                <a:solidFill>
                  <a:srgbClr val="C0392B"/>
                </a:solidFill>
                <a:latin typeface="Noto Sans CJK KR"/>
              </a:rPr>
              <a:t>의견</a:t>
            </a:r>
            <a:r>
              <a:rPr sz="1200" b="0" i="0" dirty="0">
                <a:solidFill>
                  <a:srgbClr val="C0392B"/>
                </a:solidFill>
                <a:latin typeface="Noto Sans CJK KR"/>
              </a:rPr>
              <a:t> (3/29 18:00 → </a:t>
            </a:r>
            <a:r>
              <a:rPr sz="1200" b="0" i="0" dirty="0" err="1">
                <a:solidFill>
                  <a:srgbClr val="C0392B"/>
                </a:solidFill>
                <a:latin typeface="Noto Sans CJK KR"/>
              </a:rPr>
              <a:t>지남</a:t>
            </a:r>
            <a:r>
              <a:rPr sz="1200" b="0" i="0" dirty="0">
                <a:solidFill>
                  <a:srgbClr val="C0392B"/>
                </a:solidFill>
                <a:latin typeface="Noto Sans CJK KR"/>
              </a:rPr>
              <a:t>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18960" y="2082800"/>
            <a:ext cx="4704080" cy="3383280"/>
          </a:xfrm>
          <a:prstGeom prst="rect">
            <a:avLst/>
          </a:prstGeom>
          <a:solidFill>
            <a:srgbClr val="F4F6F8"/>
          </a:solidFill>
          <a:ln w="19050">
            <a:solidFill>
              <a:srgbClr val="55A8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01840" y="2219960"/>
            <a:ext cx="502920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dirty="0" err="1">
                <a:solidFill>
                  <a:srgbClr val="55A868"/>
                </a:solidFill>
                <a:latin typeface="Noto Sans CJK KR"/>
              </a:rPr>
              <a:t>출력</a:t>
            </a:r>
            <a:r>
              <a:rPr sz="1500" b="1" i="0" dirty="0">
                <a:solidFill>
                  <a:srgbClr val="55A868"/>
                </a:solidFill>
                <a:latin typeface="Noto Sans CJK KR"/>
              </a:rPr>
              <a:t> (4축 JSON)</a:t>
            </a:r>
            <a:r>
              <a:rPr lang="en-US" sz="1500" b="1" i="0" dirty="0">
                <a:solidFill>
                  <a:srgbClr val="55A868"/>
                </a:solidFill>
                <a:latin typeface="Noto Sans CJK KR"/>
              </a:rPr>
              <a:t>  - </a:t>
            </a:r>
            <a:r>
              <a:rPr lang="ko-KR" altLang="en-US" sz="1500" b="1" i="0" dirty="0">
                <a:solidFill>
                  <a:srgbClr val="C00000"/>
                </a:solidFill>
                <a:latin typeface="Noto Sans CJK KR"/>
              </a:rPr>
              <a:t>긴급</a:t>
            </a:r>
            <a:r>
              <a:rPr lang="en-US" altLang="ko-KR" sz="1500" b="1" i="0" dirty="0">
                <a:solidFill>
                  <a:srgbClr val="C00000"/>
                </a:solidFill>
                <a:latin typeface="Noto Sans CJK KR"/>
              </a:rPr>
              <a:t>, </a:t>
            </a:r>
            <a:r>
              <a:rPr lang="ko-KR" altLang="en-US" sz="1500" b="1" i="0" dirty="0">
                <a:solidFill>
                  <a:srgbClr val="C00000"/>
                </a:solidFill>
                <a:latin typeface="Noto Sans CJK KR"/>
              </a:rPr>
              <a:t>중요</a:t>
            </a:r>
            <a:r>
              <a:rPr lang="en-US" altLang="ko-KR" sz="1500" b="1" i="0" dirty="0">
                <a:solidFill>
                  <a:srgbClr val="C00000"/>
                </a:solidFill>
                <a:latin typeface="Noto Sans CJK KR"/>
              </a:rPr>
              <a:t>, </a:t>
            </a:r>
            <a:r>
              <a:rPr lang="ko-KR" altLang="en-US" sz="1500" b="1" i="0" dirty="0">
                <a:solidFill>
                  <a:srgbClr val="C00000"/>
                </a:solidFill>
                <a:latin typeface="Noto Sans CJK KR"/>
              </a:rPr>
              <a:t>의존</a:t>
            </a:r>
            <a:r>
              <a:rPr lang="en-US" altLang="ko-KR" sz="1500" b="1" i="0" dirty="0">
                <a:solidFill>
                  <a:srgbClr val="C00000"/>
                </a:solidFill>
                <a:latin typeface="Noto Sans CJK KR"/>
              </a:rPr>
              <a:t>, </a:t>
            </a:r>
            <a:r>
              <a:rPr lang="ko-KR" altLang="en-US" sz="1500" b="1" i="0" dirty="0">
                <a:solidFill>
                  <a:srgbClr val="C00000"/>
                </a:solidFill>
                <a:latin typeface="Noto Sans CJK KR"/>
              </a:rPr>
              <a:t>시간</a:t>
            </a:r>
            <a:endParaRPr sz="1500" b="1" i="0" dirty="0">
              <a:solidFill>
                <a:srgbClr val="C00000"/>
              </a:solidFill>
              <a:latin typeface="Noto Sans CJK K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01840" y="2631440"/>
            <a:ext cx="5120640" cy="22339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 dirty="0" err="1">
                <a:solidFill>
                  <a:srgbClr val="222222"/>
                </a:solidFill>
                <a:latin typeface="Noto Sans CJK KR"/>
              </a:rPr>
              <a:t>우선순위</a:t>
            </a:r>
            <a:r>
              <a:rPr sz="1300" b="1" i="0" dirty="0">
                <a:solidFill>
                  <a:srgbClr val="222222"/>
                </a:solidFill>
                <a:latin typeface="Noto Sans CJK KR"/>
              </a:rPr>
              <a:t>: 1 → 4 → 2 → 3 → 5</a:t>
            </a:r>
          </a:p>
          <a:p>
            <a:pPr algn="l"/>
            <a:r>
              <a:rPr sz="1150" b="0" i="0" dirty="0">
                <a:solidFill>
                  <a:srgbClr val="222222"/>
                </a:solidFill>
                <a:latin typeface="Noto Sans CJK KR"/>
              </a:rPr>
              <a:t>① </a:t>
            </a:r>
            <a:r>
              <a:rPr sz="1150" b="0" i="0" dirty="0" err="1">
                <a:solidFill>
                  <a:srgbClr val="222222"/>
                </a:solidFill>
                <a:latin typeface="Noto Sans CJK KR"/>
              </a:rPr>
              <a:t>배관</a:t>
            </a:r>
            <a:r>
              <a:rPr sz="1150" b="0" i="0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150" b="0" i="0" dirty="0" err="1">
                <a:solidFill>
                  <a:srgbClr val="222222"/>
                </a:solidFill>
                <a:latin typeface="Noto Sans CJK KR"/>
              </a:rPr>
              <a:t>검토표</a:t>
            </a:r>
            <a:r>
              <a:rPr sz="1150" b="0" i="0" dirty="0">
                <a:solidFill>
                  <a:srgbClr val="222222"/>
                </a:solidFill>
                <a:latin typeface="Noto Sans CJK KR"/>
              </a:rPr>
              <a:t>  [긴급5·중요4·의존1·시간5]</a:t>
            </a:r>
            <a:endParaRPr lang="en-US" sz="1150" b="0" i="0" dirty="0">
              <a:solidFill>
                <a:srgbClr val="222222"/>
              </a:solidFill>
              <a:latin typeface="Noto Sans CJK KR"/>
            </a:endParaRPr>
          </a:p>
          <a:p>
            <a:pPr algn="l"/>
            <a:endParaRPr sz="1150" b="0" i="0" dirty="0">
              <a:solidFill>
                <a:srgbClr val="222222"/>
              </a:solidFill>
              <a:latin typeface="Noto Sans CJK KR"/>
            </a:endParaRPr>
          </a:p>
          <a:p>
            <a:pPr algn="l"/>
            <a:r>
              <a:rPr sz="1150" b="0" i="0" dirty="0">
                <a:solidFill>
                  <a:srgbClr val="222222"/>
                </a:solidFill>
                <a:latin typeface="Noto Sans CJK KR"/>
              </a:rPr>
              <a:t>④ </a:t>
            </a:r>
            <a:r>
              <a:rPr sz="1150" b="0" i="0" dirty="0" err="1">
                <a:solidFill>
                  <a:srgbClr val="222222"/>
                </a:solidFill>
                <a:latin typeface="Noto Sans CJK KR"/>
              </a:rPr>
              <a:t>열교환기</a:t>
            </a:r>
            <a:r>
              <a:rPr sz="1150" b="0" i="0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150" b="0" i="0" dirty="0" err="1">
                <a:solidFill>
                  <a:srgbClr val="222222"/>
                </a:solidFill>
                <a:latin typeface="Noto Sans CJK KR"/>
              </a:rPr>
              <a:t>보고서</a:t>
            </a:r>
            <a:r>
              <a:rPr sz="1150" b="0" i="0" dirty="0">
                <a:solidFill>
                  <a:srgbClr val="222222"/>
                </a:solidFill>
                <a:latin typeface="Noto Sans CJK KR"/>
              </a:rPr>
              <a:t> [긴급4·중요4·의존2·시간4]</a:t>
            </a:r>
            <a:endParaRPr lang="en-US" sz="1150" b="0" i="0" dirty="0">
              <a:solidFill>
                <a:srgbClr val="222222"/>
              </a:solidFill>
              <a:latin typeface="Noto Sans CJK KR"/>
            </a:endParaRPr>
          </a:p>
          <a:p>
            <a:pPr algn="l"/>
            <a:endParaRPr sz="1150" b="0" i="0" dirty="0">
              <a:solidFill>
                <a:srgbClr val="222222"/>
              </a:solidFill>
              <a:latin typeface="Noto Sans CJK KR"/>
            </a:endParaRPr>
          </a:p>
          <a:p>
            <a:pPr algn="l"/>
            <a:r>
              <a:rPr sz="1150" b="0" i="0" dirty="0">
                <a:solidFill>
                  <a:srgbClr val="222222"/>
                </a:solidFill>
                <a:latin typeface="Noto Sans CJK KR"/>
              </a:rPr>
              <a:t>② </a:t>
            </a:r>
            <a:r>
              <a:rPr sz="1150" b="0" i="0" dirty="0" err="1">
                <a:solidFill>
                  <a:srgbClr val="222222"/>
                </a:solidFill>
                <a:latin typeface="Noto Sans CJK KR"/>
              </a:rPr>
              <a:t>회의자료</a:t>
            </a:r>
            <a:r>
              <a:rPr sz="1150" b="0" i="0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150" b="0" i="0" dirty="0" err="1">
                <a:solidFill>
                  <a:srgbClr val="222222"/>
                </a:solidFill>
                <a:latin typeface="Noto Sans CJK KR"/>
              </a:rPr>
              <a:t>초안</a:t>
            </a:r>
            <a:r>
              <a:rPr sz="1150" b="0" i="0" dirty="0">
                <a:solidFill>
                  <a:srgbClr val="222222"/>
                </a:solidFill>
                <a:latin typeface="Noto Sans CJK KR"/>
              </a:rPr>
              <a:t> [긴급2·중요4·의존3·시간2]</a:t>
            </a:r>
            <a:endParaRPr lang="en-US" sz="1150" b="0" i="0" dirty="0">
              <a:solidFill>
                <a:srgbClr val="222222"/>
              </a:solidFill>
              <a:latin typeface="Noto Sans CJK KR"/>
            </a:endParaRPr>
          </a:p>
          <a:p>
            <a:pPr algn="l"/>
            <a:endParaRPr sz="1150" b="0" i="0" dirty="0">
              <a:solidFill>
                <a:srgbClr val="222222"/>
              </a:solidFill>
              <a:latin typeface="Noto Sans CJK KR"/>
            </a:endParaRPr>
          </a:p>
          <a:p>
            <a:pPr algn="l"/>
            <a:r>
              <a:rPr sz="1150" b="0" i="0" dirty="0">
                <a:solidFill>
                  <a:srgbClr val="222222"/>
                </a:solidFill>
                <a:latin typeface="Noto Sans CJK KR"/>
              </a:rPr>
              <a:t>③ </a:t>
            </a:r>
            <a:r>
              <a:rPr sz="1150" b="0" i="0" dirty="0" err="1">
                <a:solidFill>
                  <a:srgbClr val="222222"/>
                </a:solidFill>
                <a:latin typeface="Noto Sans CJK KR"/>
              </a:rPr>
              <a:t>펌프</a:t>
            </a:r>
            <a:r>
              <a:rPr sz="1150" b="0" i="0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150" b="0" i="0" dirty="0" err="1">
                <a:solidFill>
                  <a:srgbClr val="222222"/>
                </a:solidFill>
                <a:latin typeface="Noto Sans CJK KR"/>
              </a:rPr>
              <a:t>기록</a:t>
            </a:r>
            <a:r>
              <a:rPr sz="1150" b="0" i="0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150" b="0" i="0" dirty="0" err="1">
                <a:solidFill>
                  <a:srgbClr val="222222"/>
                </a:solidFill>
                <a:latin typeface="Noto Sans CJK KR"/>
              </a:rPr>
              <a:t>정리</a:t>
            </a:r>
            <a:r>
              <a:rPr sz="1150" b="0" i="0" dirty="0">
                <a:solidFill>
                  <a:srgbClr val="222222"/>
                </a:solidFill>
                <a:latin typeface="Noto Sans CJK KR"/>
              </a:rPr>
              <a:t> [긴급1·중요2·의존1·시간1]</a:t>
            </a:r>
            <a:endParaRPr lang="en-US" sz="1150" b="0" i="0" dirty="0">
              <a:solidFill>
                <a:srgbClr val="222222"/>
              </a:solidFill>
              <a:latin typeface="Noto Sans CJK KR"/>
            </a:endParaRPr>
          </a:p>
          <a:p>
            <a:pPr algn="l"/>
            <a:endParaRPr sz="1150" b="0" i="0" dirty="0">
              <a:solidFill>
                <a:srgbClr val="222222"/>
              </a:solidFill>
              <a:latin typeface="Noto Sans CJK KR"/>
            </a:endParaRPr>
          </a:p>
          <a:p>
            <a:pPr algn="l">
              <a:spcBef>
                <a:spcPts val="200"/>
              </a:spcBef>
            </a:pPr>
            <a:r>
              <a:rPr sz="1150" b="0" i="0" dirty="0">
                <a:solidFill>
                  <a:srgbClr val="C0392B"/>
                </a:solidFill>
                <a:latin typeface="Noto Sans CJK KR"/>
              </a:rPr>
              <a:t>⑤ </a:t>
            </a:r>
            <a:r>
              <a:rPr sz="1150" b="0" i="0" dirty="0" err="1">
                <a:solidFill>
                  <a:srgbClr val="C0392B"/>
                </a:solidFill>
                <a:latin typeface="Noto Sans CJK KR"/>
              </a:rPr>
              <a:t>부식</a:t>
            </a:r>
            <a:r>
              <a:rPr sz="1150" b="0" i="0" dirty="0">
                <a:solidFill>
                  <a:srgbClr val="C0392B"/>
                </a:solidFill>
                <a:latin typeface="Noto Sans CJK KR"/>
              </a:rPr>
              <a:t> </a:t>
            </a:r>
            <a:r>
              <a:rPr sz="1150" b="0" i="0" dirty="0" err="1">
                <a:solidFill>
                  <a:srgbClr val="C0392B"/>
                </a:solidFill>
                <a:latin typeface="Noto Sans CJK KR"/>
              </a:rPr>
              <a:t>검토</a:t>
            </a:r>
            <a:r>
              <a:rPr sz="1150" b="0" i="0" dirty="0">
                <a:solidFill>
                  <a:srgbClr val="C0392B"/>
                </a:solidFill>
                <a:latin typeface="Noto Sans CJK KR"/>
              </a:rPr>
              <a:t> [긴급1·중요1·의존1·시간1] </a:t>
            </a:r>
            <a:r>
              <a:rPr sz="1150" b="0" i="0" dirty="0" err="1">
                <a:solidFill>
                  <a:srgbClr val="C0392B"/>
                </a:solidFill>
                <a:latin typeface="Noto Sans CJK KR"/>
              </a:rPr>
              <a:t>이미</a:t>
            </a:r>
            <a:r>
              <a:rPr sz="1150" b="0" i="0" dirty="0">
                <a:solidFill>
                  <a:srgbClr val="C0392B"/>
                </a:solidFill>
                <a:latin typeface="Noto Sans CJK KR"/>
              </a:rPr>
              <a:t> </a:t>
            </a:r>
            <a:r>
              <a:rPr sz="1150" b="0" i="0" dirty="0" err="1">
                <a:solidFill>
                  <a:srgbClr val="C0392B"/>
                </a:solidFill>
                <a:latin typeface="Noto Sans CJK KR"/>
              </a:rPr>
              <a:t>지남</a:t>
            </a:r>
            <a:endParaRPr sz="1150" b="0" i="0" dirty="0">
              <a:solidFill>
                <a:srgbClr val="C0392B"/>
              </a:solidFill>
              <a:latin typeface="Noto Sans CJK KR"/>
            </a:endParaRPr>
          </a:p>
          <a:p>
            <a:pPr algn="l">
              <a:spcBef>
                <a:spcPts val="600"/>
              </a:spcBef>
            </a:pPr>
            <a:r>
              <a:rPr lang="en-US" sz="1100" b="0" i="1" dirty="0">
                <a:solidFill>
                  <a:srgbClr val="55A868"/>
                </a:solidFill>
                <a:latin typeface="Noto Sans CJK KR"/>
              </a:rPr>
              <a:t>        </a:t>
            </a:r>
            <a:r>
              <a:rPr sz="1100" b="0" i="1" dirty="0">
                <a:solidFill>
                  <a:srgbClr val="55A868"/>
                </a:solidFill>
                <a:latin typeface="Noto Sans CJK KR"/>
              </a:rPr>
              <a:t>→ </a:t>
            </a:r>
            <a:r>
              <a:rPr sz="1100" b="0" i="1" dirty="0" err="1">
                <a:solidFill>
                  <a:srgbClr val="55A868"/>
                </a:solidFill>
                <a:latin typeface="Noto Sans CJK KR"/>
              </a:rPr>
              <a:t>지난</a:t>
            </a:r>
            <a:r>
              <a:rPr sz="1100" b="0" i="1" dirty="0">
                <a:solidFill>
                  <a:srgbClr val="55A868"/>
                </a:solidFill>
                <a:latin typeface="Noto Sans CJK KR"/>
              </a:rPr>
              <a:t> </a:t>
            </a:r>
            <a:r>
              <a:rPr sz="1100" b="0" i="1" dirty="0" err="1">
                <a:solidFill>
                  <a:srgbClr val="55A868"/>
                </a:solidFill>
                <a:latin typeface="Noto Sans CJK KR"/>
              </a:rPr>
              <a:t>일정은</a:t>
            </a:r>
            <a:r>
              <a:rPr sz="1100" b="0" i="1" dirty="0">
                <a:solidFill>
                  <a:srgbClr val="55A868"/>
                </a:solidFill>
                <a:latin typeface="Noto Sans CJK KR"/>
              </a:rPr>
              <a:t> </a:t>
            </a:r>
            <a:r>
              <a:rPr sz="1100" b="0" i="1" dirty="0" err="1">
                <a:solidFill>
                  <a:srgbClr val="55A868"/>
                </a:solidFill>
                <a:latin typeface="Noto Sans CJK KR"/>
              </a:rPr>
              <a:t>자동</a:t>
            </a:r>
            <a:r>
              <a:rPr sz="1100" b="0" i="1" dirty="0">
                <a:solidFill>
                  <a:srgbClr val="55A868"/>
                </a:solidFill>
                <a:latin typeface="Noto Sans CJK KR"/>
              </a:rPr>
              <a:t> </a:t>
            </a:r>
            <a:r>
              <a:rPr sz="1100" b="0" i="1" dirty="0" err="1">
                <a:solidFill>
                  <a:srgbClr val="55A868"/>
                </a:solidFill>
                <a:latin typeface="Noto Sans CJK KR"/>
              </a:rPr>
              <a:t>강등·최하위</a:t>
            </a:r>
            <a:r>
              <a:rPr sz="1100" b="0" i="1" dirty="0">
                <a:solidFill>
                  <a:srgbClr val="55A868"/>
                </a:solidFill>
                <a:latin typeface="Noto Sans CJK KR"/>
              </a:rPr>
              <a:t> </a:t>
            </a:r>
            <a:r>
              <a:rPr sz="1100" b="0" i="1" dirty="0" err="1">
                <a:solidFill>
                  <a:srgbClr val="55A868"/>
                </a:solidFill>
                <a:latin typeface="Noto Sans CJK KR"/>
              </a:rPr>
              <a:t>배치</a:t>
            </a:r>
            <a:endParaRPr sz="1100" b="0" i="1" dirty="0">
              <a:solidFill>
                <a:srgbClr val="55A868"/>
              </a:solidFill>
              <a:latin typeface="Noto Sans CJK KR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789920" y="641604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Noto Sans CJK KR"/>
              </a:rPr>
              <a:t>3</a:t>
            </a:r>
          </a:p>
        </p:txBody>
      </p:sp>
      <p:sp>
        <p:nvSpPr>
          <p:cNvPr id="14" name="화살표: 줄무늬가 있는 오른쪽 13">
            <a:extLst>
              <a:ext uri="{FF2B5EF4-FFF2-40B4-BE49-F238E27FC236}">
                <a16:creationId xmlns:a16="http://schemas.microsoft.com/office/drawing/2014/main" id="{6AC25102-FF55-4F17-B0AD-7A0774ED3807}"/>
              </a:ext>
            </a:extLst>
          </p:cNvPr>
          <p:cNvSpPr/>
          <p:nvPr/>
        </p:nvSpPr>
        <p:spPr>
          <a:xfrm>
            <a:off x="5760720" y="3119120"/>
            <a:ext cx="944880" cy="883920"/>
          </a:xfrm>
          <a:prstGeom prst="striped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C18EE-F3D0-9696-0237-267A81AED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17F4189-4196-F78C-4485-408391F7071D}"/>
              </a:ext>
            </a:extLst>
          </p:cNvPr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FCE0B4-F278-F460-B7F3-BB5FED8CA6D5}"/>
              </a:ext>
            </a:extLst>
          </p:cNvPr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DATA SOURCE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44A813-170B-1AA5-56EF-5436C327007D}"/>
              </a:ext>
            </a:extLst>
          </p:cNvPr>
          <p:cNvSpPr txBox="1"/>
          <p:nvPr/>
        </p:nvSpPr>
        <p:spPr>
          <a:xfrm>
            <a:off x="457200" y="384048"/>
            <a:ext cx="1124712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2600" b="1" i="0" dirty="0">
                <a:solidFill>
                  <a:srgbClr val="FFFFFF"/>
                </a:solidFill>
                <a:latin typeface="Noto Sans CJK KR"/>
              </a:rPr>
              <a:t>원본 </a:t>
            </a:r>
            <a:r>
              <a:rPr sz="2600" b="1" i="0" dirty="0" err="1">
                <a:solidFill>
                  <a:srgbClr val="FFFFFF"/>
                </a:solidFill>
                <a:latin typeface="Noto Sans CJK KR"/>
              </a:rPr>
              <a:t>데이터셋</a:t>
            </a:r>
            <a:r>
              <a:rPr lang="ko-KR" altLang="en-US" sz="2600" b="1" i="0" dirty="0">
                <a:solidFill>
                  <a:srgbClr val="FFFFFF"/>
                </a:solidFill>
                <a:latin typeface="Noto Sans CJK KR"/>
              </a:rPr>
              <a:t>과 증강 </a:t>
            </a:r>
            <a:r>
              <a:rPr lang="en-US" altLang="ko-KR" sz="2600" b="1" dirty="0">
                <a:solidFill>
                  <a:srgbClr val="FFFFFF"/>
                </a:solidFill>
                <a:latin typeface="Noto Sans CJK KR"/>
              </a:rPr>
              <a:t>- </a:t>
            </a:r>
            <a:r>
              <a:rPr lang="ko-KR" altLang="en-US" sz="2600" b="1" i="0" dirty="0">
                <a:solidFill>
                  <a:srgbClr val="FFFFFF"/>
                </a:solidFill>
                <a:latin typeface="Noto Sans CJK KR"/>
              </a:rPr>
              <a:t>처리 절차</a:t>
            </a:r>
            <a:endParaRPr sz="2600" b="1" i="0" dirty="0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82FC29-2DB4-A627-8203-53B22A913E28}"/>
              </a:ext>
            </a:extLst>
          </p:cNvPr>
          <p:cNvSpPr txBox="1"/>
          <p:nvPr/>
        </p:nvSpPr>
        <p:spPr>
          <a:xfrm>
            <a:off x="10789920" y="6620224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 dirty="0">
                <a:solidFill>
                  <a:srgbClr val="5A5A5A"/>
                </a:solidFill>
                <a:latin typeface="Noto Sans CJK KR"/>
              </a:rPr>
              <a:t>4</a:t>
            </a:r>
          </a:p>
        </p:txBody>
      </p:sp>
      <p:graphicFrame>
        <p:nvGraphicFramePr>
          <p:cNvPr id="15" name="다이어그램 14">
            <a:extLst>
              <a:ext uri="{FF2B5EF4-FFF2-40B4-BE49-F238E27FC236}">
                <a16:creationId xmlns:a16="http://schemas.microsoft.com/office/drawing/2014/main" id="{F4D3B83C-79B5-9424-9949-BF89719179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51562346"/>
              </p:ext>
            </p:extLst>
          </p:nvPr>
        </p:nvGraphicFramePr>
        <p:xfrm>
          <a:off x="135850" y="1552733"/>
          <a:ext cx="11973560" cy="35399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4D0D1E93-A7CF-4749-597E-4BC5E1DD86FE}"/>
              </a:ext>
            </a:extLst>
          </p:cNvPr>
          <p:cNvSpPr txBox="1"/>
          <p:nvPr/>
        </p:nvSpPr>
        <p:spPr>
          <a:xfrm>
            <a:off x="635656" y="3778753"/>
            <a:ext cx="1478280" cy="101566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endParaRPr lang="en-US" altLang="ko-KR" sz="1200" dirty="0"/>
          </a:p>
          <a:p>
            <a:pPr algn="ctr"/>
            <a:r>
              <a:rPr lang="ko-KR" altLang="ko-KR" sz="1200" dirty="0" err="1"/>
              <a:t>Hugging</a:t>
            </a:r>
            <a:r>
              <a:rPr lang="ko-KR" altLang="ko-KR" sz="1200" dirty="0"/>
              <a:t> </a:t>
            </a:r>
            <a:r>
              <a:rPr lang="ko-KR" altLang="ko-KR" sz="1200" dirty="0" err="1"/>
              <a:t>Face</a:t>
            </a:r>
            <a:endParaRPr lang="en-US" altLang="ko-KR" sz="1200" dirty="0"/>
          </a:p>
          <a:p>
            <a:pPr algn="ctr"/>
            <a:r>
              <a:rPr lang="ko-KR" altLang="ko-KR" sz="1200" b="1" dirty="0">
                <a:solidFill>
                  <a:schemeClr val="tx1"/>
                </a:solidFill>
              </a:rPr>
              <a:t>이벤트 스케줄링용 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ko-KR" altLang="ko-KR" sz="1200" b="1" dirty="0">
                <a:solidFill>
                  <a:schemeClr val="tx1"/>
                </a:solidFill>
              </a:rPr>
              <a:t>합성 데이터셋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7D7EB0-7F84-65DB-82CD-336078044819}"/>
              </a:ext>
            </a:extLst>
          </p:cNvPr>
          <p:cNvSpPr txBox="1"/>
          <p:nvPr/>
        </p:nvSpPr>
        <p:spPr>
          <a:xfrm>
            <a:off x="2261419" y="4597324"/>
            <a:ext cx="3114873" cy="101566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ko-KR" sz="1200" dirty="0"/>
              <a:t>N</a:t>
            </a:r>
            <a:r>
              <a:rPr lang="ko-KR" altLang="ko-KR" sz="1200" dirty="0" err="1"/>
              <a:t>VIDIA가</a:t>
            </a:r>
            <a:r>
              <a:rPr lang="ko-KR" altLang="ko-KR" sz="1200" dirty="0"/>
              <a:t> </a:t>
            </a:r>
            <a:r>
              <a:rPr lang="ko-KR" altLang="ko-KR" sz="1200" dirty="0" err="1"/>
              <a:t>Hugging</a:t>
            </a:r>
            <a:r>
              <a:rPr lang="ko-KR" altLang="ko-KR" sz="1200" dirty="0"/>
              <a:t> </a:t>
            </a:r>
            <a:r>
              <a:rPr lang="ko-KR" altLang="ko-KR" sz="1200" dirty="0" err="1"/>
              <a:t>Face에</a:t>
            </a:r>
            <a:r>
              <a:rPr lang="ko-KR" altLang="ko-KR" sz="1200" dirty="0"/>
              <a:t> 공개한 </a:t>
            </a:r>
            <a:endParaRPr lang="en-US" altLang="ko-KR" sz="1200" dirty="0"/>
          </a:p>
          <a:p>
            <a:pPr algn="ctr"/>
            <a:r>
              <a:rPr lang="ko-KR" altLang="ko-KR" sz="1200" b="1" dirty="0">
                <a:solidFill>
                  <a:schemeClr val="tx1"/>
                </a:solidFill>
              </a:rPr>
              <a:t>한국형 합성 페르소나 데이터셋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endParaRPr lang="en-US" altLang="ko-KR" sz="1200" b="1" dirty="0"/>
          </a:p>
          <a:p>
            <a:r>
              <a:rPr lang="ko-KR" altLang="ko-KR" sz="1200" dirty="0"/>
              <a:t>한국</a:t>
            </a:r>
            <a:r>
              <a:rPr lang="en-US" altLang="ko-KR" sz="1200" dirty="0"/>
              <a:t> </a:t>
            </a:r>
            <a:r>
              <a:rPr lang="ko-KR" altLang="ko-KR" sz="1200" dirty="0" err="1"/>
              <a:t>지역·직업·생활방식·관심사·전문성</a:t>
            </a:r>
            <a:r>
              <a:rPr lang="en-US" altLang="ko-KR" sz="1200" dirty="0"/>
              <a:t> </a:t>
            </a:r>
            <a:r>
              <a:rPr lang="ko-KR" altLang="ko-KR" sz="1200" dirty="0"/>
              <a:t>등</a:t>
            </a:r>
            <a:r>
              <a:rPr lang="en-US" altLang="ko-KR" sz="1200" dirty="0"/>
              <a:t> </a:t>
            </a:r>
            <a:r>
              <a:rPr lang="ko-KR" altLang="ko-KR" sz="1200" dirty="0"/>
              <a:t>반영한 </a:t>
            </a:r>
            <a:r>
              <a:rPr lang="ko-KR" altLang="ko-KR" sz="1200" b="1" dirty="0"/>
              <a:t>가상 인물 프로필 </a:t>
            </a:r>
            <a:r>
              <a:rPr lang="en-US" altLang="ko-KR" sz="1200" b="1" dirty="0"/>
              <a:t> </a:t>
            </a:r>
            <a:r>
              <a:rPr lang="ko-KR" altLang="ko-KR" sz="1200" b="1" dirty="0"/>
              <a:t>100만</a:t>
            </a:r>
            <a:r>
              <a:rPr lang="ko-KR" altLang="en-US" sz="1200" b="1" dirty="0"/>
              <a:t>개</a:t>
            </a:r>
            <a:r>
              <a:rPr lang="ko-KR" altLang="ko-KR" sz="1200" b="1" dirty="0"/>
              <a:t> 데이터셋</a:t>
            </a:r>
            <a:endParaRPr lang="ko-KR" altLang="en-US" sz="1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4602F51-F505-82A6-0509-E31553F1A204}"/>
              </a:ext>
            </a:extLst>
          </p:cNvPr>
          <p:cNvSpPr txBox="1"/>
          <p:nvPr/>
        </p:nvSpPr>
        <p:spPr>
          <a:xfrm>
            <a:off x="269240" y="1154800"/>
            <a:ext cx="3952132" cy="33855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rgbClr val="C00000"/>
                </a:solidFill>
              </a:rPr>
              <a:t>V1(</a:t>
            </a:r>
            <a:r>
              <a:rPr lang="ko-KR" altLang="en-US" sz="1600" b="1" dirty="0"/>
              <a:t>원시 데이터 생성</a:t>
            </a:r>
            <a:r>
              <a:rPr lang="en-US" altLang="ko-KR" sz="1600" b="1" dirty="0"/>
              <a:t>) : </a:t>
            </a:r>
            <a:r>
              <a:rPr lang="ko-KR" altLang="en-US" sz="1600" b="1" dirty="0"/>
              <a:t>김경한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075A43-697F-6507-82A8-8F8B1C320439}"/>
              </a:ext>
            </a:extLst>
          </p:cNvPr>
          <p:cNvSpPr txBox="1"/>
          <p:nvPr/>
        </p:nvSpPr>
        <p:spPr>
          <a:xfrm flipH="1">
            <a:off x="341827" y="5706029"/>
            <a:ext cx="5034465" cy="101566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ko-KR" altLang="en-US" sz="1200" b="1" dirty="0"/>
              <a:t>문제점 </a:t>
            </a:r>
            <a:endParaRPr lang="en-US" altLang="ko-KR" sz="1200" b="1" dirty="0"/>
          </a:p>
          <a:p>
            <a:r>
              <a:rPr lang="en-US" altLang="ko-KR" sz="1200" dirty="0"/>
              <a:t>     1. </a:t>
            </a:r>
            <a:r>
              <a:rPr lang="ko-KR" altLang="en-US" sz="1200" b="1" dirty="0">
                <a:highlight>
                  <a:srgbClr val="FF00FF"/>
                </a:highlight>
              </a:rPr>
              <a:t>학습 수행이 되지 않음  </a:t>
            </a:r>
            <a:r>
              <a:rPr lang="en-US" altLang="ko-KR" sz="1200" b="1" dirty="0">
                <a:highlight>
                  <a:srgbClr val="FF00FF"/>
                </a:highlight>
                <a:latin typeface="맑은 고딕" panose="020B0503020000020004" pitchFamily="50" charset="-127"/>
              </a:rPr>
              <a:t>☞</a:t>
            </a:r>
            <a:r>
              <a:rPr lang="en-US" altLang="ko-KR" sz="1200" b="1" dirty="0">
                <a:highlight>
                  <a:srgbClr val="FF00FF"/>
                </a:highlight>
              </a:rPr>
              <a:t> </a:t>
            </a:r>
            <a:r>
              <a:rPr lang="ko-KR" altLang="en-US" sz="1200" b="1" dirty="0">
                <a:highlight>
                  <a:srgbClr val="FF00FF"/>
                </a:highlight>
              </a:rPr>
              <a:t>성능 저하</a:t>
            </a:r>
            <a:endParaRPr lang="en-US" altLang="ko-KR" sz="1200" b="1" dirty="0">
              <a:highlight>
                <a:srgbClr val="FF00FF"/>
              </a:highlight>
            </a:endParaRPr>
          </a:p>
          <a:p>
            <a:r>
              <a:rPr lang="en-US" altLang="ko-KR" sz="1200" dirty="0"/>
              <a:t>          - </a:t>
            </a:r>
            <a:r>
              <a:rPr lang="en-US" altLang="ko-KR" sz="1200" dirty="0" err="1"/>
              <a:t>nvida</a:t>
            </a:r>
            <a:r>
              <a:rPr lang="en-US" altLang="ko-KR" sz="1200" dirty="0"/>
              <a:t> </a:t>
            </a:r>
            <a:r>
              <a:rPr lang="ko-KR" altLang="en-US" sz="1200" dirty="0"/>
              <a:t>데이터셋은 스케쥴 </a:t>
            </a:r>
            <a:r>
              <a:rPr lang="en-US" altLang="ko-KR" sz="1200" dirty="0"/>
              <a:t>DATA</a:t>
            </a:r>
            <a:r>
              <a:rPr lang="ko-KR" altLang="en-US" sz="1200" dirty="0"/>
              <a:t>가 아님</a:t>
            </a:r>
            <a:r>
              <a:rPr lang="en-US" altLang="ko-KR" sz="1200" dirty="0"/>
              <a:t>(</a:t>
            </a:r>
            <a:r>
              <a:rPr lang="ko-KR" altLang="en-US" sz="1200" b="1" dirty="0"/>
              <a:t>페르소나 중심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          - </a:t>
            </a:r>
            <a:r>
              <a:rPr lang="ko-KR" altLang="en-US" sz="1200" dirty="0"/>
              <a:t>데이터</a:t>
            </a:r>
            <a:r>
              <a:rPr lang="en-US" altLang="ko-KR" sz="1200" dirty="0"/>
              <a:t>(</a:t>
            </a:r>
            <a:r>
              <a:rPr lang="ko-KR" altLang="en-US" sz="1200" dirty="0"/>
              <a:t>이벤트 </a:t>
            </a:r>
            <a:r>
              <a:rPr lang="ko-KR" altLang="en-US" sz="1200" dirty="0" err="1"/>
              <a:t>스케쥴링</a:t>
            </a:r>
            <a:r>
              <a:rPr lang="en-US" altLang="ko-KR" sz="1200" dirty="0"/>
              <a:t>, </a:t>
            </a:r>
            <a:r>
              <a:rPr lang="en-US" altLang="ko-KR" sz="1200" dirty="0" err="1">
                <a:solidFill>
                  <a:schemeClr val="tx1"/>
                </a:solidFill>
                <a:latin typeface="Noto Sans CJK KR"/>
              </a:rPr>
              <a:t>nvidia</a:t>
            </a:r>
            <a:r>
              <a:rPr lang="en-US" altLang="ko-KR" sz="1200" dirty="0">
                <a:solidFill>
                  <a:schemeClr val="tx1"/>
                </a:solidFill>
                <a:latin typeface="Noto Sans CJK KR"/>
              </a:rPr>
              <a:t> Personas</a:t>
            </a:r>
            <a:r>
              <a:rPr lang="en-US" altLang="ko-KR" sz="1200" b="1" dirty="0">
                <a:solidFill>
                  <a:schemeClr val="tx1"/>
                </a:solidFill>
                <a:latin typeface="Noto Sans CJK KR"/>
              </a:rPr>
              <a:t>)</a:t>
            </a:r>
            <a:r>
              <a:rPr lang="ko-KR" altLang="en-US" sz="1200" b="1" dirty="0">
                <a:solidFill>
                  <a:schemeClr val="tx1"/>
                </a:solidFill>
                <a:latin typeface="Noto Sans CJK KR"/>
              </a:rPr>
              <a:t> </a:t>
            </a:r>
            <a:r>
              <a:rPr lang="ko-KR" altLang="en-US" sz="1200" dirty="0">
                <a:solidFill>
                  <a:schemeClr val="tx1"/>
                </a:solidFill>
                <a:latin typeface="Noto Sans CJK KR"/>
              </a:rPr>
              <a:t>간의</a:t>
            </a:r>
            <a:r>
              <a:rPr lang="ko-KR" altLang="en-US" sz="1200" dirty="0"/>
              <a:t> 상관관계가 약해</a:t>
            </a:r>
            <a:r>
              <a:rPr lang="en-US" altLang="ko-KR" sz="1200" dirty="0"/>
              <a:t> </a:t>
            </a:r>
          </a:p>
          <a:p>
            <a:r>
              <a:rPr lang="en-US" altLang="ko-KR" sz="1200" dirty="0"/>
              <a:t>     2. </a:t>
            </a:r>
            <a:r>
              <a:rPr lang="ko-KR" altLang="en-US" sz="1200" b="1" dirty="0">
                <a:highlight>
                  <a:srgbClr val="FF00FF"/>
                </a:highlight>
              </a:rPr>
              <a:t>데이터 양 너무 많음 </a:t>
            </a:r>
            <a:r>
              <a:rPr lang="en-US" altLang="ko-KR" sz="1200" dirty="0">
                <a:latin typeface="맑은 고딕" panose="020B0503020000020004" pitchFamily="50" charset="-127"/>
              </a:rPr>
              <a:t>☞ </a:t>
            </a:r>
            <a:r>
              <a:rPr lang="ko-KR" altLang="en-US" sz="1200" dirty="0">
                <a:latin typeface="맑은 고딕" panose="020B0503020000020004" pitchFamily="50" charset="-127"/>
              </a:rPr>
              <a:t>병합 처리시 </a:t>
            </a:r>
            <a:r>
              <a:rPr lang="ko-KR" altLang="en-US" sz="1200" b="1" dirty="0">
                <a:solidFill>
                  <a:srgbClr val="C00000"/>
                </a:solidFill>
              </a:rPr>
              <a:t>중간 멈춤</a:t>
            </a:r>
            <a:r>
              <a:rPr lang="en-US" altLang="ko-KR" sz="1200" b="1" dirty="0">
                <a:solidFill>
                  <a:srgbClr val="C00000"/>
                </a:solidFill>
              </a:rPr>
              <a:t>(500 * 100</a:t>
            </a:r>
            <a:r>
              <a:rPr lang="ko-KR" altLang="en-US" sz="1200" b="1" dirty="0">
                <a:solidFill>
                  <a:srgbClr val="C00000"/>
                </a:solidFill>
              </a:rPr>
              <a:t>만개</a:t>
            </a:r>
            <a:r>
              <a:rPr lang="en-US" altLang="ko-KR" sz="1200" b="1" dirty="0">
                <a:solidFill>
                  <a:srgbClr val="C00000"/>
                </a:solidFill>
              </a:rPr>
              <a:t>)</a:t>
            </a:r>
            <a:endParaRPr lang="en-US" altLang="ko-KR" sz="12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E5012BE-C976-FAF2-C3D5-7AAFC0C40813}"/>
              </a:ext>
            </a:extLst>
          </p:cNvPr>
          <p:cNvSpPr txBox="1"/>
          <p:nvPr/>
        </p:nvSpPr>
        <p:spPr>
          <a:xfrm>
            <a:off x="5376292" y="1555891"/>
            <a:ext cx="3395481" cy="138499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1200" dirty="0"/>
              <a:t> </a:t>
            </a:r>
            <a:r>
              <a:rPr lang="en-US" altLang="ko-KR" sz="1200" b="1" dirty="0"/>
              <a:t>1. </a:t>
            </a:r>
            <a:r>
              <a:rPr lang="ko-KR" altLang="en-US" sz="1200" b="1" dirty="0">
                <a:highlight>
                  <a:srgbClr val="FFFF00"/>
                </a:highlight>
              </a:rPr>
              <a:t>페로소나 적용된 스케쥴 </a:t>
            </a:r>
            <a:r>
              <a:rPr lang="en-US" altLang="ko-KR" sz="1200" b="1" dirty="0">
                <a:highlight>
                  <a:srgbClr val="FFFF00"/>
                </a:highlight>
              </a:rPr>
              <a:t>DATA </a:t>
            </a:r>
            <a:r>
              <a:rPr lang="ko-KR" altLang="en-US" sz="1200" b="1" dirty="0">
                <a:highlight>
                  <a:srgbClr val="FFFF00"/>
                </a:highlight>
              </a:rPr>
              <a:t>생성</a:t>
            </a:r>
            <a:endParaRPr lang="en-US" altLang="ko-KR" sz="1200" b="1" dirty="0">
              <a:highlight>
                <a:srgbClr val="FFFF00"/>
              </a:highlight>
            </a:endParaRPr>
          </a:p>
          <a:p>
            <a:r>
              <a:rPr lang="en-US" altLang="ko-KR" sz="1200" b="1" dirty="0"/>
              <a:t> </a:t>
            </a:r>
            <a:r>
              <a:rPr lang="en-US" altLang="ko-KR" sz="1200" dirty="0"/>
              <a:t>   (</a:t>
            </a:r>
            <a:r>
              <a:rPr lang="ko-KR" altLang="en-US" sz="1200" dirty="0"/>
              <a:t>이벤트 스케줄링용  합성 데이터셋 </a:t>
            </a:r>
            <a:r>
              <a:rPr lang="en-US" altLang="ko-KR" sz="1200" dirty="0"/>
              <a:t>: </a:t>
            </a:r>
            <a:r>
              <a:rPr lang="ko-KR" altLang="en-US" sz="1200" dirty="0"/>
              <a:t>아이디어</a:t>
            </a:r>
            <a:endParaRPr lang="en-US" altLang="ko-KR" sz="1200" dirty="0"/>
          </a:p>
          <a:p>
            <a:r>
              <a:rPr lang="en-US" altLang="ko-KR" sz="1200" dirty="0"/>
              <a:t>      + </a:t>
            </a:r>
            <a:r>
              <a:rPr lang="ko-KR" altLang="ko-KR" sz="1200" dirty="0"/>
              <a:t>한국형 합성 페르소나 데이터셋</a:t>
            </a:r>
            <a:r>
              <a:rPr lang="en-US" altLang="ko-KR" sz="1200" dirty="0"/>
              <a:t> : </a:t>
            </a:r>
            <a:r>
              <a:rPr lang="ko-KR" altLang="en-US" sz="1200" dirty="0" err="1"/>
              <a:t>켄셉</a:t>
            </a:r>
            <a:r>
              <a:rPr lang="en-US" altLang="ko-KR" sz="1200" b="1" dirty="0">
                <a:solidFill>
                  <a:srgbClr val="FF0000"/>
                </a:solidFill>
              </a:rPr>
              <a:t>)</a:t>
            </a:r>
            <a:endParaRPr lang="en-US" altLang="ko-KR" sz="1200" dirty="0"/>
          </a:p>
          <a:p>
            <a:r>
              <a:rPr lang="ko-KR" altLang="en-US" sz="1200" dirty="0"/>
              <a:t>    </a:t>
            </a:r>
            <a:r>
              <a:rPr lang="en-US" altLang="ko-KR" sz="1200" dirty="0">
                <a:latin typeface="맑은 고딕" panose="020B0503020000020004" pitchFamily="50" charset="-127"/>
              </a:rPr>
              <a:t>☞</a:t>
            </a:r>
            <a:r>
              <a:rPr lang="en-US" altLang="ko-KR" sz="1200" dirty="0"/>
              <a:t> </a:t>
            </a:r>
            <a:r>
              <a:rPr lang="ko-KR" altLang="en-US" sz="1200" dirty="0"/>
              <a:t>페르소나별 우선순위</a:t>
            </a:r>
            <a:r>
              <a:rPr lang="en-US" altLang="ko-KR" sz="1200" dirty="0"/>
              <a:t>(5</a:t>
            </a:r>
            <a:r>
              <a:rPr lang="ko-KR" altLang="en-US" sz="1200" dirty="0"/>
              <a:t>개</a:t>
            </a:r>
            <a:r>
              <a:rPr lang="en-US" altLang="ko-KR" sz="1200" dirty="0"/>
              <a:t>)</a:t>
            </a:r>
          </a:p>
          <a:p>
            <a:r>
              <a:rPr lang="en-US" altLang="ko-KR" sz="1200" b="1" dirty="0">
                <a:solidFill>
                  <a:srgbClr val="FF0000"/>
                </a:solidFill>
                <a:latin typeface="Noto Sans CJK KR"/>
              </a:rPr>
              <a:t>          (JOB 5</a:t>
            </a:r>
            <a:r>
              <a:rPr lang="ko-KR" altLang="en-US" sz="1200" b="1" dirty="0">
                <a:solidFill>
                  <a:srgbClr val="FF0000"/>
                </a:solidFill>
                <a:latin typeface="Noto Sans CJK KR"/>
              </a:rPr>
              <a:t>개 </a:t>
            </a:r>
            <a:r>
              <a:rPr lang="en-US" altLang="ko-KR" sz="1200" b="1" dirty="0">
                <a:solidFill>
                  <a:srgbClr val="FF0000"/>
                </a:solidFill>
                <a:latin typeface="Noto Sans CJK KR"/>
              </a:rPr>
              <a:t>* 1,000</a:t>
            </a:r>
            <a:r>
              <a:rPr lang="ko-KR" altLang="en-US" sz="1200" b="1" dirty="0">
                <a:solidFill>
                  <a:srgbClr val="FF0000"/>
                </a:solidFill>
                <a:latin typeface="Noto Sans CJK KR"/>
              </a:rPr>
              <a:t>개</a:t>
            </a:r>
            <a:r>
              <a:rPr lang="en-US" altLang="ko-KR" sz="1200" b="1" dirty="0">
                <a:solidFill>
                  <a:srgbClr val="FF0000"/>
                </a:solidFill>
                <a:latin typeface="Noto Sans CJK KR"/>
              </a:rPr>
              <a:t>) : </a:t>
            </a:r>
            <a:r>
              <a:rPr lang="ko-KR" altLang="en-US" sz="1200" b="1" dirty="0">
                <a:solidFill>
                  <a:srgbClr val="FF0000"/>
                </a:solidFill>
                <a:latin typeface="Noto Sans CJK KR"/>
              </a:rPr>
              <a:t>약 </a:t>
            </a:r>
            <a:r>
              <a:rPr lang="en-US" altLang="ko-KR" sz="1200" b="1" dirty="0">
                <a:solidFill>
                  <a:srgbClr val="FF0000"/>
                </a:solidFill>
                <a:latin typeface="Noto Sans CJK KR"/>
              </a:rPr>
              <a:t>5,000</a:t>
            </a:r>
            <a:r>
              <a:rPr lang="ko-KR" altLang="en-US" sz="1200" b="1" dirty="0">
                <a:solidFill>
                  <a:srgbClr val="FF0000"/>
                </a:solidFill>
                <a:latin typeface="Noto Sans CJK KR"/>
              </a:rPr>
              <a:t>개</a:t>
            </a:r>
            <a:endParaRPr lang="en-US" altLang="ko-KR" sz="1200" dirty="0"/>
          </a:p>
          <a:p>
            <a:r>
              <a:rPr lang="en-US" altLang="ko-KR" sz="1200" dirty="0"/>
              <a:t>   - job 5 </a:t>
            </a:r>
            <a:r>
              <a:rPr lang="ko-KR" altLang="en-US" sz="1200" dirty="0"/>
              <a:t>개 </a:t>
            </a:r>
            <a:r>
              <a:rPr lang="en-US" altLang="ko-KR" sz="1200" dirty="0"/>
              <a:t>?</a:t>
            </a:r>
            <a:r>
              <a:rPr lang="ko-KR" altLang="en-US" sz="1200" dirty="0"/>
              <a:t>　전화상담원</a:t>
            </a:r>
            <a:endParaRPr lang="en-US" altLang="ko-KR" sz="1200" dirty="0"/>
          </a:p>
          <a:p>
            <a:r>
              <a:rPr lang="en-US" altLang="ko-KR" sz="1200" b="1" dirty="0"/>
              <a:t>2. </a:t>
            </a:r>
            <a:r>
              <a:rPr lang="ko-KR" altLang="en-US" sz="1200" b="1" dirty="0">
                <a:highlight>
                  <a:srgbClr val="FFFF00"/>
                </a:highlight>
              </a:rPr>
              <a:t>파싱</a:t>
            </a:r>
            <a:r>
              <a:rPr lang="en-US" altLang="ko-KR" sz="1200" b="1" dirty="0">
                <a:highlight>
                  <a:srgbClr val="FFFF00"/>
                </a:highlight>
              </a:rPr>
              <a:t>, </a:t>
            </a:r>
            <a:r>
              <a:rPr lang="ko-KR" altLang="en-US" sz="1200" b="1" dirty="0">
                <a:highlight>
                  <a:srgbClr val="FFFF00"/>
                </a:highlight>
              </a:rPr>
              <a:t>활용능력 향상 </a:t>
            </a:r>
            <a:r>
              <a:rPr lang="en-US" altLang="ko-KR" sz="1200" b="1" dirty="0">
                <a:highlight>
                  <a:srgbClr val="FFFF00"/>
                </a:highlight>
              </a:rPr>
              <a:t>: Json </a:t>
            </a:r>
            <a:r>
              <a:rPr lang="ko-KR" altLang="en-US" sz="1200" b="1" dirty="0">
                <a:highlight>
                  <a:srgbClr val="FFFF00"/>
                </a:highlight>
              </a:rPr>
              <a:t>포맷 적용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1A17362-9DB8-CF84-3BB7-C45F7458AF26}"/>
              </a:ext>
            </a:extLst>
          </p:cNvPr>
          <p:cNvSpPr txBox="1"/>
          <p:nvPr/>
        </p:nvSpPr>
        <p:spPr>
          <a:xfrm>
            <a:off x="5376291" y="1152358"/>
            <a:ext cx="3395481" cy="33855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rgbClr val="C00000"/>
                </a:solidFill>
              </a:rPr>
              <a:t>V2</a:t>
            </a:r>
            <a:r>
              <a:rPr lang="en-US" altLang="ko-KR" sz="1600" b="1" dirty="0"/>
              <a:t>(SFT</a:t>
            </a:r>
            <a:r>
              <a:rPr lang="ko-KR" altLang="en-US" sz="1600" b="1" dirty="0"/>
              <a:t> 위한 </a:t>
            </a:r>
            <a:r>
              <a:rPr lang="en-US" altLang="ko-KR" sz="1600" b="1" dirty="0"/>
              <a:t>DATA </a:t>
            </a:r>
            <a:r>
              <a:rPr lang="ko-KR" altLang="en-US" sz="1600" b="1" dirty="0"/>
              <a:t>셋</a:t>
            </a:r>
            <a:r>
              <a:rPr lang="en-US" altLang="ko-KR" sz="1600" b="1" dirty="0"/>
              <a:t>) : </a:t>
            </a:r>
            <a:r>
              <a:rPr lang="ko-KR" altLang="en-US" sz="1600" b="1" dirty="0"/>
              <a:t>소석영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2176F1D-E471-0DB0-9AF5-E99428BD7FED}"/>
              </a:ext>
            </a:extLst>
          </p:cNvPr>
          <p:cNvSpPr txBox="1"/>
          <p:nvPr/>
        </p:nvSpPr>
        <p:spPr>
          <a:xfrm>
            <a:off x="8850981" y="1145723"/>
            <a:ext cx="3071779" cy="33855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rgbClr val="C00000"/>
                </a:solidFill>
              </a:rPr>
              <a:t>V3</a:t>
            </a:r>
            <a:r>
              <a:rPr lang="en-US" altLang="ko-KR" sz="1600" b="1" dirty="0"/>
              <a:t>(DPO </a:t>
            </a:r>
            <a:r>
              <a:rPr lang="ko-KR" altLang="en-US" sz="1600" b="1" dirty="0"/>
              <a:t>선호도 </a:t>
            </a:r>
            <a:r>
              <a:rPr lang="en-US" altLang="ko-KR" sz="1600" b="1" dirty="0"/>
              <a:t>DATA </a:t>
            </a:r>
            <a:r>
              <a:rPr lang="ko-KR" altLang="en-US" sz="1600" b="1" dirty="0"/>
              <a:t>셋</a:t>
            </a:r>
            <a:r>
              <a:rPr lang="en-US" altLang="ko-KR" sz="1600" b="1" dirty="0"/>
              <a:t>) : </a:t>
            </a:r>
            <a:r>
              <a:rPr lang="ko-KR" altLang="en-US" sz="1600" b="1" dirty="0"/>
              <a:t>소석영</a:t>
            </a:r>
            <a:r>
              <a:rPr lang="en-US" altLang="ko-KR" sz="1600" b="1" dirty="0"/>
              <a:t> </a:t>
            </a:r>
            <a:endParaRPr lang="ko-KR" altLang="en-US" sz="16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F89CED3-46E1-7F44-BFAC-C76B8EE7D581}"/>
              </a:ext>
            </a:extLst>
          </p:cNvPr>
          <p:cNvSpPr txBox="1"/>
          <p:nvPr/>
        </p:nvSpPr>
        <p:spPr>
          <a:xfrm>
            <a:off x="9018132" y="3775424"/>
            <a:ext cx="2308630" cy="120032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ko-KR" sz="1200" b="1" dirty="0">
                <a:highlight>
                  <a:srgbClr val="FFFF00"/>
                </a:highlight>
              </a:rPr>
              <a:t>1. SFT</a:t>
            </a:r>
            <a:r>
              <a:rPr lang="ko-KR" altLang="en-US" sz="1200" b="1" dirty="0">
                <a:highlight>
                  <a:srgbClr val="FFFF00"/>
                </a:highlight>
              </a:rPr>
              <a:t> 추가 골격 검증</a:t>
            </a:r>
            <a:r>
              <a:rPr lang="en-US" altLang="ko-KR" sz="1200" b="1" dirty="0">
                <a:highlight>
                  <a:srgbClr val="FFFF00"/>
                </a:highlight>
              </a:rPr>
              <a:t>(2</a:t>
            </a:r>
            <a:r>
              <a:rPr lang="ko-KR" altLang="en-US" sz="1200" b="1" dirty="0">
                <a:highlight>
                  <a:srgbClr val="FFFF00"/>
                </a:highlight>
              </a:rPr>
              <a:t>차 정제</a:t>
            </a:r>
            <a:r>
              <a:rPr lang="en-US" altLang="ko-KR" sz="1200" b="1" dirty="0">
                <a:highlight>
                  <a:srgbClr val="FFFF00"/>
                </a:highlight>
              </a:rPr>
              <a:t>)</a:t>
            </a:r>
          </a:p>
          <a:p>
            <a:r>
              <a:rPr lang="en-US" altLang="ko-KR" sz="1200" dirty="0"/>
              <a:t>    -  V2 </a:t>
            </a:r>
            <a:r>
              <a:rPr lang="ko-KR" altLang="en-US" sz="1200" dirty="0"/>
              <a:t>데이터셋 </a:t>
            </a:r>
            <a:r>
              <a:rPr lang="en-US" altLang="ko-KR" sz="1200" dirty="0" err="1"/>
              <a:t>json</a:t>
            </a:r>
            <a:r>
              <a:rPr lang="en-US" altLang="ko-KR" sz="1200" dirty="0"/>
              <a:t> </a:t>
            </a:r>
            <a:r>
              <a:rPr lang="ko-KR" altLang="en-US" sz="1200" dirty="0"/>
              <a:t>표현 다양</a:t>
            </a:r>
            <a:endParaRPr lang="en-US" altLang="ko-KR" sz="1200" dirty="0"/>
          </a:p>
          <a:p>
            <a:r>
              <a:rPr lang="en-US" altLang="ko-KR" sz="1200" dirty="0"/>
              <a:t>      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☞</a:t>
            </a:r>
            <a:r>
              <a:rPr lang="en-US" altLang="ko-KR" sz="1200" dirty="0"/>
              <a:t> </a:t>
            </a:r>
            <a:r>
              <a:rPr lang="en-US" altLang="ko-KR" sz="1200" dirty="0" err="1"/>
              <a:t>json</a:t>
            </a:r>
            <a:r>
              <a:rPr lang="en-US" altLang="ko-KR" sz="1200" dirty="0"/>
              <a:t> </a:t>
            </a:r>
            <a:r>
              <a:rPr lang="ko-KR" altLang="en-US" sz="1200" dirty="0"/>
              <a:t>데이터셋 통일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b="1" dirty="0">
                <a:highlight>
                  <a:srgbClr val="FFFF00"/>
                </a:highlight>
              </a:rPr>
              <a:t>2. DPO</a:t>
            </a:r>
            <a:r>
              <a:rPr lang="ko-KR" altLang="en-US" sz="1200" b="1" dirty="0">
                <a:highlight>
                  <a:srgbClr val="FFFF00"/>
                </a:highlight>
              </a:rPr>
              <a:t>을 위한 선호도 데이터셋</a:t>
            </a:r>
            <a:endParaRPr lang="en-US" altLang="ko-KR" sz="1200" b="1" dirty="0">
              <a:highlight>
                <a:srgbClr val="FFFF00"/>
              </a:highlight>
            </a:endParaRPr>
          </a:p>
          <a:p>
            <a:r>
              <a:rPr lang="en-US" altLang="ko-KR" sz="1200" dirty="0"/>
              <a:t>  </a:t>
            </a:r>
            <a:r>
              <a:rPr lang="en-US" altLang="ko-KR" sz="1200" b="1" dirty="0">
                <a:solidFill>
                  <a:srgbClr val="FF0000"/>
                </a:solidFill>
              </a:rPr>
              <a:t>(</a:t>
            </a:r>
            <a:r>
              <a:rPr lang="ko-KR" altLang="en-US" sz="1200" b="1" dirty="0">
                <a:solidFill>
                  <a:srgbClr val="FF0000"/>
                </a:solidFill>
              </a:rPr>
              <a:t>정답지</a:t>
            </a:r>
            <a:r>
              <a:rPr lang="en-US" altLang="ko-KR" sz="1200" b="1" dirty="0">
                <a:solidFill>
                  <a:srgbClr val="FF0000"/>
                </a:solidFill>
              </a:rPr>
              <a:t>-</a:t>
            </a:r>
            <a:r>
              <a:rPr lang="ko-KR" altLang="en-US" sz="1200" b="1" dirty="0">
                <a:solidFill>
                  <a:srgbClr val="FF0000"/>
                </a:solidFill>
              </a:rPr>
              <a:t>오답지</a:t>
            </a:r>
            <a:r>
              <a:rPr lang="en-US" altLang="ko-KR" sz="1200" b="1" dirty="0">
                <a:solidFill>
                  <a:srgbClr val="FF0000"/>
                </a:solidFill>
              </a:rPr>
              <a:t>) =&gt; </a:t>
            </a:r>
            <a:r>
              <a:rPr lang="ko-KR" altLang="en-US" sz="1200" b="1" dirty="0">
                <a:solidFill>
                  <a:srgbClr val="FF0000"/>
                </a:solidFill>
              </a:rPr>
              <a:t>약 </a:t>
            </a:r>
            <a:r>
              <a:rPr lang="en-US" altLang="ko-KR" sz="1200" b="1" dirty="0">
                <a:solidFill>
                  <a:srgbClr val="FF0000"/>
                </a:solidFill>
              </a:rPr>
              <a:t>21,000</a:t>
            </a:r>
            <a:r>
              <a:rPr lang="ko-KR" altLang="en-US" sz="1200" b="1" dirty="0">
                <a:solidFill>
                  <a:srgbClr val="FF0000"/>
                </a:solidFill>
              </a:rPr>
              <a:t>개</a:t>
            </a:r>
          </a:p>
        </p:txBody>
      </p:sp>
      <p:sp>
        <p:nvSpPr>
          <p:cNvPr id="43" name="Rectangle 2">
            <a:extLst>
              <a:ext uri="{FF2B5EF4-FFF2-40B4-BE49-F238E27FC236}">
                <a16:creationId xmlns:a16="http://schemas.microsoft.com/office/drawing/2014/main" id="{FED19926-4F0D-C179-CC0F-DC3CAA552B9C}"/>
              </a:ext>
            </a:extLst>
          </p:cNvPr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C6252C2-AA9E-98DF-3ECC-4035F3300673}"/>
              </a:ext>
            </a:extLst>
          </p:cNvPr>
          <p:cNvSpPr txBox="1"/>
          <p:nvPr/>
        </p:nvSpPr>
        <p:spPr>
          <a:xfrm>
            <a:off x="2502308" y="2281019"/>
            <a:ext cx="1125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한글변환</a:t>
            </a:r>
          </a:p>
        </p:txBody>
      </p:sp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3778FF26-C2DD-47C2-2D6C-1BBB1D5A9000}"/>
              </a:ext>
            </a:extLst>
          </p:cNvPr>
          <p:cNvSpPr/>
          <p:nvPr/>
        </p:nvSpPr>
        <p:spPr>
          <a:xfrm>
            <a:off x="2143432" y="2297548"/>
            <a:ext cx="393291" cy="302987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04897C-C8EF-53AE-F744-CE613672D9C2}"/>
              </a:ext>
            </a:extLst>
          </p:cNvPr>
          <p:cNvSpPr txBox="1"/>
          <p:nvPr/>
        </p:nvSpPr>
        <p:spPr>
          <a:xfrm>
            <a:off x="1242142" y="3138024"/>
            <a:ext cx="5407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dirty="0">
                <a:solidFill>
                  <a:srgbClr val="C00000"/>
                </a:solidFill>
              </a:rPr>
              <a:t>V1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FA8FD3-8494-7070-44F2-71B9C3845C3A}"/>
              </a:ext>
            </a:extLst>
          </p:cNvPr>
          <p:cNvSpPr txBox="1"/>
          <p:nvPr/>
        </p:nvSpPr>
        <p:spPr>
          <a:xfrm>
            <a:off x="6675776" y="3153357"/>
            <a:ext cx="5407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dirty="0">
                <a:solidFill>
                  <a:srgbClr val="C00000"/>
                </a:solidFill>
              </a:rPr>
              <a:t>V2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412B38-3D99-55A4-6C77-3A6558D984C5}"/>
              </a:ext>
            </a:extLst>
          </p:cNvPr>
          <p:cNvSpPr txBox="1"/>
          <p:nvPr/>
        </p:nvSpPr>
        <p:spPr>
          <a:xfrm>
            <a:off x="9404236" y="3138609"/>
            <a:ext cx="5407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dirty="0">
                <a:solidFill>
                  <a:srgbClr val="C00000"/>
                </a:solidFill>
              </a:rPr>
              <a:t>V3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540B93-9990-76DD-AEB6-5FC467877D31}"/>
              </a:ext>
            </a:extLst>
          </p:cNvPr>
          <p:cNvSpPr txBox="1"/>
          <p:nvPr/>
        </p:nvSpPr>
        <p:spPr>
          <a:xfrm>
            <a:off x="3950934" y="3152773"/>
            <a:ext cx="5407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dirty="0">
                <a:solidFill>
                  <a:srgbClr val="C00000"/>
                </a:solidFill>
              </a:rPr>
              <a:t>V1</a:t>
            </a:r>
            <a:endParaRPr lang="ko-KR" altLang="en-US" dirty="0"/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D3BC9432-513C-561C-5DF7-DFF0860DF438}"/>
              </a:ext>
            </a:extLst>
          </p:cNvPr>
          <p:cNvCxnSpPr/>
          <p:nvPr/>
        </p:nvCxnSpPr>
        <p:spPr>
          <a:xfrm flipV="1">
            <a:off x="1719151" y="3305173"/>
            <a:ext cx="2170026" cy="15333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F325BB0-4D9D-EE85-89DF-9A8B586EA620}"/>
              </a:ext>
            </a:extLst>
          </p:cNvPr>
          <p:cNvSpPr txBox="1"/>
          <p:nvPr/>
        </p:nvSpPr>
        <p:spPr>
          <a:xfrm>
            <a:off x="6083527" y="5428734"/>
            <a:ext cx="214193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질문과 답변</a:t>
            </a:r>
            <a:endParaRPr lang="en-US" altLang="ko-KR" dirty="0"/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ko-KR" altLang="en-US" dirty="0"/>
              <a:t>특정 도메인이나</a:t>
            </a:r>
            <a:endParaRPr lang="en-US" altLang="ko-KR" dirty="0"/>
          </a:p>
          <a:p>
            <a:r>
              <a:rPr lang="en-US" altLang="ko-KR" dirty="0"/>
              <a:t>      </a:t>
            </a:r>
            <a:r>
              <a:rPr lang="ko-KR" altLang="en-US" dirty="0"/>
              <a:t>대화 방식 학습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FD12CC0-5991-0B8A-A9B8-4B01A54ED50F}"/>
              </a:ext>
            </a:extLst>
          </p:cNvPr>
          <p:cNvSpPr txBox="1"/>
          <p:nvPr/>
        </p:nvSpPr>
        <p:spPr>
          <a:xfrm>
            <a:off x="9023701" y="5428321"/>
            <a:ext cx="269077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사</a:t>
            </a:r>
            <a:r>
              <a:rPr lang="ko-KR" altLang="ko-KR" dirty="0"/>
              <a:t>람 선호하는 응답과 </a:t>
            </a:r>
            <a:endParaRPr lang="en-US" altLang="ko-KR" dirty="0"/>
          </a:p>
          <a:p>
            <a:r>
              <a:rPr lang="ko-KR" altLang="ko-KR" dirty="0"/>
              <a:t>그렇지 않은 응답 데이터</a:t>
            </a:r>
            <a:endParaRPr lang="en-US" altLang="ko-KR" dirty="0"/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ko-KR" altLang="en-US" dirty="0"/>
              <a:t>사람 선호도 맞춰</a:t>
            </a:r>
            <a:r>
              <a:rPr lang="en-US" altLang="ko-KR" dirty="0"/>
              <a:t> </a:t>
            </a:r>
            <a:r>
              <a:rPr lang="ko-KR" altLang="en-US" dirty="0"/>
              <a:t>정렬</a:t>
            </a:r>
          </a:p>
        </p:txBody>
      </p:sp>
    </p:spTree>
    <p:extLst>
      <p:ext uri="{BB962C8B-B14F-4D97-AF65-F5344CB8AC3E}">
        <p14:creationId xmlns:p14="http://schemas.microsoft.com/office/powerpoint/2010/main" val="1522651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EA776-624B-A7B6-FA23-1FB0D962D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5ADCC2C-5373-6866-4B44-CCA6D0C689B1}"/>
              </a:ext>
            </a:extLst>
          </p:cNvPr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5C167F-966A-A29D-32F1-CEBD1F8108B7}"/>
              </a:ext>
            </a:extLst>
          </p:cNvPr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DATA SOURCE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213B51-4F5F-68C5-BF54-1D12539BC1F9}"/>
              </a:ext>
            </a:extLst>
          </p:cNvPr>
          <p:cNvSpPr txBox="1"/>
          <p:nvPr/>
        </p:nvSpPr>
        <p:spPr>
          <a:xfrm>
            <a:off x="457200" y="384048"/>
            <a:ext cx="1124712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2600" b="1" i="0" dirty="0">
                <a:solidFill>
                  <a:srgbClr val="FFFFFF"/>
                </a:solidFill>
                <a:latin typeface="Noto Sans CJK KR"/>
              </a:rPr>
              <a:t>원본 </a:t>
            </a:r>
            <a:r>
              <a:rPr sz="2600" b="1" i="0" dirty="0" err="1">
                <a:solidFill>
                  <a:srgbClr val="FFFFFF"/>
                </a:solidFill>
                <a:latin typeface="Noto Sans CJK KR"/>
              </a:rPr>
              <a:t>데이터셋</a:t>
            </a:r>
            <a:r>
              <a:rPr lang="ko-KR" altLang="en-US" sz="2600" b="1" i="0" dirty="0">
                <a:solidFill>
                  <a:srgbClr val="FFFFFF"/>
                </a:solidFill>
                <a:latin typeface="Noto Sans CJK KR"/>
              </a:rPr>
              <a:t>과 증강 </a:t>
            </a:r>
            <a:r>
              <a:rPr lang="en-US" altLang="ko-KR" sz="2600" b="1" dirty="0">
                <a:solidFill>
                  <a:srgbClr val="FFFFFF"/>
                </a:solidFill>
                <a:latin typeface="Noto Sans CJK KR"/>
              </a:rPr>
              <a:t>- </a:t>
            </a:r>
            <a:r>
              <a:rPr lang="ko-KR" altLang="en-US" sz="2600" b="1" i="0" dirty="0">
                <a:solidFill>
                  <a:srgbClr val="FFFFFF"/>
                </a:solidFill>
                <a:latin typeface="Noto Sans CJK KR"/>
              </a:rPr>
              <a:t>처리 절차</a:t>
            </a:r>
            <a:endParaRPr sz="2600" b="1" i="0" dirty="0">
              <a:solidFill>
                <a:srgbClr val="FFFFFF"/>
              </a:solidFill>
              <a:latin typeface="Noto Sans CJK KR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0CC2723-B5AA-2B92-266C-7E8C20C13B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01496"/>
            <a:ext cx="11135360" cy="5236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Noto Sans CJK KR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084521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AD00A-61F8-CF0B-1B6E-5B00E8538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7CB5823-30B6-2A12-1D00-7CAAF5819D5A}"/>
              </a:ext>
            </a:extLst>
          </p:cNvPr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EF4D58-BD8D-1361-648C-B5237386037C}"/>
              </a:ext>
            </a:extLst>
          </p:cNvPr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DATA SOURCE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360CFA-DEB9-1E32-411D-030F24EA6967}"/>
              </a:ext>
            </a:extLst>
          </p:cNvPr>
          <p:cNvSpPr txBox="1"/>
          <p:nvPr/>
        </p:nvSpPr>
        <p:spPr>
          <a:xfrm>
            <a:off x="457200" y="384048"/>
            <a:ext cx="1124712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2600" b="1" i="0" dirty="0">
                <a:solidFill>
                  <a:srgbClr val="FFFFFF"/>
                </a:solidFill>
                <a:latin typeface="Noto Sans CJK KR"/>
              </a:rPr>
              <a:t>원본 </a:t>
            </a:r>
            <a:r>
              <a:rPr sz="2600" b="1" i="0" dirty="0" err="1">
                <a:solidFill>
                  <a:srgbClr val="FFFFFF"/>
                </a:solidFill>
                <a:latin typeface="Noto Sans CJK KR"/>
              </a:rPr>
              <a:t>데이터셋</a:t>
            </a:r>
            <a:r>
              <a:rPr lang="ko-KR" altLang="en-US" sz="2600" b="1" i="0" dirty="0">
                <a:solidFill>
                  <a:srgbClr val="FFFFFF"/>
                </a:solidFill>
                <a:latin typeface="Noto Sans CJK KR"/>
              </a:rPr>
              <a:t>과 증강 </a:t>
            </a:r>
            <a:r>
              <a:rPr lang="en-US" altLang="ko-KR" sz="2600" b="1" dirty="0">
                <a:solidFill>
                  <a:srgbClr val="FFFFFF"/>
                </a:solidFill>
                <a:latin typeface="Noto Sans CJK KR"/>
              </a:rPr>
              <a:t>- </a:t>
            </a:r>
            <a:r>
              <a:rPr lang="ko-KR" altLang="en-US" sz="2600" b="1" i="0" dirty="0">
                <a:solidFill>
                  <a:srgbClr val="FFFFFF"/>
                </a:solidFill>
                <a:latin typeface="Noto Sans CJK KR"/>
              </a:rPr>
              <a:t>처리 절차</a:t>
            </a:r>
            <a:endParaRPr sz="2600" b="1" i="0" dirty="0">
              <a:solidFill>
                <a:srgbClr val="FFFFFF"/>
              </a:solidFill>
              <a:latin typeface="Noto Sans CJK KR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D70D420-D8CB-0C84-34C4-CB7A89100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320" y="1257066"/>
            <a:ext cx="11277600" cy="53010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Noto Sans CJK KR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960532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39A91-F4F4-3C31-4ACE-0504DF439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7269BA8-EC50-CEAD-0996-96F10CC933D9}"/>
              </a:ext>
            </a:extLst>
          </p:cNvPr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65C53A-63C2-5370-13EC-813A487A973C}"/>
              </a:ext>
            </a:extLst>
          </p:cNvPr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135AF3-C496-57EF-D6CB-B052AF1562BB}"/>
              </a:ext>
            </a:extLst>
          </p:cNvPr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DATA SOURCE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AA8C85-EDCC-BCFD-68BC-383ECF7490C1}"/>
              </a:ext>
            </a:extLst>
          </p:cNvPr>
          <p:cNvSpPr txBox="1"/>
          <p:nvPr/>
        </p:nvSpPr>
        <p:spPr>
          <a:xfrm>
            <a:off x="457200" y="384048"/>
            <a:ext cx="1124712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dirty="0" err="1">
                <a:solidFill>
                  <a:srgbClr val="FFFFFF"/>
                </a:solidFill>
                <a:latin typeface="Noto Sans CJK KR"/>
              </a:rPr>
              <a:t>원본</a:t>
            </a:r>
            <a:r>
              <a:rPr sz="2600" b="1" i="0" dirty="0">
                <a:solidFill>
                  <a:srgbClr val="FFFFFF"/>
                </a:solidFill>
                <a:latin typeface="Noto Sans CJK KR"/>
              </a:rPr>
              <a:t> </a:t>
            </a:r>
            <a:r>
              <a:rPr sz="2600" b="1" i="0" dirty="0" err="1">
                <a:solidFill>
                  <a:srgbClr val="FFFFFF"/>
                </a:solidFill>
                <a:latin typeface="Noto Sans CJK KR"/>
              </a:rPr>
              <a:t>데이터셋과</a:t>
            </a:r>
            <a:r>
              <a:rPr sz="2600" b="1" i="0" dirty="0">
                <a:solidFill>
                  <a:srgbClr val="FFFFFF"/>
                </a:solidFill>
                <a:latin typeface="Noto Sans CJK KR"/>
              </a:rPr>
              <a:t> </a:t>
            </a:r>
            <a:r>
              <a:rPr sz="2600" b="1" i="0" dirty="0" err="1">
                <a:solidFill>
                  <a:srgbClr val="FFFFFF"/>
                </a:solidFill>
                <a:latin typeface="Noto Sans CJK KR"/>
              </a:rPr>
              <a:t>증강</a:t>
            </a:r>
            <a:r>
              <a:rPr sz="2600" b="1" i="0" dirty="0">
                <a:solidFill>
                  <a:srgbClr val="FFFFFF"/>
                </a:solidFill>
                <a:latin typeface="Noto Sans CJK KR"/>
              </a:rPr>
              <a:t> — </a:t>
            </a:r>
            <a:r>
              <a:rPr lang="en-US" sz="2600" b="1" i="0" dirty="0">
                <a:solidFill>
                  <a:srgbClr val="FFFFFF"/>
                </a:solidFill>
                <a:latin typeface="Noto Sans CJK KR"/>
              </a:rPr>
              <a:t>V1(</a:t>
            </a:r>
            <a:r>
              <a:rPr lang="ko-KR" altLang="en-US" sz="2600" b="1" i="0" dirty="0">
                <a:solidFill>
                  <a:srgbClr val="FFFFFF"/>
                </a:solidFill>
                <a:latin typeface="Noto Sans CJK KR"/>
              </a:rPr>
              <a:t>원시데이터 생성</a:t>
            </a:r>
            <a:r>
              <a:rPr lang="en-US" altLang="ko-KR" sz="2600" b="1" i="0" dirty="0">
                <a:solidFill>
                  <a:srgbClr val="FFFFFF"/>
                </a:solidFill>
                <a:latin typeface="Noto Sans CJK KR"/>
              </a:rPr>
              <a:t>)</a:t>
            </a:r>
            <a:endParaRPr sz="2600" b="1" i="0" dirty="0">
              <a:solidFill>
                <a:srgbClr val="FFFFFF"/>
              </a:solidFill>
              <a:latin typeface="Noto Sans CJK KR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F07A196-803C-8389-8B1E-7C4DBFAAB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60" y="1261416"/>
            <a:ext cx="4546007" cy="393124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275FEEC0-4B3C-C5FA-50FC-2C9B98A762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8919" y="1269904"/>
            <a:ext cx="7129562" cy="393124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371DD1B-121A-AD7D-62A3-4E5E747238E8}"/>
              </a:ext>
            </a:extLst>
          </p:cNvPr>
          <p:cNvSpPr txBox="1"/>
          <p:nvPr/>
        </p:nvSpPr>
        <p:spPr>
          <a:xfrm>
            <a:off x="690880" y="5400127"/>
            <a:ext cx="3052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우선순위 없음</a:t>
            </a:r>
            <a:r>
              <a:rPr lang="en-US" altLang="ko-KR" dirty="0"/>
              <a:t> =&gt; </a:t>
            </a:r>
            <a:r>
              <a:rPr lang="ko-KR" altLang="en-US" dirty="0"/>
              <a:t>최상의 </a:t>
            </a:r>
            <a:r>
              <a:rPr lang="en-US" altLang="ko-KR" dirty="0"/>
              <a:t>1</a:t>
            </a:r>
            <a:r>
              <a:rPr lang="ko-KR" altLang="en-US" dirty="0"/>
              <a:t>개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037CD43-69C8-D28C-0BE2-CEB963099FFF}"/>
              </a:ext>
            </a:extLst>
          </p:cNvPr>
          <p:cNvSpPr txBox="1"/>
          <p:nvPr/>
        </p:nvSpPr>
        <p:spPr>
          <a:xfrm>
            <a:off x="6532880" y="5411923"/>
            <a:ext cx="3586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우선순위 없음</a:t>
            </a:r>
            <a:r>
              <a:rPr lang="en-US" altLang="ko-KR" dirty="0"/>
              <a:t> =&gt; “</a:t>
            </a:r>
            <a:r>
              <a:rPr lang="ko-KR" altLang="en-US" dirty="0"/>
              <a:t>페르소나 표현</a:t>
            </a:r>
            <a:r>
              <a:rPr lang="en-US" altLang="ko-KR" dirty="0"/>
              <a:t>”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0FE548-565F-0237-882C-4D826FD0A01D}"/>
              </a:ext>
            </a:extLst>
          </p:cNvPr>
          <p:cNvSpPr txBox="1"/>
          <p:nvPr/>
        </p:nvSpPr>
        <p:spPr>
          <a:xfrm>
            <a:off x="1603401" y="6174809"/>
            <a:ext cx="1342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“</a:t>
            </a:r>
            <a:r>
              <a:rPr lang="ko-KR" altLang="en-US" dirty="0"/>
              <a:t>한글변환</a:t>
            </a:r>
            <a:r>
              <a:rPr lang="en-US" altLang="ko-KR" dirty="0"/>
              <a:t>”</a:t>
            </a:r>
            <a:endParaRPr lang="ko-KR" altLang="en-US" dirty="0"/>
          </a:p>
        </p:txBody>
      </p:sp>
      <p:sp>
        <p:nvSpPr>
          <p:cNvPr id="8" name="화살표: 아래쪽 7">
            <a:extLst>
              <a:ext uri="{FF2B5EF4-FFF2-40B4-BE49-F238E27FC236}">
                <a16:creationId xmlns:a16="http://schemas.microsoft.com/office/drawing/2014/main" id="{4E01B8E7-C441-0770-B3FE-D6A09777A672}"/>
              </a:ext>
            </a:extLst>
          </p:cNvPr>
          <p:cNvSpPr/>
          <p:nvPr/>
        </p:nvSpPr>
        <p:spPr>
          <a:xfrm>
            <a:off x="2079447" y="5805910"/>
            <a:ext cx="339289" cy="335756"/>
          </a:xfrm>
          <a:prstGeom prst="down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Noto Sans CJK KR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150364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2328B-C49C-B977-1C2C-0CF6A5386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C8AB8E-63F2-9F9E-A300-E71FFF417456}"/>
              </a:ext>
            </a:extLst>
          </p:cNvPr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1C85D7-442B-68B0-0C79-41ED640A96A3}"/>
              </a:ext>
            </a:extLst>
          </p:cNvPr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36585B-DD12-4910-DAA3-D5DCE9729E5B}"/>
              </a:ext>
            </a:extLst>
          </p:cNvPr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DATA SOURCE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D4CBBA-7939-8FFC-01A6-DC140AD808C3}"/>
              </a:ext>
            </a:extLst>
          </p:cNvPr>
          <p:cNvSpPr txBox="1"/>
          <p:nvPr/>
        </p:nvSpPr>
        <p:spPr>
          <a:xfrm>
            <a:off x="457200" y="384048"/>
            <a:ext cx="1124712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dirty="0" err="1">
                <a:solidFill>
                  <a:srgbClr val="FFFFFF"/>
                </a:solidFill>
                <a:latin typeface="Noto Sans CJK KR"/>
              </a:rPr>
              <a:t>원본</a:t>
            </a:r>
            <a:r>
              <a:rPr sz="2600" b="1" i="0" dirty="0">
                <a:solidFill>
                  <a:srgbClr val="FFFFFF"/>
                </a:solidFill>
                <a:latin typeface="Noto Sans CJK KR"/>
              </a:rPr>
              <a:t> </a:t>
            </a:r>
            <a:r>
              <a:rPr sz="2600" b="1" i="0" dirty="0" err="1">
                <a:solidFill>
                  <a:srgbClr val="FFFFFF"/>
                </a:solidFill>
                <a:latin typeface="Noto Sans CJK KR"/>
              </a:rPr>
              <a:t>데이터셋과</a:t>
            </a:r>
            <a:r>
              <a:rPr sz="2600" b="1" i="0" dirty="0">
                <a:solidFill>
                  <a:srgbClr val="FFFFFF"/>
                </a:solidFill>
                <a:latin typeface="Noto Sans CJK KR"/>
              </a:rPr>
              <a:t> </a:t>
            </a:r>
            <a:r>
              <a:rPr sz="2600" b="1" i="0" dirty="0" err="1">
                <a:solidFill>
                  <a:srgbClr val="FFFFFF"/>
                </a:solidFill>
                <a:latin typeface="Noto Sans CJK KR"/>
              </a:rPr>
              <a:t>증강</a:t>
            </a:r>
            <a:r>
              <a:rPr sz="2600" b="1" i="0" dirty="0">
                <a:solidFill>
                  <a:srgbClr val="FFFFFF"/>
                </a:solidFill>
                <a:latin typeface="Noto Sans CJK KR"/>
              </a:rPr>
              <a:t> — </a:t>
            </a:r>
            <a:r>
              <a:rPr lang="en-US" sz="2600" b="1" i="0" dirty="0">
                <a:solidFill>
                  <a:srgbClr val="FFFFFF"/>
                </a:solidFill>
                <a:latin typeface="Noto Sans CJK KR"/>
              </a:rPr>
              <a:t>V1(</a:t>
            </a:r>
            <a:r>
              <a:rPr lang="ko-KR" altLang="en-US" sz="2600" b="1" i="0" dirty="0">
                <a:solidFill>
                  <a:srgbClr val="FFFFFF"/>
                </a:solidFill>
                <a:latin typeface="Noto Sans CJK KR"/>
              </a:rPr>
              <a:t>원시데이터 생성</a:t>
            </a:r>
            <a:r>
              <a:rPr lang="en-US" altLang="ko-KR" sz="2600" b="1" i="0" dirty="0">
                <a:solidFill>
                  <a:srgbClr val="FFFFFF"/>
                </a:solidFill>
                <a:latin typeface="Noto Sans CJK KR"/>
              </a:rPr>
              <a:t>)</a:t>
            </a:r>
            <a:endParaRPr sz="2600" b="1" i="0" dirty="0">
              <a:solidFill>
                <a:srgbClr val="FFFFFF"/>
              </a:solidFill>
              <a:latin typeface="Noto Sans CJK KR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A41AD83-A87D-09FA-5ADD-EBA628B0C2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955" y="1225995"/>
            <a:ext cx="5727805" cy="497160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238D39F-61F8-7B9E-D609-C428C59FEC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0600" y="1217285"/>
            <a:ext cx="5854805" cy="498031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Noto Sans CJK KR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228619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24FE8-101C-2C8B-2916-280A5E636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E45BAC-9B79-158C-2F8F-430B6D4DD00A}"/>
              </a:ext>
            </a:extLst>
          </p:cNvPr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F151A2-F20E-1D25-F555-7D2844ECA66C}"/>
              </a:ext>
            </a:extLst>
          </p:cNvPr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DFE351-5040-FE3A-7D43-CB14F3748361}"/>
              </a:ext>
            </a:extLst>
          </p:cNvPr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DATA SOURCE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E895470-B478-18E5-E837-D9F3120E5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33" y="1236789"/>
            <a:ext cx="5920707" cy="447575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C93792D4-2B30-54C6-DC43-C3BEDB5A7CF5}"/>
              </a:ext>
            </a:extLst>
          </p:cNvPr>
          <p:cNvGrpSpPr/>
          <p:nvPr/>
        </p:nvGrpSpPr>
        <p:grpSpPr>
          <a:xfrm>
            <a:off x="6198317" y="1229043"/>
            <a:ext cx="5818389" cy="5462841"/>
            <a:chOff x="6310079" y="1188403"/>
            <a:chExt cx="5635508" cy="5269008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9C762DCD-71D5-6739-B7E4-7312AFA6F9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10079" y="2603723"/>
              <a:ext cx="5635507" cy="3853688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3DAF3BE2-4467-D917-C470-CEDF4E2BFA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10080" y="1188403"/>
              <a:ext cx="5635507" cy="2161601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2FE8DB73-B40C-54C7-84E7-AA91B262393D}"/>
              </a:ext>
            </a:extLst>
          </p:cNvPr>
          <p:cNvSpPr txBox="1"/>
          <p:nvPr/>
        </p:nvSpPr>
        <p:spPr>
          <a:xfrm>
            <a:off x="457200" y="373888"/>
            <a:ext cx="1124712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dirty="0" err="1">
                <a:solidFill>
                  <a:srgbClr val="FFFFFF"/>
                </a:solidFill>
                <a:latin typeface="Noto Sans CJK KR"/>
              </a:rPr>
              <a:t>원본</a:t>
            </a:r>
            <a:r>
              <a:rPr sz="2600" b="1" i="0" dirty="0">
                <a:solidFill>
                  <a:srgbClr val="FFFFFF"/>
                </a:solidFill>
                <a:latin typeface="Noto Sans CJK KR"/>
              </a:rPr>
              <a:t> </a:t>
            </a:r>
            <a:r>
              <a:rPr sz="2600" b="1" i="0" dirty="0" err="1">
                <a:solidFill>
                  <a:srgbClr val="FFFFFF"/>
                </a:solidFill>
                <a:latin typeface="Noto Sans CJK KR"/>
              </a:rPr>
              <a:t>데이터셋과</a:t>
            </a:r>
            <a:r>
              <a:rPr sz="2600" b="1" i="0" dirty="0">
                <a:solidFill>
                  <a:srgbClr val="FFFFFF"/>
                </a:solidFill>
                <a:latin typeface="Noto Sans CJK KR"/>
              </a:rPr>
              <a:t> </a:t>
            </a:r>
            <a:r>
              <a:rPr sz="2600" b="1" i="0" dirty="0" err="1">
                <a:solidFill>
                  <a:srgbClr val="FFFFFF"/>
                </a:solidFill>
                <a:latin typeface="Noto Sans CJK KR"/>
              </a:rPr>
              <a:t>증강</a:t>
            </a:r>
            <a:r>
              <a:rPr sz="2600" b="1" i="0" dirty="0">
                <a:solidFill>
                  <a:srgbClr val="FFFFFF"/>
                </a:solidFill>
                <a:latin typeface="Noto Sans CJK KR"/>
              </a:rPr>
              <a:t> — </a:t>
            </a:r>
            <a:r>
              <a:rPr lang="en-US" sz="2600" b="1" i="0" dirty="0">
                <a:solidFill>
                  <a:srgbClr val="FFFFFF"/>
                </a:solidFill>
                <a:latin typeface="Noto Sans CJK KR"/>
              </a:rPr>
              <a:t>V2(</a:t>
            </a:r>
            <a:r>
              <a:rPr lang="en-US" altLang="ko-KR" sz="2600" b="1" i="0" dirty="0">
                <a:solidFill>
                  <a:srgbClr val="FFFFFF"/>
                </a:solidFill>
                <a:latin typeface="Noto Sans CJK KR"/>
              </a:rPr>
              <a:t>SFT </a:t>
            </a:r>
            <a:r>
              <a:rPr lang="ko-KR" altLang="en-US" sz="2600" b="1" i="0" dirty="0">
                <a:solidFill>
                  <a:srgbClr val="FFFFFF"/>
                </a:solidFill>
                <a:latin typeface="Noto Sans CJK KR"/>
              </a:rPr>
              <a:t>데이터셋</a:t>
            </a:r>
            <a:r>
              <a:rPr lang="en-US" altLang="ko-KR" sz="2600" b="1" i="0" dirty="0">
                <a:solidFill>
                  <a:srgbClr val="FFFFFF"/>
                </a:solidFill>
                <a:latin typeface="Noto Sans CJK KR"/>
              </a:rPr>
              <a:t>)</a:t>
            </a:r>
            <a:endParaRPr sz="2600" b="1" i="0" dirty="0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Noto Sans CJK KR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5019906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42E6C-7C94-9039-5C84-4F2C91B3E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F68662C-FE46-78DC-4A18-071863FE7872}"/>
              </a:ext>
            </a:extLst>
          </p:cNvPr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84251A-E4EA-FAD6-DCCE-0A08F290FFE4}"/>
              </a:ext>
            </a:extLst>
          </p:cNvPr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ED8539-B330-3F97-C59B-B8B57BA7CD15}"/>
              </a:ext>
            </a:extLst>
          </p:cNvPr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DATA SOURCE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AE5F7A-8B83-2A1A-0B9B-481FB50E053A}"/>
              </a:ext>
            </a:extLst>
          </p:cNvPr>
          <p:cNvSpPr txBox="1"/>
          <p:nvPr/>
        </p:nvSpPr>
        <p:spPr>
          <a:xfrm>
            <a:off x="457200" y="373888"/>
            <a:ext cx="1124712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dirty="0" err="1">
                <a:solidFill>
                  <a:srgbClr val="FFFFFF"/>
                </a:solidFill>
                <a:latin typeface="Noto Sans CJK KR"/>
              </a:rPr>
              <a:t>원본</a:t>
            </a:r>
            <a:r>
              <a:rPr sz="2600" b="1" i="0" dirty="0">
                <a:solidFill>
                  <a:srgbClr val="FFFFFF"/>
                </a:solidFill>
                <a:latin typeface="Noto Sans CJK KR"/>
              </a:rPr>
              <a:t> </a:t>
            </a:r>
            <a:r>
              <a:rPr sz="2600" b="1" i="0" dirty="0" err="1">
                <a:solidFill>
                  <a:srgbClr val="FFFFFF"/>
                </a:solidFill>
                <a:latin typeface="Noto Sans CJK KR"/>
              </a:rPr>
              <a:t>데이터셋과</a:t>
            </a:r>
            <a:r>
              <a:rPr sz="2600" b="1" i="0" dirty="0">
                <a:solidFill>
                  <a:srgbClr val="FFFFFF"/>
                </a:solidFill>
                <a:latin typeface="Noto Sans CJK KR"/>
              </a:rPr>
              <a:t> </a:t>
            </a:r>
            <a:r>
              <a:rPr sz="2600" b="1" i="0" dirty="0" err="1">
                <a:solidFill>
                  <a:srgbClr val="FFFFFF"/>
                </a:solidFill>
                <a:latin typeface="Noto Sans CJK KR"/>
              </a:rPr>
              <a:t>증강</a:t>
            </a:r>
            <a:r>
              <a:rPr sz="2600" b="1" i="0" dirty="0">
                <a:solidFill>
                  <a:srgbClr val="FFFFFF"/>
                </a:solidFill>
                <a:latin typeface="Noto Sans CJK KR"/>
              </a:rPr>
              <a:t> — </a:t>
            </a:r>
            <a:r>
              <a:rPr lang="en-US" sz="2600" b="1" i="0" dirty="0">
                <a:solidFill>
                  <a:srgbClr val="FFFFFF"/>
                </a:solidFill>
                <a:latin typeface="Noto Sans CJK KR"/>
              </a:rPr>
              <a:t>V2(</a:t>
            </a:r>
            <a:r>
              <a:rPr lang="en-US" altLang="ko-KR" sz="2600" b="1" i="0" dirty="0">
                <a:solidFill>
                  <a:srgbClr val="FFFFFF"/>
                </a:solidFill>
                <a:latin typeface="Noto Sans CJK KR"/>
              </a:rPr>
              <a:t>SFT </a:t>
            </a:r>
            <a:r>
              <a:rPr lang="ko-KR" altLang="en-US" sz="2600" b="1" i="0" dirty="0">
                <a:solidFill>
                  <a:srgbClr val="FFFFFF"/>
                </a:solidFill>
                <a:latin typeface="Noto Sans CJK KR"/>
              </a:rPr>
              <a:t>데이터셋</a:t>
            </a:r>
            <a:r>
              <a:rPr lang="en-US" altLang="ko-KR" sz="2600" b="1" i="0" dirty="0">
                <a:solidFill>
                  <a:srgbClr val="FFFFFF"/>
                </a:solidFill>
                <a:latin typeface="Noto Sans CJK KR"/>
              </a:rPr>
              <a:t>)</a:t>
            </a:r>
            <a:endParaRPr sz="2600" b="1" i="0" dirty="0">
              <a:solidFill>
                <a:srgbClr val="FFFFFF"/>
              </a:solidFill>
              <a:latin typeface="Noto Sans CJK KR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5221EA8-0448-84C9-B798-9C042C3940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77622"/>
            <a:ext cx="6126480" cy="498695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BE9967A-D116-3CED-A939-2EDEAC07D7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1120" y="1177622"/>
            <a:ext cx="5598028" cy="498695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Noto Sans CJK KR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2423742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153F7-1EB3-FAE0-9121-A9F9905B2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5578854-D2F1-0DD5-13F8-5F74F2F72B0F}"/>
              </a:ext>
            </a:extLst>
          </p:cNvPr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E114C8-59A5-6DF0-D902-D24D8CD2A222}"/>
              </a:ext>
            </a:extLst>
          </p:cNvPr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047752-3DD4-F38E-3060-F57B3152801B}"/>
              </a:ext>
            </a:extLst>
          </p:cNvPr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DATA SOURCE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1F2C3C-A650-6D66-D9F4-41E1D0275EAB}"/>
              </a:ext>
            </a:extLst>
          </p:cNvPr>
          <p:cNvSpPr txBox="1"/>
          <p:nvPr/>
        </p:nvSpPr>
        <p:spPr>
          <a:xfrm>
            <a:off x="457200" y="373888"/>
            <a:ext cx="1124712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dirty="0" err="1">
                <a:solidFill>
                  <a:srgbClr val="FFFFFF"/>
                </a:solidFill>
                <a:latin typeface="Noto Sans CJK KR"/>
              </a:rPr>
              <a:t>원본</a:t>
            </a:r>
            <a:r>
              <a:rPr sz="2600" b="1" i="0" dirty="0">
                <a:solidFill>
                  <a:srgbClr val="FFFFFF"/>
                </a:solidFill>
                <a:latin typeface="Noto Sans CJK KR"/>
              </a:rPr>
              <a:t> </a:t>
            </a:r>
            <a:r>
              <a:rPr sz="2600" b="1" i="0" dirty="0" err="1">
                <a:solidFill>
                  <a:srgbClr val="FFFFFF"/>
                </a:solidFill>
                <a:latin typeface="Noto Sans CJK KR"/>
              </a:rPr>
              <a:t>데이터셋과</a:t>
            </a:r>
            <a:r>
              <a:rPr sz="2600" b="1" i="0" dirty="0">
                <a:solidFill>
                  <a:srgbClr val="FFFFFF"/>
                </a:solidFill>
                <a:latin typeface="Noto Sans CJK KR"/>
              </a:rPr>
              <a:t> </a:t>
            </a:r>
            <a:r>
              <a:rPr sz="2600" b="1" i="0" dirty="0" err="1">
                <a:solidFill>
                  <a:srgbClr val="FFFFFF"/>
                </a:solidFill>
                <a:latin typeface="Noto Sans CJK KR"/>
              </a:rPr>
              <a:t>증강</a:t>
            </a:r>
            <a:r>
              <a:rPr sz="2600" b="1" i="0" dirty="0">
                <a:solidFill>
                  <a:srgbClr val="FFFFFF"/>
                </a:solidFill>
                <a:latin typeface="Noto Sans CJK KR"/>
              </a:rPr>
              <a:t> — </a:t>
            </a:r>
            <a:r>
              <a:rPr lang="en-US" sz="2600" b="1" i="0" dirty="0">
                <a:solidFill>
                  <a:srgbClr val="FFFFFF"/>
                </a:solidFill>
                <a:latin typeface="Noto Sans CJK KR"/>
              </a:rPr>
              <a:t>V3(</a:t>
            </a:r>
            <a:r>
              <a:rPr lang="en-US" sz="2600" b="1" dirty="0">
                <a:solidFill>
                  <a:srgbClr val="FFFFFF"/>
                </a:solidFill>
                <a:latin typeface="Noto Sans CJK KR"/>
              </a:rPr>
              <a:t>DPO</a:t>
            </a:r>
            <a:r>
              <a:rPr lang="ko-KR" altLang="en-US" sz="2600" b="1" dirty="0">
                <a:solidFill>
                  <a:srgbClr val="FFFFFF"/>
                </a:solidFill>
                <a:latin typeface="Noto Sans CJK KR"/>
              </a:rPr>
              <a:t> 선호도 </a:t>
            </a:r>
            <a:r>
              <a:rPr lang="ko-KR" altLang="en-US" sz="2600" b="1" i="0" dirty="0">
                <a:solidFill>
                  <a:srgbClr val="FFFFFF"/>
                </a:solidFill>
                <a:latin typeface="Noto Sans CJK KR"/>
              </a:rPr>
              <a:t>데이터 생성</a:t>
            </a:r>
            <a:r>
              <a:rPr lang="en-US" altLang="ko-KR" sz="2600" b="1" i="0" dirty="0">
                <a:solidFill>
                  <a:srgbClr val="FFFFFF"/>
                </a:solidFill>
                <a:latin typeface="Noto Sans CJK KR"/>
              </a:rPr>
              <a:t>)</a:t>
            </a:r>
            <a:endParaRPr sz="2600" b="1" i="0" dirty="0">
              <a:solidFill>
                <a:srgbClr val="FFFFFF"/>
              </a:solidFill>
              <a:latin typeface="Noto Sans CJK KR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EF2D7371-112E-A895-17E0-E1F4AFEDE1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961" y="1224989"/>
            <a:ext cx="6546959" cy="504195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403588C5-76F3-C7BA-7D7E-59E6053887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1642"/>
          <a:stretch>
            <a:fillRect/>
          </a:stretch>
        </p:blipFill>
        <p:spPr>
          <a:xfrm>
            <a:off x="6868160" y="1234249"/>
            <a:ext cx="5191760" cy="520293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21" name="TextBox 20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Noto Sans CJK KR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9884339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DEC83-6670-D094-A820-04EFCCFEF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A0B9FE3-02AE-F047-5494-2783AA218C15}"/>
              </a:ext>
            </a:extLst>
          </p:cNvPr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19B61A-E506-2737-6339-5FBD991CC015}"/>
              </a:ext>
            </a:extLst>
          </p:cNvPr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A75C2E-F337-C977-0A18-86ACA9DCD232}"/>
              </a:ext>
            </a:extLst>
          </p:cNvPr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DATA SOURCE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DC377F-23F7-5F6E-CB8F-7564BB792728}"/>
              </a:ext>
            </a:extLst>
          </p:cNvPr>
          <p:cNvSpPr txBox="1"/>
          <p:nvPr/>
        </p:nvSpPr>
        <p:spPr>
          <a:xfrm>
            <a:off x="457200" y="373888"/>
            <a:ext cx="1124712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dirty="0" err="1">
                <a:solidFill>
                  <a:srgbClr val="FFFFFF"/>
                </a:solidFill>
                <a:latin typeface="Noto Sans CJK KR"/>
              </a:rPr>
              <a:t>원본</a:t>
            </a:r>
            <a:r>
              <a:rPr sz="2600" b="1" i="0" dirty="0">
                <a:solidFill>
                  <a:srgbClr val="FFFFFF"/>
                </a:solidFill>
                <a:latin typeface="Noto Sans CJK KR"/>
              </a:rPr>
              <a:t> </a:t>
            </a:r>
            <a:r>
              <a:rPr sz="2600" b="1" i="0" dirty="0" err="1">
                <a:solidFill>
                  <a:srgbClr val="FFFFFF"/>
                </a:solidFill>
                <a:latin typeface="Noto Sans CJK KR"/>
              </a:rPr>
              <a:t>데이터셋과</a:t>
            </a:r>
            <a:r>
              <a:rPr sz="2600" b="1" i="0" dirty="0">
                <a:solidFill>
                  <a:srgbClr val="FFFFFF"/>
                </a:solidFill>
                <a:latin typeface="Noto Sans CJK KR"/>
              </a:rPr>
              <a:t> </a:t>
            </a:r>
            <a:r>
              <a:rPr sz="2600" b="1" i="0" dirty="0" err="1">
                <a:solidFill>
                  <a:srgbClr val="FFFFFF"/>
                </a:solidFill>
                <a:latin typeface="Noto Sans CJK KR"/>
              </a:rPr>
              <a:t>증강</a:t>
            </a:r>
            <a:r>
              <a:rPr sz="2600" b="1" i="0" dirty="0">
                <a:solidFill>
                  <a:srgbClr val="FFFFFF"/>
                </a:solidFill>
                <a:latin typeface="Noto Sans CJK KR"/>
              </a:rPr>
              <a:t> — </a:t>
            </a:r>
            <a:r>
              <a:rPr lang="en-US" sz="2600" b="1" i="0" dirty="0">
                <a:solidFill>
                  <a:srgbClr val="FFFFFF"/>
                </a:solidFill>
                <a:latin typeface="Noto Sans CJK KR"/>
              </a:rPr>
              <a:t>V3(</a:t>
            </a:r>
            <a:r>
              <a:rPr lang="en-US" sz="2600" b="1" dirty="0">
                <a:solidFill>
                  <a:srgbClr val="FFFFFF"/>
                </a:solidFill>
                <a:latin typeface="Noto Sans CJK KR"/>
              </a:rPr>
              <a:t>DPO</a:t>
            </a:r>
            <a:r>
              <a:rPr lang="ko-KR" altLang="en-US" sz="2600" b="1" dirty="0">
                <a:solidFill>
                  <a:srgbClr val="FFFFFF"/>
                </a:solidFill>
                <a:latin typeface="Noto Sans CJK KR"/>
              </a:rPr>
              <a:t> 선호도 </a:t>
            </a:r>
            <a:r>
              <a:rPr lang="ko-KR" altLang="en-US" sz="2600" b="1" i="0" dirty="0">
                <a:solidFill>
                  <a:srgbClr val="FFFFFF"/>
                </a:solidFill>
                <a:latin typeface="Noto Sans CJK KR"/>
              </a:rPr>
              <a:t>데이터 생성</a:t>
            </a:r>
            <a:r>
              <a:rPr lang="en-US" altLang="ko-KR" sz="2600" b="1" i="0" dirty="0">
                <a:solidFill>
                  <a:srgbClr val="FFFFFF"/>
                </a:solidFill>
                <a:latin typeface="Noto Sans CJK KR"/>
              </a:rPr>
              <a:t>)</a:t>
            </a:r>
            <a:endParaRPr sz="2600" b="1" i="0" dirty="0">
              <a:solidFill>
                <a:srgbClr val="FFFFFF"/>
              </a:solidFill>
              <a:latin typeface="Noto Sans CJK KR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2FE216F-8ABE-23A6-EEB2-4168168E2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165669"/>
            <a:ext cx="6299200" cy="477418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DAC96F9-6C58-C8AD-8491-7E47A23453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1179577"/>
            <a:ext cx="5374640" cy="4774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Noto Sans CJK KR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105120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OUTPUT FORMAT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600" b="1" dirty="0">
                <a:solidFill>
                  <a:srgbClr val="FFFFFF"/>
                </a:solidFill>
                <a:latin typeface="Noto Sans CJK KR"/>
              </a:rPr>
              <a:t>DPO </a:t>
            </a:r>
            <a:r>
              <a:rPr sz="2600" b="1" i="0" dirty="0" err="1">
                <a:solidFill>
                  <a:srgbClr val="FFFFFF"/>
                </a:solidFill>
                <a:latin typeface="Noto Sans CJK KR"/>
              </a:rPr>
              <a:t>출력</a:t>
            </a:r>
            <a:r>
              <a:rPr sz="2600" b="1" i="0" dirty="0">
                <a:solidFill>
                  <a:srgbClr val="FFFFFF"/>
                </a:solidFill>
                <a:latin typeface="Noto Sans CJK KR"/>
              </a:rPr>
              <a:t> </a:t>
            </a:r>
            <a:r>
              <a:rPr sz="2600" b="1" i="0" dirty="0" err="1">
                <a:solidFill>
                  <a:srgbClr val="FFFFFF"/>
                </a:solidFill>
                <a:latin typeface="Noto Sans CJK KR"/>
              </a:rPr>
              <a:t>포맷</a:t>
            </a:r>
            <a:r>
              <a:rPr sz="2600" b="1" i="0" dirty="0">
                <a:solidFill>
                  <a:srgbClr val="FFFFFF"/>
                </a:solidFill>
                <a:latin typeface="Noto Sans CJK KR"/>
              </a:rPr>
              <a:t> </a:t>
            </a:r>
            <a:r>
              <a:rPr sz="2600" b="1" i="0" dirty="0" err="1">
                <a:solidFill>
                  <a:srgbClr val="FFFFFF"/>
                </a:solidFill>
                <a:latin typeface="Noto Sans CJK KR"/>
              </a:rPr>
              <a:t>규격</a:t>
            </a:r>
            <a:r>
              <a:rPr sz="2600" b="1" i="0" dirty="0">
                <a:solidFill>
                  <a:srgbClr val="FFFFFF"/>
                </a:solidFill>
                <a:latin typeface="Noto Sans CJK KR"/>
              </a:rPr>
              <a:t> — 왜 4축 </a:t>
            </a:r>
            <a:r>
              <a:rPr sz="2600" b="1" i="0" dirty="0" err="1">
                <a:solidFill>
                  <a:srgbClr val="FFFFFF"/>
                </a:solidFill>
                <a:latin typeface="Noto Sans CJK KR"/>
              </a:rPr>
              <a:t>JSON인가</a:t>
            </a:r>
            <a:endParaRPr sz="2600" b="1" i="0" dirty="0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394960" cy="221086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 dirty="0" err="1">
                <a:solidFill>
                  <a:srgbClr val="1F2D3D"/>
                </a:solidFill>
                <a:latin typeface="Noto Sans CJK KR"/>
              </a:rPr>
              <a:t>규격화</a:t>
            </a:r>
            <a:r>
              <a:rPr sz="1600" b="1" i="0" dirty="0">
                <a:solidFill>
                  <a:srgbClr val="1F2D3D"/>
                </a:solidFill>
                <a:latin typeface="Noto Sans CJK KR"/>
              </a:rPr>
              <a:t> </a:t>
            </a:r>
            <a:r>
              <a:rPr sz="1600" b="1" i="0" dirty="0" err="1">
                <a:solidFill>
                  <a:srgbClr val="1F2D3D"/>
                </a:solidFill>
                <a:latin typeface="Noto Sans CJK KR"/>
              </a:rPr>
              <a:t>의도</a:t>
            </a:r>
            <a:r>
              <a:rPr sz="1600" b="1" i="0" dirty="0">
                <a:solidFill>
                  <a:srgbClr val="1F2D3D"/>
                </a:solidFill>
                <a:latin typeface="Noto Sans CJK KR"/>
              </a:rPr>
              <a:t> 4가지</a:t>
            </a:r>
          </a:p>
          <a:p>
            <a:pPr algn="l"/>
            <a:r>
              <a:rPr sz="1350" b="1" i="0" dirty="0">
                <a:solidFill>
                  <a:srgbClr val="4C72B0"/>
                </a:solidFill>
                <a:latin typeface="Noto Sans CJK KR"/>
              </a:rPr>
              <a:t>•  JSON </a:t>
            </a:r>
            <a:r>
              <a:rPr sz="1350" b="1" i="0" dirty="0" err="1">
                <a:solidFill>
                  <a:srgbClr val="4C72B0"/>
                </a:solidFill>
                <a:latin typeface="Noto Sans CJK KR"/>
              </a:rPr>
              <a:t>단일</a:t>
            </a:r>
            <a:r>
              <a:rPr sz="1350" b="1" i="0" dirty="0">
                <a:solidFill>
                  <a:srgbClr val="4C72B0"/>
                </a:solidFill>
                <a:latin typeface="Noto Sans CJK KR"/>
              </a:rPr>
              <a:t> </a:t>
            </a:r>
            <a:r>
              <a:rPr sz="1350" b="1" i="0" dirty="0" err="1">
                <a:solidFill>
                  <a:srgbClr val="4C72B0"/>
                </a:solidFill>
                <a:latin typeface="Noto Sans CJK KR"/>
              </a:rPr>
              <a:t>출력</a:t>
            </a:r>
            <a:r>
              <a:rPr sz="1350" b="1" i="0" dirty="0">
                <a:solidFill>
                  <a:srgbClr val="4C72B0"/>
                </a:solidFill>
                <a:latin typeface="Noto Sans CJK KR"/>
              </a:rPr>
              <a:t> </a:t>
            </a:r>
            <a:r>
              <a:rPr sz="1350" b="1" i="0" dirty="0" err="1">
                <a:solidFill>
                  <a:srgbClr val="4C72B0"/>
                </a:solidFill>
                <a:latin typeface="Noto Sans CJK KR"/>
              </a:rPr>
              <a:t>강제</a:t>
            </a:r>
            <a:endParaRPr sz="1350" b="1" i="0" dirty="0">
              <a:solidFill>
                <a:srgbClr val="4C72B0"/>
              </a:solidFill>
              <a:latin typeface="Noto Sans CJK KR"/>
            </a:endParaRPr>
          </a:p>
          <a:p>
            <a:pPr lvl="1" algn="l">
              <a:spcAft>
                <a:spcPts val="600"/>
              </a:spcAft>
            </a:pP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앱이</a:t>
            </a:r>
            <a:r>
              <a:rPr sz="1150" b="0" i="0" dirty="0">
                <a:solidFill>
                  <a:srgbClr val="5A5A5A"/>
                </a:solidFill>
                <a:latin typeface="Noto Sans CJK KR"/>
              </a:rPr>
              <a:t> </a:t>
            </a: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후처리</a:t>
            </a:r>
            <a:r>
              <a:rPr sz="1150" b="0" i="0" dirty="0">
                <a:solidFill>
                  <a:srgbClr val="5A5A5A"/>
                </a:solidFill>
                <a:latin typeface="Noto Sans CJK KR"/>
              </a:rPr>
              <a:t> </a:t>
            </a: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없이</a:t>
            </a:r>
            <a:r>
              <a:rPr sz="1150" b="0" i="0" dirty="0">
                <a:solidFill>
                  <a:srgbClr val="5A5A5A"/>
                </a:solidFill>
                <a:latin typeface="Noto Sans CJK KR"/>
              </a:rPr>
              <a:t> </a:t>
            </a: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바로</a:t>
            </a:r>
            <a:r>
              <a:rPr sz="1150" b="0" i="0" dirty="0">
                <a:solidFill>
                  <a:srgbClr val="5A5A5A"/>
                </a:solidFill>
                <a:latin typeface="Noto Sans CJK KR"/>
              </a:rPr>
              <a:t> </a:t>
            </a: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파싱·렌더링</a:t>
            </a:r>
            <a:r>
              <a:rPr sz="1150" b="0" i="0" dirty="0">
                <a:solidFill>
                  <a:srgbClr val="5A5A5A"/>
                </a:solidFill>
                <a:latin typeface="Noto Sans CJK KR"/>
              </a:rPr>
              <a:t>. </a:t>
            </a: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자유</a:t>
            </a:r>
            <a:r>
              <a:rPr sz="1150" b="0" i="0" dirty="0">
                <a:solidFill>
                  <a:srgbClr val="5A5A5A"/>
                </a:solidFill>
                <a:latin typeface="Noto Sans CJK KR"/>
              </a:rPr>
              <a:t> </a:t>
            </a: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텍스트는</a:t>
            </a:r>
            <a:r>
              <a:rPr sz="1150" b="0" i="0" dirty="0">
                <a:solidFill>
                  <a:srgbClr val="5A5A5A"/>
                </a:solidFill>
                <a:latin typeface="Noto Sans CJK KR"/>
              </a:rPr>
              <a:t> </a:t>
            </a: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연동</a:t>
            </a:r>
            <a:r>
              <a:rPr sz="1150" b="0" i="0" dirty="0">
                <a:solidFill>
                  <a:srgbClr val="5A5A5A"/>
                </a:solidFill>
                <a:latin typeface="Noto Sans CJK KR"/>
              </a:rPr>
              <a:t> </a:t>
            </a: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불가</a:t>
            </a:r>
            <a:endParaRPr sz="1150" b="0" i="0" dirty="0">
              <a:solidFill>
                <a:srgbClr val="5A5A5A"/>
              </a:solidFill>
              <a:latin typeface="Noto Sans CJK KR"/>
            </a:endParaRPr>
          </a:p>
          <a:p>
            <a:pPr algn="l"/>
            <a:r>
              <a:rPr sz="1350" b="1" i="0" dirty="0">
                <a:solidFill>
                  <a:srgbClr val="4C72B0"/>
                </a:solidFill>
                <a:latin typeface="Noto Sans CJK KR"/>
              </a:rPr>
              <a:t>•  </a:t>
            </a:r>
            <a:r>
              <a:rPr sz="1350" b="1" i="0" dirty="0" err="1">
                <a:solidFill>
                  <a:srgbClr val="4C72B0"/>
                </a:solidFill>
                <a:latin typeface="Noto Sans CJK KR"/>
              </a:rPr>
              <a:t>점수와</a:t>
            </a:r>
            <a:r>
              <a:rPr sz="1350" b="1" i="0" dirty="0">
                <a:solidFill>
                  <a:srgbClr val="4C72B0"/>
                </a:solidFill>
                <a:latin typeface="Noto Sans CJK KR"/>
              </a:rPr>
              <a:t> </a:t>
            </a:r>
            <a:r>
              <a:rPr sz="1350" b="1" i="0" dirty="0" err="1">
                <a:solidFill>
                  <a:srgbClr val="4C72B0"/>
                </a:solidFill>
                <a:latin typeface="Noto Sans CJK KR"/>
              </a:rPr>
              <a:t>순서의</a:t>
            </a:r>
            <a:r>
              <a:rPr sz="1350" b="1" i="0" dirty="0">
                <a:solidFill>
                  <a:srgbClr val="4C72B0"/>
                </a:solidFill>
                <a:latin typeface="Noto Sans CJK KR"/>
              </a:rPr>
              <a:t> </a:t>
            </a:r>
            <a:r>
              <a:rPr sz="1350" b="1" i="0" dirty="0" err="1">
                <a:solidFill>
                  <a:srgbClr val="4C72B0"/>
                </a:solidFill>
                <a:latin typeface="Noto Sans CJK KR"/>
              </a:rPr>
              <a:t>분리</a:t>
            </a:r>
            <a:endParaRPr sz="1350" b="1" i="0" dirty="0">
              <a:solidFill>
                <a:srgbClr val="4C72B0"/>
              </a:solidFill>
              <a:latin typeface="Noto Sans CJK KR"/>
            </a:endParaRPr>
          </a:p>
          <a:p>
            <a:pPr lvl="1" algn="l">
              <a:spcAft>
                <a:spcPts val="600"/>
              </a:spcAft>
            </a:pPr>
            <a:r>
              <a:rPr sz="1150" b="0" i="0" dirty="0">
                <a:solidFill>
                  <a:srgbClr val="5A5A5A"/>
                </a:solidFill>
                <a:latin typeface="Noto Sans CJK KR"/>
              </a:rPr>
              <a:t>scores(왜) ↔ </a:t>
            </a: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priority_order</a:t>
            </a:r>
            <a:r>
              <a:rPr sz="1150" b="0" i="0" dirty="0">
                <a:solidFill>
                  <a:srgbClr val="5A5A5A"/>
                </a:solidFill>
                <a:latin typeface="Noto Sans CJK KR"/>
              </a:rPr>
              <a:t>(</a:t>
            </a: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결과</a:t>
            </a:r>
            <a:r>
              <a:rPr sz="1150" b="0" i="0" dirty="0">
                <a:solidFill>
                  <a:srgbClr val="5A5A5A"/>
                </a:solidFill>
                <a:latin typeface="Noto Sans CJK KR"/>
              </a:rPr>
              <a:t>) </a:t>
            </a: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분리</a:t>
            </a:r>
            <a:r>
              <a:rPr sz="1150" b="0" i="0" dirty="0">
                <a:solidFill>
                  <a:srgbClr val="5A5A5A"/>
                </a:solidFill>
                <a:latin typeface="Noto Sans CJK KR"/>
              </a:rPr>
              <a:t> → </a:t>
            </a: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후처리</a:t>
            </a:r>
            <a:r>
              <a:rPr sz="1150" b="0" i="0" dirty="0">
                <a:solidFill>
                  <a:srgbClr val="5A5A5A"/>
                </a:solidFill>
                <a:latin typeface="Noto Sans CJK KR"/>
              </a:rPr>
              <a:t> </a:t>
            </a: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ScoreRanker로</a:t>
            </a:r>
            <a:r>
              <a:rPr sz="1150" b="0" i="0" dirty="0">
                <a:solidFill>
                  <a:srgbClr val="5A5A5A"/>
                </a:solidFill>
                <a:latin typeface="Noto Sans CJK KR"/>
              </a:rPr>
              <a:t> </a:t>
            </a: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모순</a:t>
            </a:r>
            <a:r>
              <a:rPr sz="1150" b="0" i="0" dirty="0">
                <a:solidFill>
                  <a:srgbClr val="5A5A5A"/>
                </a:solidFill>
                <a:latin typeface="Noto Sans CJK KR"/>
              </a:rPr>
              <a:t> </a:t>
            </a: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교정</a:t>
            </a:r>
            <a:endParaRPr sz="1150" b="0" i="0" dirty="0">
              <a:solidFill>
                <a:srgbClr val="5A5A5A"/>
              </a:solidFill>
              <a:latin typeface="Noto Sans CJK KR"/>
            </a:endParaRPr>
          </a:p>
          <a:p>
            <a:pPr algn="l"/>
            <a:r>
              <a:rPr sz="1350" b="1" i="0" dirty="0">
                <a:solidFill>
                  <a:srgbClr val="4C72B0"/>
                </a:solidFill>
                <a:latin typeface="Noto Sans CJK KR"/>
              </a:rPr>
              <a:t>•  4축 </a:t>
            </a:r>
            <a:r>
              <a:rPr sz="1350" b="1" i="0" dirty="0" err="1">
                <a:solidFill>
                  <a:srgbClr val="4C72B0"/>
                </a:solidFill>
                <a:latin typeface="Noto Sans CJK KR"/>
              </a:rPr>
              <a:t>다축</a:t>
            </a:r>
            <a:r>
              <a:rPr sz="1350" b="1" i="0" dirty="0">
                <a:solidFill>
                  <a:srgbClr val="4C72B0"/>
                </a:solidFill>
                <a:latin typeface="Noto Sans CJK KR"/>
              </a:rPr>
              <a:t> </a:t>
            </a:r>
            <a:r>
              <a:rPr sz="1350" b="1" i="0" dirty="0" err="1">
                <a:solidFill>
                  <a:srgbClr val="4C72B0"/>
                </a:solidFill>
                <a:latin typeface="Noto Sans CJK KR"/>
              </a:rPr>
              <a:t>채점</a:t>
            </a:r>
            <a:endParaRPr sz="1350" b="1" i="0" dirty="0">
              <a:solidFill>
                <a:srgbClr val="4C72B0"/>
              </a:solidFill>
              <a:latin typeface="Noto Sans CJK KR"/>
            </a:endParaRPr>
          </a:p>
          <a:p>
            <a:pPr lvl="1" algn="l">
              <a:spcAft>
                <a:spcPts val="600"/>
              </a:spcAft>
            </a:pP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단순</a:t>
            </a:r>
            <a:r>
              <a:rPr sz="1150" b="0" i="0" dirty="0">
                <a:solidFill>
                  <a:srgbClr val="5A5A5A"/>
                </a:solidFill>
                <a:latin typeface="Noto Sans CJK KR"/>
              </a:rPr>
              <a:t> </a:t>
            </a: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긴급순이</a:t>
            </a:r>
            <a:r>
              <a:rPr sz="1150" b="0" i="0" dirty="0">
                <a:solidFill>
                  <a:srgbClr val="5A5A5A"/>
                </a:solidFill>
                <a:latin typeface="Noto Sans CJK KR"/>
              </a:rPr>
              <a:t> </a:t>
            </a: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아닌</a:t>
            </a:r>
            <a:r>
              <a:rPr sz="1150" b="0" i="0" dirty="0">
                <a:solidFill>
                  <a:srgbClr val="5A5A5A"/>
                </a:solidFill>
                <a:latin typeface="Noto Sans CJK KR"/>
              </a:rPr>
              <a:t> </a:t>
            </a:r>
            <a:r>
              <a:rPr sz="1150" b="1" i="0" dirty="0" err="1">
                <a:solidFill>
                  <a:srgbClr val="C00000"/>
                </a:solidFill>
                <a:latin typeface="Noto Sans CJK KR"/>
              </a:rPr>
              <a:t>긴급·중요·의존·시간</a:t>
            </a: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을</a:t>
            </a:r>
            <a:r>
              <a:rPr sz="1150" b="0" i="0" dirty="0">
                <a:solidFill>
                  <a:srgbClr val="5A5A5A"/>
                </a:solidFill>
                <a:latin typeface="Noto Sans CJK KR"/>
              </a:rPr>
              <a:t> </a:t>
            </a: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독립</a:t>
            </a:r>
            <a:r>
              <a:rPr sz="1150" b="0" i="0" dirty="0">
                <a:solidFill>
                  <a:srgbClr val="5A5A5A"/>
                </a:solidFill>
                <a:latin typeface="Noto Sans CJK KR"/>
              </a:rPr>
              <a:t> </a:t>
            </a: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채점</a:t>
            </a:r>
            <a:endParaRPr sz="1150" b="0" i="0" dirty="0">
              <a:solidFill>
                <a:srgbClr val="5A5A5A"/>
              </a:solidFill>
              <a:latin typeface="Noto Sans CJK KR"/>
            </a:endParaRPr>
          </a:p>
          <a:p>
            <a:pPr algn="l"/>
            <a:r>
              <a:rPr sz="1350" b="1" i="0" dirty="0">
                <a:solidFill>
                  <a:srgbClr val="4C72B0"/>
                </a:solidFill>
                <a:latin typeface="Noto Sans CJK KR"/>
              </a:rPr>
              <a:t>•  </a:t>
            </a:r>
            <a:r>
              <a:rPr sz="1350" b="1" i="0" dirty="0" err="1">
                <a:solidFill>
                  <a:srgbClr val="4C72B0"/>
                </a:solidFill>
                <a:latin typeface="Noto Sans CJK KR"/>
              </a:rPr>
              <a:t>원문</a:t>
            </a:r>
            <a:r>
              <a:rPr sz="1350" b="1" i="0" dirty="0">
                <a:solidFill>
                  <a:srgbClr val="4C72B0"/>
                </a:solidFill>
                <a:latin typeface="Noto Sans CJK KR"/>
              </a:rPr>
              <a:t> </a:t>
            </a:r>
            <a:r>
              <a:rPr sz="1350" b="1" i="0" dirty="0" err="1">
                <a:solidFill>
                  <a:srgbClr val="4C72B0"/>
                </a:solidFill>
                <a:latin typeface="Noto Sans CJK KR"/>
              </a:rPr>
              <a:t>보존</a:t>
            </a:r>
            <a:r>
              <a:rPr sz="1350" b="1" i="0" dirty="0">
                <a:solidFill>
                  <a:srgbClr val="4C72B0"/>
                </a:solidFill>
                <a:latin typeface="Noto Sans CJK KR"/>
              </a:rPr>
              <a:t> (</a:t>
            </a:r>
            <a:r>
              <a:rPr sz="1350" b="1" i="0" dirty="0" err="1">
                <a:solidFill>
                  <a:srgbClr val="4C72B0"/>
                </a:solidFill>
                <a:latin typeface="Noto Sans CJK KR"/>
              </a:rPr>
              <a:t>tasks.text</a:t>
            </a:r>
            <a:r>
              <a:rPr sz="1350" b="1" i="0" dirty="0">
                <a:solidFill>
                  <a:srgbClr val="4C72B0"/>
                </a:solidFill>
                <a:latin typeface="Noto Sans CJK KR"/>
              </a:rPr>
              <a:t>)</a:t>
            </a:r>
          </a:p>
          <a:p>
            <a:pPr lvl="1" algn="l">
              <a:spcAft>
                <a:spcPts val="600"/>
              </a:spcAft>
            </a:pPr>
            <a:r>
              <a:rPr sz="1150" b="0" i="0" dirty="0">
                <a:solidFill>
                  <a:srgbClr val="5A5A5A"/>
                </a:solidFill>
                <a:latin typeface="Noto Sans CJK KR"/>
              </a:rPr>
              <a:t>id-</a:t>
            </a: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텍스트</a:t>
            </a:r>
            <a:r>
              <a:rPr sz="1150" b="0" i="0" dirty="0">
                <a:solidFill>
                  <a:srgbClr val="5A5A5A"/>
                </a:solidFill>
                <a:latin typeface="Noto Sans CJK KR"/>
              </a:rPr>
              <a:t> </a:t>
            </a: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매핑</a:t>
            </a:r>
            <a:r>
              <a:rPr sz="1150" b="0" i="0" dirty="0">
                <a:solidFill>
                  <a:srgbClr val="5A5A5A"/>
                </a:solidFill>
                <a:latin typeface="Noto Sans CJK KR"/>
              </a:rPr>
              <a:t> </a:t>
            </a: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강제로</a:t>
            </a:r>
            <a:r>
              <a:rPr sz="1150" b="0" i="0" dirty="0">
                <a:solidFill>
                  <a:srgbClr val="5A5A5A"/>
                </a:solidFill>
                <a:latin typeface="Noto Sans CJK KR"/>
              </a:rPr>
              <a:t> </a:t>
            </a: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항목</a:t>
            </a:r>
            <a:r>
              <a:rPr sz="1150" b="0" i="0" dirty="0">
                <a:solidFill>
                  <a:srgbClr val="5A5A5A"/>
                </a:solidFill>
                <a:latin typeface="Noto Sans CJK KR"/>
              </a:rPr>
              <a:t> </a:t>
            </a: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요약·누락</a:t>
            </a:r>
            <a:r>
              <a:rPr sz="1150" b="0" i="0" dirty="0">
                <a:solidFill>
                  <a:srgbClr val="5A5A5A"/>
                </a:solidFill>
                <a:latin typeface="Noto Sans CJK KR"/>
              </a:rPr>
              <a:t> </a:t>
            </a: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차단</a:t>
            </a:r>
            <a:endParaRPr sz="1200" b="1" i="1" dirty="0">
              <a:solidFill>
                <a:srgbClr val="55A868"/>
              </a:solidFill>
              <a:latin typeface="Noto Sans CJK K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Noto Sans CJK KR"/>
              </a:rPr>
              <a:t>13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3DBE243A-2BA2-B352-E37C-FF9BD35EF42A}"/>
              </a:ext>
            </a:extLst>
          </p:cNvPr>
          <p:cNvGrpSpPr/>
          <p:nvPr/>
        </p:nvGrpSpPr>
        <p:grpSpPr>
          <a:xfrm>
            <a:off x="308092" y="1137603"/>
            <a:ext cx="6023882" cy="5628957"/>
            <a:chOff x="6310079" y="1188403"/>
            <a:chExt cx="5635508" cy="5269008"/>
          </a:xfrm>
        </p:grpSpPr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01705783-FA99-D1FB-AAD1-5294248AC2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10079" y="2603723"/>
              <a:ext cx="5635507" cy="3853688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03C72A49-96E3-B5D2-2AE3-7FDD6734E0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10080" y="1188403"/>
              <a:ext cx="5635507" cy="2161601"/>
            </a:xfrm>
            <a:prstGeom prst="rect">
              <a:avLst/>
            </a:prstGeom>
          </p:spPr>
        </p:pic>
      </p:grp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6DCC5B87-BFD1-669A-D526-E6EC3B16F8FB}"/>
              </a:ext>
            </a:extLst>
          </p:cNvPr>
          <p:cNvCxnSpPr>
            <a:cxnSpLocks/>
          </p:cNvCxnSpPr>
          <p:nvPr/>
        </p:nvCxnSpPr>
        <p:spPr>
          <a:xfrm flipH="1" flipV="1">
            <a:off x="3002280" y="2203576"/>
            <a:ext cx="3535680" cy="1037136"/>
          </a:xfrm>
          <a:prstGeom prst="straightConnector1">
            <a:avLst/>
          </a:prstGeom>
          <a:ln w="9525"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826E9A6C-4083-E6BE-F385-3A05DABE35F1}"/>
              </a:ext>
            </a:extLst>
          </p:cNvPr>
          <p:cNvCxnSpPr/>
          <p:nvPr/>
        </p:nvCxnSpPr>
        <p:spPr>
          <a:xfrm flipH="1">
            <a:off x="1790700" y="2806372"/>
            <a:ext cx="4747260" cy="1219200"/>
          </a:xfrm>
          <a:prstGeom prst="straightConnector1">
            <a:avLst/>
          </a:prstGeom>
          <a:ln w="9525"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FF9F1B6-CD0E-16CE-BAD9-FF78C7A27A29}"/>
              </a:ext>
            </a:extLst>
          </p:cNvPr>
          <p:cNvSpPr/>
          <p:nvPr/>
        </p:nvSpPr>
        <p:spPr>
          <a:xfrm>
            <a:off x="624840" y="3771900"/>
            <a:ext cx="1066553" cy="4419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3722E24-CB79-D126-48D3-E9BD35F5D73D}"/>
              </a:ext>
            </a:extLst>
          </p:cNvPr>
          <p:cNvSpPr/>
          <p:nvPr/>
        </p:nvSpPr>
        <p:spPr>
          <a:xfrm>
            <a:off x="377437" y="2935986"/>
            <a:ext cx="1207276" cy="6225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5D4C3E59-D265-304C-92D3-7CB3B1F029A9}"/>
              </a:ext>
            </a:extLst>
          </p:cNvPr>
          <p:cNvCxnSpPr/>
          <p:nvPr/>
        </p:nvCxnSpPr>
        <p:spPr>
          <a:xfrm flipH="1">
            <a:off x="1691393" y="2379652"/>
            <a:ext cx="4846567" cy="914400"/>
          </a:xfrm>
          <a:prstGeom prst="straightConnector1">
            <a:avLst/>
          </a:prstGeom>
          <a:ln w="9525"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0F7C566-5D56-4D0D-4E56-6EDCDDFEC75E}"/>
              </a:ext>
            </a:extLst>
          </p:cNvPr>
          <p:cNvSpPr/>
          <p:nvPr/>
        </p:nvSpPr>
        <p:spPr>
          <a:xfrm>
            <a:off x="457200" y="1563170"/>
            <a:ext cx="2545080" cy="12611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SCORING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altLang="ko-KR" sz="2600" b="1" dirty="0">
                <a:solidFill>
                  <a:srgbClr val="FFFFFF"/>
                </a:solidFill>
                <a:latin typeface="Noto Sans CJK KR"/>
              </a:rPr>
              <a:t>DPO </a:t>
            </a:r>
            <a:r>
              <a:rPr sz="2600" b="1" i="0" dirty="0">
                <a:solidFill>
                  <a:srgbClr val="FFFFFF"/>
                </a:solidFill>
                <a:latin typeface="Noto Sans CJK KR"/>
              </a:rPr>
              <a:t>4축 </a:t>
            </a:r>
            <a:r>
              <a:rPr sz="2600" b="1" i="0" dirty="0" err="1">
                <a:solidFill>
                  <a:srgbClr val="FFFFFF"/>
                </a:solidFill>
                <a:latin typeface="Noto Sans CJK KR"/>
              </a:rPr>
              <a:t>채점</a:t>
            </a:r>
            <a:r>
              <a:rPr sz="2600" b="1" i="0" dirty="0">
                <a:solidFill>
                  <a:srgbClr val="FFFFFF"/>
                </a:solidFill>
                <a:latin typeface="Noto Sans CJK KR"/>
              </a:rPr>
              <a:t> </a:t>
            </a:r>
            <a:r>
              <a:rPr sz="2600" b="1" i="0" dirty="0" err="1">
                <a:solidFill>
                  <a:srgbClr val="FFFFFF"/>
                </a:solidFill>
                <a:latin typeface="Noto Sans CJK KR"/>
              </a:rPr>
              <a:t>기준</a:t>
            </a:r>
            <a:r>
              <a:rPr sz="2600" b="1" i="0" dirty="0">
                <a:solidFill>
                  <a:srgbClr val="FFFFFF"/>
                </a:solidFill>
                <a:latin typeface="Noto Sans CJK KR"/>
              </a:rPr>
              <a:t> (각 1–5점)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867154"/>
              </p:ext>
            </p:extLst>
          </p:nvPr>
        </p:nvGraphicFramePr>
        <p:xfrm>
          <a:off x="457200" y="1153160"/>
          <a:ext cx="11292841" cy="37725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72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73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82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499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3794">
                <a:tc>
                  <a:txBody>
                    <a:bodyPr/>
                    <a:lstStyle/>
                    <a:p>
                      <a:pPr algn="ctr"/>
                      <a:r>
                        <a:rPr sz="1300" b="1" i="0" dirty="0">
                          <a:solidFill>
                            <a:srgbClr val="FFFFFF"/>
                          </a:solidFill>
                          <a:latin typeface="Noto Sans CJK KR"/>
                        </a:rPr>
                        <a:t>축</a:t>
                      </a:r>
                    </a:p>
                  </a:txBody>
                  <a:tcPr marL="73152" marR="54864" marT="27432" marB="27432" anchor="ctr">
                    <a:solidFill>
                      <a:srgbClr val="4C72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 dirty="0" err="1">
                          <a:solidFill>
                            <a:srgbClr val="FFFFFF"/>
                          </a:solidFill>
                          <a:latin typeface="Noto Sans CJK KR"/>
                        </a:rPr>
                        <a:t>의미</a:t>
                      </a:r>
                      <a:endParaRPr sz="1300" b="1" i="0" dirty="0">
                        <a:solidFill>
                          <a:srgbClr val="FFFFFF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4C72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 dirty="0">
                          <a:solidFill>
                            <a:srgbClr val="FFFFFF"/>
                          </a:solidFill>
                          <a:latin typeface="Noto Sans CJK KR"/>
                        </a:rPr>
                        <a:t>5점</a:t>
                      </a:r>
                    </a:p>
                  </a:txBody>
                  <a:tcPr marL="73152" marR="54864" marT="27432" marB="27432" anchor="ctr">
                    <a:solidFill>
                      <a:srgbClr val="4C72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 dirty="0">
                          <a:solidFill>
                            <a:srgbClr val="FFFFFF"/>
                          </a:solidFill>
                          <a:latin typeface="Noto Sans CJK KR"/>
                        </a:rPr>
                        <a:t>1점</a:t>
                      </a:r>
                    </a:p>
                  </a:txBody>
                  <a:tcPr marL="73152" marR="54864" marT="27432" marB="27432" anchor="ctr">
                    <a:solidFill>
                      <a:srgbClr val="4C72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3794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13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urgency
</a:t>
                      </a:r>
                      <a:r>
                        <a:rPr sz="13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긴급도</a:t>
                      </a:r>
                      <a:endParaRPr sz="1300" b="0" i="0" dirty="0">
                        <a:solidFill>
                          <a:srgbClr val="222222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13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마감</a:t>
                      </a:r>
                      <a:r>
                        <a:rPr sz="13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/</a:t>
                      </a:r>
                      <a:r>
                        <a:rPr sz="13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시작</a:t>
                      </a:r>
                      <a:r>
                        <a:rPr sz="13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3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임박도</a:t>
                      </a:r>
                      <a:endParaRPr lang="en-US" sz="1300" b="0" i="0" dirty="0">
                        <a:solidFill>
                          <a:srgbClr val="222222"/>
                        </a:solidFill>
                        <a:latin typeface="Noto Sans CJK KR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ko-KR" sz="1400" dirty="0">
                          <a:solidFill>
                            <a:srgbClr val="C00000"/>
                          </a:solidFill>
                        </a:rPr>
                        <a:t>마감이 얼마나 임박했는가</a:t>
                      </a:r>
                      <a:r>
                        <a:rPr lang="en-US" altLang="ko-KR" sz="1400" dirty="0">
                          <a:solidFill>
                            <a:srgbClr val="C00000"/>
                          </a:solidFill>
                        </a:rPr>
                        <a:t>?</a:t>
                      </a:r>
                      <a:endParaRPr sz="1300" b="0" i="0" dirty="0">
                        <a:solidFill>
                          <a:srgbClr val="C00000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13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오늘</a:t>
                      </a:r>
                      <a:r>
                        <a:rPr sz="13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3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마감</a:t>
                      </a:r>
                      <a:r>
                        <a:rPr sz="13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(</a:t>
                      </a:r>
                      <a:r>
                        <a:rPr sz="13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오전</a:t>
                      </a:r>
                      <a:r>
                        <a:rPr sz="13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=5·오후=4)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13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마감</a:t>
                      </a:r>
                      <a:r>
                        <a:rPr sz="13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3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없음</a:t>
                      </a:r>
                      <a:r>
                        <a:rPr sz="13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/ </a:t>
                      </a:r>
                      <a:r>
                        <a:rPr sz="13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이미</a:t>
                      </a:r>
                      <a:r>
                        <a:rPr sz="13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3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지난</a:t>
                      </a:r>
                      <a:r>
                        <a:rPr sz="13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3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일정</a:t>
                      </a:r>
                      <a:endParaRPr lang="en-US" sz="1300" b="0" i="0" dirty="0">
                        <a:solidFill>
                          <a:srgbClr val="222222"/>
                        </a:solidFill>
                        <a:latin typeface="Noto Sans CJK KR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ko-KR" sz="1400" dirty="0">
                          <a:solidFill>
                            <a:srgbClr val="C00000"/>
                          </a:solidFill>
                        </a:rPr>
                        <a:t>마감 없음</a:t>
                      </a:r>
                      <a:endParaRPr sz="1300" b="0" i="0" dirty="0">
                        <a:solidFill>
                          <a:srgbClr val="C00000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3794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importance
중요도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13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페르소나</a:t>
                      </a:r>
                      <a:r>
                        <a:rPr sz="13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3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목표</a:t>
                      </a:r>
                      <a:r>
                        <a:rPr sz="13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3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영향도</a:t>
                      </a:r>
                      <a:endParaRPr lang="en-US" sz="1300" b="0" i="0" dirty="0">
                        <a:solidFill>
                          <a:srgbClr val="222222"/>
                        </a:solidFill>
                        <a:latin typeface="Noto Sans CJK KR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ko-KR" sz="1400" dirty="0">
                          <a:solidFill>
                            <a:srgbClr val="C00000"/>
                          </a:solidFill>
                        </a:rPr>
                        <a:t>실패하면 영향이 큰가</a:t>
                      </a:r>
                      <a:r>
                        <a:rPr lang="en-US" altLang="ko-KR" sz="1400" dirty="0">
                          <a:solidFill>
                            <a:srgbClr val="C00000"/>
                          </a:solidFill>
                        </a:rPr>
                        <a:t>?</a:t>
                      </a:r>
                      <a:endParaRPr sz="1300" b="0" i="0" dirty="0">
                        <a:solidFill>
                          <a:srgbClr val="C00000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13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결정적</a:t>
                      </a:r>
                      <a:r>
                        <a:rPr sz="13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(</a:t>
                      </a:r>
                      <a:r>
                        <a:rPr sz="13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에스컬레이션·위약금·법적기한</a:t>
                      </a:r>
                      <a:r>
                        <a:rPr sz="13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)</a:t>
                      </a:r>
                      <a:endParaRPr lang="en-US" sz="1300" b="0" i="0" dirty="0">
                        <a:solidFill>
                          <a:srgbClr val="C00000"/>
                        </a:solidFill>
                        <a:latin typeface="Noto Sans CJK KR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ko-KR" sz="1400" dirty="0">
                          <a:solidFill>
                            <a:srgbClr val="C00000"/>
                          </a:solidFill>
                        </a:rPr>
                        <a:t>법적 기한, 큰 손해, 중요한 목표</a:t>
                      </a:r>
                      <a:endParaRPr sz="1300" b="0" i="0" dirty="0">
                        <a:solidFill>
                          <a:srgbClr val="C00000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13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옵션</a:t>
                      </a:r>
                      <a:r>
                        <a:rPr sz="13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(</a:t>
                      </a:r>
                      <a:r>
                        <a:rPr sz="13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없어도</a:t>
                      </a:r>
                      <a:r>
                        <a:rPr sz="13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3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무방</a:t>
                      </a:r>
                      <a:r>
                        <a:rPr sz="13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)</a:t>
                      </a:r>
                      <a:endParaRPr lang="en-US" sz="1300" b="0" i="0" dirty="0">
                        <a:solidFill>
                          <a:srgbClr val="222222"/>
                        </a:solidFill>
                        <a:latin typeface="Noto Sans CJK KR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ko-KR" sz="1400" dirty="0">
                          <a:solidFill>
                            <a:srgbClr val="C00000"/>
                          </a:solidFill>
                        </a:rPr>
                        <a:t>안 해도 큰 문제 없음</a:t>
                      </a:r>
                      <a:endParaRPr sz="1300" b="0" i="0" dirty="0">
                        <a:solidFill>
                          <a:srgbClr val="C00000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6602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dependency
의존성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13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후속</a:t>
                      </a:r>
                      <a:r>
                        <a:rPr sz="13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3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작업</a:t>
                      </a:r>
                      <a:r>
                        <a:rPr sz="13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3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블로킹</a:t>
                      </a:r>
                      <a:r>
                        <a:rPr sz="13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3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정도</a:t>
                      </a:r>
                      <a:br>
                        <a:rPr lang="en-US" sz="13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</a:br>
                      <a:r>
                        <a:rPr lang="ko-KR" altLang="ko-KR" sz="1400" dirty="0">
                          <a:solidFill>
                            <a:srgbClr val="C00000"/>
                          </a:solidFill>
                        </a:rPr>
                        <a:t>이 일을 해야 다른 일이 진행되는가</a:t>
                      </a:r>
                      <a:r>
                        <a:rPr lang="en-US" altLang="ko-KR" sz="1400" dirty="0">
                          <a:solidFill>
                            <a:srgbClr val="C00000"/>
                          </a:solidFill>
                        </a:rPr>
                        <a:t> ?</a:t>
                      </a:r>
                      <a:endParaRPr sz="1300" b="0" i="0" dirty="0">
                        <a:solidFill>
                          <a:srgbClr val="C00000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13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다수</a:t>
                      </a:r>
                      <a:r>
                        <a:rPr sz="13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3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후속의</a:t>
                      </a:r>
                      <a:r>
                        <a:rPr sz="13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3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선행</a:t>
                      </a:r>
                      <a:r>
                        <a:rPr sz="13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3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입력</a:t>
                      </a:r>
                      <a:br>
                        <a:rPr lang="en-US" sz="13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</a:br>
                      <a:r>
                        <a:rPr lang="ko-KR" altLang="ko-KR" sz="1400" dirty="0">
                          <a:solidFill>
                            <a:srgbClr val="C00000"/>
                          </a:solidFill>
                        </a:rPr>
                        <a:t>후속 작업이 많이 걸려 있음</a:t>
                      </a:r>
                      <a:endParaRPr sz="1300" b="0" i="0" dirty="0">
                        <a:solidFill>
                          <a:srgbClr val="C00000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13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완전</a:t>
                      </a:r>
                      <a:r>
                        <a:rPr sz="13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3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독립</a:t>
                      </a:r>
                      <a:endParaRPr lang="en-US" sz="1300" b="0" i="0" dirty="0">
                        <a:solidFill>
                          <a:srgbClr val="222222"/>
                        </a:solidFill>
                        <a:latin typeface="Noto Sans CJK KR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ko-KR" sz="1400" dirty="0">
                          <a:solidFill>
                            <a:srgbClr val="C00000"/>
                          </a:solidFill>
                        </a:rPr>
                        <a:t>혼자 독립된 일</a:t>
                      </a:r>
                      <a:endParaRPr sz="1300" b="0" i="0" dirty="0">
                        <a:solidFill>
                          <a:srgbClr val="C00000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3794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time_constraint
시간제약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13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고정</a:t>
                      </a:r>
                      <a:r>
                        <a:rPr sz="13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3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시각</a:t>
                      </a:r>
                      <a:r>
                        <a:rPr sz="13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3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강도</a:t>
                      </a:r>
                      <a:endParaRPr lang="en-US" sz="1300" b="0" i="0" dirty="0">
                        <a:solidFill>
                          <a:srgbClr val="222222"/>
                        </a:solidFill>
                        <a:latin typeface="Noto Sans CJK KR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ko-KR" sz="1400" dirty="0">
                          <a:solidFill>
                            <a:srgbClr val="C00000"/>
                          </a:solidFill>
                        </a:rPr>
                        <a:t>특정 시간에만 가능한가</a:t>
                      </a:r>
                      <a:r>
                        <a:rPr lang="en-US" altLang="ko-KR" sz="1400" dirty="0">
                          <a:solidFill>
                            <a:srgbClr val="C00000"/>
                          </a:solidFill>
                        </a:rPr>
                        <a:t>?</a:t>
                      </a:r>
                      <a:endParaRPr sz="1300" b="0" i="0" dirty="0">
                        <a:solidFill>
                          <a:srgbClr val="C00000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13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시각</a:t>
                      </a:r>
                      <a:r>
                        <a:rPr sz="13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3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고정</a:t>
                      </a:r>
                      <a:r>
                        <a:rPr sz="13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(</a:t>
                      </a:r>
                      <a:r>
                        <a:rPr sz="13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회의</a:t>
                      </a:r>
                      <a:r>
                        <a:rPr sz="13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등)</a:t>
                      </a:r>
                      <a:endParaRPr lang="en-US" sz="1300" b="0" i="0" dirty="0">
                        <a:solidFill>
                          <a:srgbClr val="222222"/>
                        </a:solidFill>
                        <a:latin typeface="Noto Sans CJK KR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ko-KR" sz="1400" dirty="0">
                          <a:solidFill>
                            <a:srgbClr val="C00000"/>
                          </a:solidFill>
                        </a:rPr>
                        <a:t>회의, 병원 예약, 전화 가능 시간</a:t>
                      </a:r>
                      <a:endParaRPr sz="1300" b="0" i="0" dirty="0">
                        <a:solidFill>
                          <a:srgbClr val="C00000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13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언제든</a:t>
                      </a:r>
                      <a:r>
                        <a:rPr sz="13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3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가능</a:t>
                      </a:r>
                      <a:endParaRPr lang="en-US" sz="1300" b="0" i="0" dirty="0">
                        <a:solidFill>
                          <a:srgbClr val="222222"/>
                        </a:solidFill>
                        <a:latin typeface="Noto Sans CJK KR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ko-KR" sz="1400" dirty="0">
                          <a:solidFill>
                            <a:srgbClr val="C00000"/>
                          </a:solidFill>
                        </a:rPr>
                        <a:t>아무 때나 가능</a:t>
                      </a:r>
                      <a:endParaRPr sz="1300" b="0" i="0" dirty="0">
                        <a:solidFill>
                          <a:srgbClr val="C00000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11292840" cy="1503436"/>
          </a:xfrm>
          <a:prstGeom prst="rect">
            <a:avLst/>
          </a:prstGeom>
          <a:solidFill>
            <a:srgbClr val="FDF3E7"/>
          </a:solidFill>
          <a:ln w="12700">
            <a:solidFill>
              <a:srgbClr val="DD84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7520" y="5045000"/>
            <a:ext cx="11292840" cy="14927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 dirty="0" err="1">
                <a:solidFill>
                  <a:srgbClr val="C00000"/>
                </a:solidFill>
                <a:highlight>
                  <a:srgbClr val="FFFF00"/>
                </a:highlight>
                <a:latin typeface="Noto Sans CJK KR"/>
              </a:rPr>
              <a:t>우선순위</a:t>
            </a:r>
            <a:r>
              <a:rPr sz="1300" b="1" i="0" dirty="0">
                <a:solidFill>
                  <a:srgbClr val="C00000"/>
                </a:solidFill>
                <a:highlight>
                  <a:srgbClr val="FFFF00"/>
                </a:highlight>
                <a:latin typeface="Noto Sans CJK KR"/>
              </a:rPr>
              <a:t> </a:t>
            </a:r>
            <a:r>
              <a:rPr sz="1300" b="1" i="0" dirty="0" err="1">
                <a:solidFill>
                  <a:srgbClr val="C00000"/>
                </a:solidFill>
                <a:highlight>
                  <a:srgbClr val="FFFF00"/>
                </a:highlight>
                <a:latin typeface="Noto Sans CJK KR"/>
              </a:rPr>
              <a:t>결정</a:t>
            </a:r>
            <a:r>
              <a:rPr sz="1300" b="1" i="0" dirty="0">
                <a:solidFill>
                  <a:srgbClr val="C00000"/>
                </a:solidFill>
                <a:highlight>
                  <a:srgbClr val="FFFF00"/>
                </a:highlight>
                <a:latin typeface="Noto Sans CJK KR"/>
              </a:rPr>
              <a:t> </a:t>
            </a:r>
            <a:r>
              <a:rPr sz="1300" b="1" i="0" dirty="0" err="1">
                <a:solidFill>
                  <a:srgbClr val="C00000"/>
                </a:solidFill>
                <a:highlight>
                  <a:srgbClr val="FFFF00"/>
                </a:highlight>
                <a:latin typeface="Noto Sans CJK KR"/>
              </a:rPr>
              <a:t>로직</a:t>
            </a:r>
            <a:r>
              <a:rPr sz="1300" b="1" i="0" dirty="0">
                <a:solidFill>
                  <a:srgbClr val="C00000"/>
                </a:solidFill>
                <a:highlight>
                  <a:srgbClr val="FFFF00"/>
                </a:highlight>
                <a:latin typeface="Noto Sans CJK KR"/>
              </a:rPr>
              <a:t> (</a:t>
            </a:r>
            <a:r>
              <a:rPr sz="1300" b="1" i="0" dirty="0" err="1">
                <a:solidFill>
                  <a:srgbClr val="C00000"/>
                </a:solidFill>
                <a:highlight>
                  <a:srgbClr val="FFFF00"/>
                </a:highlight>
                <a:latin typeface="Noto Sans CJK KR"/>
              </a:rPr>
              <a:t>단순</a:t>
            </a:r>
            <a:r>
              <a:rPr sz="1300" b="1" i="0" dirty="0">
                <a:solidFill>
                  <a:srgbClr val="C00000"/>
                </a:solidFill>
                <a:highlight>
                  <a:srgbClr val="FFFF00"/>
                </a:highlight>
                <a:latin typeface="Noto Sans CJK KR"/>
              </a:rPr>
              <a:t> </a:t>
            </a:r>
            <a:r>
              <a:rPr sz="1300" b="1" i="0" dirty="0" err="1">
                <a:solidFill>
                  <a:srgbClr val="C00000"/>
                </a:solidFill>
                <a:highlight>
                  <a:srgbClr val="FFFF00"/>
                </a:highlight>
                <a:latin typeface="Noto Sans CJK KR"/>
              </a:rPr>
              <a:t>합산</a:t>
            </a:r>
            <a:r>
              <a:rPr sz="1300" b="1" i="0" dirty="0">
                <a:solidFill>
                  <a:srgbClr val="C00000"/>
                </a:solidFill>
                <a:highlight>
                  <a:srgbClr val="FFFF00"/>
                </a:highlight>
                <a:latin typeface="Noto Sans CJK KR"/>
              </a:rPr>
              <a:t> </a:t>
            </a:r>
            <a:r>
              <a:rPr sz="1300" b="1" i="0" dirty="0" err="1">
                <a:solidFill>
                  <a:srgbClr val="C00000"/>
                </a:solidFill>
                <a:highlight>
                  <a:srgbClr val="FFFF00"/>
                </a:highlight>
                <a:latin typeface="Noto Sans CJK KR"/>
              </a:rPr>
              <a:t>아님</a:t>
            </a:r>
            <a:r>
              <a:rPr sz="1300" b="1" i="0" dirty="0">
                <a:solidFill>
                  <a:srgbClr val="C00000"/>
                </a:solidFill>
                <a:highlight>
                  <a:srgbClr val="FFFF00"/>
                </a:highlight>
                <a:latin typeface="Noto Sans CJK KR"/>
              </a:rPr>
              <a:t>)</a:t>
            </a:r>
            <a:endParaRPr lang="en-US" sz="1300" b="1" i="0" dirty="0">
              <a:solidFill>
                <a:srgbClr val="C00000"/>
              </a:solidFill>
              <a:highlight>
                <a:srgbClr val="FFFF00"/>
              </a:highlight>
              <a:latin typeface="Noto Sans CJK KR"/>
            </a:endParaRPr>
          </a:p>
          <a:p>
            <a:pPr algn="l">
              <a:spcAft>
                <a:spcPts val="300"/>
              </a:spcAft>
            </a:pPr>
            <a:endParaRPr sz="1300" b="1" i="0" dirty="0">
              <a:solidFill>
                <a:srgbClr val="C00000"/>
              </a:solidFill>
              <a:highlight>
                <a:srgbClr val="FFFF00"/>
              </a:highlight>
              <a:latin typeface="Noto Sans CJK KR"/>
            </a:endParaRPr>
          </a:p>
          <a:p>
            <a:pPr algn="l"/>
            <a:r>
              <a:rPr sz="1200" b="0" i="0" dirty="0">
                <a:solidFill>
                  <a:srgbClr val="222222"/>
                </a:solidFill>
                <a:highlight>
                  <a:srgbClr val="00FF00"/>
                </a:highlight>
                <a:latin typeface="Noto Sans CJK KR"/>
              </a:rPr>
              <a:t>① </a:t>
            </a:r>
            <a:r>
              <a:rPr sz="1200" b="0" i="0" dirty="0" err="1">
                <a:solidFill>
                  <a:srgbClr val="222222"/>
                </a:solidFill>
                <a:highlight>
                  <a:srgbClr val="00FF00"/>
                </a:highlight>
                <a:latin typeface="Noto Sans CJK KR"/>
              </a:rPr>
              <a:t>이미</a:t>
            </a:r>
            <a:r>
              <a:rPr sz="1200" b="0" i="0" dirty="0">
                <a:solidFill>
                  <a:srgbClr val="222222"/>
                </a:solidFill>
                <a:highlight>
                  <a:srgbClr val="00FF00"/>
                </a:highlight>
                <a:latin typeface="Noto Sans CJK KR"/>
              </a:rPr>
              <a:t> </a:t>
            </a:r>
            <a:r>
              <a:rPr sz="1200" b="0" i="0" dirty="0" err="1">
                <a:solidFill>
                  <a:srgbClr val="222222"/>
                </a:solidFill>
                <a:highlight>
                  <a:srgbClr val="00FF00"/>
                </a:highlight>
                <a:latin typeface="Noto Sans CJK KR"/>
              </a:rPr>
              <a:t>지난</a:t>
            </a:r>
            <a:r>
              <a:rPr sz="1200" b="0" i="0" dirty="0">
                <a:solidFill>
                  <a:srgbClr val="222222"/>
                </a:solidFill>
                <a:highlight>
                  <a:srgbClr val="00FF00"/>
                </a:highlight>
                <a:latin typeface="Noto Sans CJK KR"/>
              </a:rPr>
              <a:t> </a:t>
            </a:r>
            <a:r>
              <a:rPr sz="1200" b="0" i="0" dirty="0" err="1">
                <a:solidFill>
                  <a:srgbClr val="222222"/>
                </a:solidFill>
                <a:highlight>
                  <a:srgbClr val="00FF00"/>
                </a:highlight>
                <a:latin typeface="Noto Sans CJK KR"/>
              </a:rPr>
              <a:t>일정</a:t>
            </a:r>
            <a:r>
              <a:rPr sz="1200" b="0" i="0" dirty="0">
                <a:solidFill>
                  <a:srgbClr val="222222"/>
                </a:solidFill>
                <a:highlight>
                  <a:srgbClr val="00FF00"/>
                </a:highlight>
                <a:latin typeface="Noto Sans CJK KR"/>
              </a:rPr>
              <a:t> → </a:t>
            </a:r>
            <a:r>
              <a:rPr sz="1200" b="0" i="0" dirty="0" err="1">
                <a:solidFill>
                  <a:srgbClr val="222222"/>
                </a:solidFill>
                <a:highlight>
                  <a:srgbClr val="00FF00"/>
                </a:highlight>
                <a:latin typeface="Noto Sans CJK KR"/>
              </a:rPr>
              <a:t>무조건</a:t>
            </a:r>
            <a:r>
              <a:rPr sz="1200" b="0" i="0" dirty="0">
                <a:solidFill>
                  <a:srgbClr val="222222"/>
                </a:solidFill>
                <a:highlight>
                  <a:srgbClr val="00FF00"/>
                </a:highlight>
                <a:latin typeface="Noto Sans CJK KR"/>
              </a:rPr>
              <a:t> </a:t>
            </a:r>
            <a:r>
              <a:rPr sz="1200" b="0" i="0" dirty="0" err="1">
                <a:solidFill>
                  <a:srgbClr val="222222"/>
                </a:solidFill>
                <a:highlight>
                  <a:srgbClr val="00FF00"/>
                </a:highlight>
                <a:latin typeface="Noto Sans CJK KR"/>
              </a:rPr>
              <a:t>최하위</a:t>
            </a:r>
            <a:r>
              <a:rPr sz="1200" b="0" i="0" dirty="0">
                <a:solidFill>
                  <a:srgbClr val="222222"/>
                </a:solidFill>
                <a:highlight>
                  <a:srgbClr val="00FF00"/>
                </a:highlight>
                <a:latin typeface="Noto Sans CJK KR"/>
              </a:rPr>
              <a:t>(</a:t>
            </a:r>
            <a:r>
              <a:rPr sz="1200" b="0" i="0" dirty="0" err="1">
                <a:solidFill>
                  <a:srgbClr val="222222"/>
                </a:solidFill>
                <a:highlight>
                  <a:srgbClr val="00FF00"/>
                </a:highlight>
                <a:latin typeface="Noto Sans CJK KR"/>
              </a:rPr>
              <a:t>urgency·tc</a:t>
            </a:r>
            <a:r>
              <a:rPr sz="1200" b="0" i="0" dirty="0">
                <a:solidFill>
                  <a:srgbClr val="222222"/>
                </a:solidFill>
                <a:highlight>
                  <a:srgbClr val="00FF00"/>
                </a:highlight>
                <a:latin typeface="Noto Sans CJK KR"/>
              </a:rPr>
              <a:t> </a:t>
            </a:r>
            <a:r>
              <a:rPr sz="1200" b="0" i="0" dirty="0" err="1">
                <a:solidFill>
                  <a:srgbClr val="222222"/>
                </a:solidFill>
                <a:highlight>
                  <a:srgbClr val="00FF00"/>
                </a:highlight>
                <a:latin typeface="Noto Sans CJK KR"/>
              </a:rPr>
              <a:t>강제</a:t>
            </a:r>
            <a:r>
              <a:rPr sz="1200" b="0" i="0" dirty="0">
                <a:solidFill>
                  <a:srgbClr val="222222"/>
                </a:solidFill>
                <a:highlight>
                  <a:srgbClr val="00FF00"/>
                </a:highlight>
                <a:latin typeface="Noto Sans CJK KR"/>
              </a:rPr>
              <a:t>=1)  </a:t>
            </a:r>
            <a:endParaRPr lang="en-US" sz="1200" b="0" i="0" dirty="0">
              <a:solidFill>
                <a:srgbClr val="222222"/>
              </a:solidFill>
              <a:highlight>
                <a:srgbClr val="00FF00"/>
              </a:highlight>
              <a:latin typeface="Noto Sans CJK KR"/>
            </a:endParaRPr>
          </a:p>
          <a:p>
            <a:pPr algn="l"/>
            <a:r>
              <a:rPr sz="1200" b="0" i="0" dirty="0">
                <a:solidFill>
                  <a:srgbClr val="222222"/>
                </a:solidFill>
                <a:highlight>
                  <a:srgbClr val="00FF00"/>
                </a:highlight>
                <a:latin typeface="Noto Sans CJK KR"/>
              </a:rPr>
              <a:t> </a:t>
            </a:r>
            <a:endParaRPr lang="en-US" sz="1200" b="0" i="0" dirty="0">
              <a:solidFill>
                <a:srgbClr val="222222"/>
              </a:solidFill>
              <a:highlight>
                <a:srgbClr val="00FF00"/>
              </a:highlight>
              <a:latin typeface="Noto Sans CJK KR"/>
            </a:endParaRPr>
          </a:p>
          <a:p>
            <a:r>
              <a:rPr sz="1200" b="0" i="0" dirty="0">
                <a:solidFill>
                  <a:srgbClr val="222222"/>
                </a:solidFill>
                <a:highlight>
                  <a:srgbClr val="00FF00"/>
                </a:highlight>
                <a:latin typeface="Noto Sans CJK KR"/>
              </a:rPr>
              <a:t>② </a:t>
            </a:r>
            <a:r>
              <a:rPr sz="1200" b="0" i="0" dirty="0" err="1">
                <a:solidFill>
                  <a:srgbClr val="222222"/>
                </a:solidFill>
                <a:highlight>
                  <a:srgbClr val="00FF00"/>
                </a:highlight>
                <a:latin typeface="Noto Sans CJK KR"/>
              </a:rPr>
              <a:t>의존성</a:t>
            </a:r>
            <a:r>
              <a:rPr sz="1200" b="0" i="0" dirty="0">
                <a:solidFill>
                  <a:srgbClr val="222222"/>
                </a:solidFill>
                <a:highlight>
                  <a:srgbClr val="00FF00"/>
                </a:highlight>
                <a:latin typeface="Noto Sans CJK KR"/>
              </a:rPr>
              <a:t> </a:t>
            </a:r>
            <a:r>
              <a:rPr sz="1200" b="0" i="0" dirty="0" err="1">
                <a:solidFill>
                  <a:srgbClr val="222222"/>
                </a:solidFill>
                <a:highlight>
                  <a:srgbClr val="00FF00"/>
                </a:highlight>
                <a:latin typeface="Noto Sans CJK KR"/>
              </a:rPr>
              <a:t>체인</a:t>
            </a:r>
            <a:r>
              <a:rPr sz="1200" b="0" i="0" dirty="0">
                <a:solidFill>
                  <a:srgbClr val="222222"/>
                </a:solidFill>
                <a:highlight>
                  <a:srgbClr val="00FF00"/>
                </a:highlight>
                <a:latin typeface="Noto Sans CJK KR"/>
              </a:rPr>
              <a:t> → </a:t>
            </a:r>
            <a:r>
              <a:rPr sz="1200" b="0" i="0" dirty="0" err="1">
                <a:solidFill>
                  <a:srgbClr val="222222"/>
                </a:solidFill>
                <a:highlight>
                  <a:srgbClr val="00FF00"/>
                </a:highlight>
                <a:latin typeface="Noto Sans CJK KR"/>
              </a:rPr>
              <a:t>선행부터</a:t>
            </a:r>
            <a:r>
              <a:rPr sz="1200" b="0" i="0" dirty="0">
                <a:solidFill>
                  <a:srgbClr val="222222"/>
                </a:solidFill>
                <a:highlight>
                  <a:srgbClr val="00FF00"/>
                </a:highlight>
                <a:latin typeface="Noto Sans CJK KR"/>
              </a:rPr>
              <a:t> </a:t>
            </a:r>
            <a:r>
              <a:rPr sz="1200" b="0" i="0" dirty="0" err="1">
                <a:solidFill>
                  <a:srgbClr val="222222"/>
                </a:solidFill>
                <a:highlight>
                  <a:srgbClr val="00FF00"/>
                </a:highlight>
                <a:latin typeface="Noto Sans CJK KR"/>
              </a:rPr>
              <a:t>연속</a:t>
            </a:r>
            <a:r>
              <a:rPr sz="1200" b="0" i="0" dirty="0">
                <a:solidFill>
                  <a:srgbClr val="222222"/>
                </a:solidFill>
                <a:highlight>
                  <a:srgbClr val="00FF00"/>
                </a:highlight>
                <a:latin typeface="Noto Sans CJK KR"/>
              </a:rPr>
              <a:t> </a:t>
            </a:r>
            <a:r>
              <a:rPr sz="1200" b="0" i="0" dirty="0" err="1">
                <a:solidFill>
                  <a:srgbClr val="222222"/>
                </a:solidFill>
                <a:highlight>
                  <a:srgbClr val="00FF00"/>
                </a:highlight>
                <a:latin typeface="Noto Sans CJK KR"/>
              </a:rPr>
              <a:t>배치</a:t>
            </a:r>
            <a:r>
              <a:rPr sz="1200" b="0" i="0" dirty="0">
                <a:solidFill>
                  <a:srgbClr val="222222"/>
                </a:solidFill>
                <a:highlight>
                  <a:srgbClr val="00FF00"/>
                </a:highlight>
                <a:latin typeface="Noto Sans CJK KR"/>
              </a:rPr>
              <a:t>  </a:t>
            </a:r>
            <a:r>
              <a:rPr lang="en-US" sz="1200" b="0" i="0" dirty="0">
                <a:solidFill>
                  <a:srgbClr val="222222"/>
                </a:solidFill>
                <a:highlight>
                  <a:srgbClr val="00FF00"/>
                </a:highlight>
                <a:latin typeface="Noto Sans CJK KR"/>
              </a:rPr>
              <a:t>=&gt; </a:t>
            </a:r>
            <a:r>
              <a:rPr lang="ko-KR" altLang="ko-KR" sz="1200" dirty="0">
                <a:solidFill>
                  <a:srgbClr val="C00000"/>
                </a:solidFill>
                <a:highlight>
                  <a:srgbClr val="00FF00"/>
                </a:highlight>
              </a:rPr>
              <a:t>어떤 일을 하려면 먼저 끝나야 하는 일이 있을 때, 그 선행 작업을 앞에 두고 관련 작업들을 끊지 않고 이어서 배치한다는 의미</a:t>
            </a:r>
            <a:endParaRPr lang="en-US" sz="1200" b="0" i="0" dirty="0">
              <a:solidFill>
                <a:srgbClr val="C00000"/>
              </a:solidFill>
              <a:highlight>
                <a:srgbClr val="00FF00"/>
              </a:highlight>
              <a:latin typeface="Noto Sans CJK KR"/>
            </a:endParaRPr>
          </a:p>
          <a:p>
            <a:pPr algn="l"/>
            <a:endParaRPr lang="en-US" sz="1200" b="0" i="0" dirty="0">
              <a:solidFill>
                <a:srgbClr val="C00000"/>
              </a:solidFill>
              <a:highlight>
                <a:srgbClr val="00FF00"/>
              </a:highlight>
              <a:latin typeface="Noto Sans CJK KR"/>
            </a:endParaRPr>
          </a:p>
          <a:p>
            <a:pPr algn="l"/>
            <a:r>
              <a:rPr sz="1200" b="0" i="0" dirty="0">
                <a:solidFill>
                  <a:srgbClr val="222222"/>
                </a:solidFill>
                <a:highlight>
                  <a:srgbClr val="00FF00"/>
                </a:highlight>
                <a:latin typeface="Noto Sans CJK KR"/>
              </a:rPr>
              <a:t>③ </a:t>
            </a:r>
            <a:r>
              <a:rPr sz="1200" b="0" i="0" dirty="0" err="1">
                <a:solidFill>
                  <a:srgbClr val="222222"/>
                </a:solidFill>
                <a:highlight>
                  <a:srgbClr val="00FF00"/>
                </a:highlight>
                <a:latin typeface="Noto Sans CJK KR"/>
              </a:rPr>
              <a:t>나머지</a:t>
            </a:r>
            <a:r>
              <a:rPr sz="1200" b="0" i="0" dirty="0">
                <a:solidFill>
                  <a:srgbClr val="222222"/>
                </a:solidFill>
                <a:highlight>
                  <a:srgbClr val="00FF00"/>
                </a:highlight>
                <a:latin typeface="Noto Sans CJK KR"/>
              </a:rPr>
              <a:t> → 4축 </a:t>
            </a:r>
            <a:r>
              <a:rPr sz="1200" b="0" i="0" dirty="0" err="1">
                <a:solidFill>
                  <a:srgbClr val="222222"/>
                </a:solidFill>
                <a:highlight>
                  <a:srgbClr val="00FF00"/>
                </a:highlight>
                <a:latin typeface="Noto Sans CJK KR"/>
              </a:rPr>
              <a:t>종합</a:t>
            </a:r>
            <a:r>
              <a:rPr sz="1200" b="0" i="0" dirty="0">
                <a:solidFill>
                  <a:srgbClr val="222222"/>
                </a:solidFill>
                <a:highlight>
                  <a:srgbClr val="00FF00"/>
                </a:highlight>
                <a:latin typeface="Noto Sans CJK KR"/>
              </a:rPr>
              <a:t> </a:t>
            </a:r>
            <a:r>
              <a:rPr sz="1200" b="0" i="0" dirty="0" err="1">
                <a:solidFill>
                  <a:srgbClr val="222222"/>
                </a:solidFill>
                <a:highlight>
                  <a:srgbClr val="00FF00"/>
                </a:highlight>
                <a:latin typeface="Noto Sans CJK KR"/>
              </a:rPr>
              <a:t>판단</a:t>
            </a:r>
            <a:endParaRPr sz="1200" b="0" i="0" dirty="0">
              <a:solidFill>
                <a:srgbClr val="222222"/>
              </a:solidFill>
              <a:highlight>
                <a:srgbClr val="00FF00"/>
              </a:highlight>
              <a:latin typeface="Noto Sans CJK K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789920" y="655828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Noto Sans CJK KR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dirty="0">
                <a:solidFill>
                  <a:srgbClr val="FFFFFF"/>
                </a:solidFill>
                <a:latin typeface="Noto Sans CJK KR"/>
              </a:rPr>
              <a:t>SFT vs DPO </a:t>
            </a:r>
            <a:r>
              <a:rPr sz="2600" b="1" i="0" dirty="0" err="1">
                <a:solidFill>
                  <a:srgbClr val="FFFFFF"/>
                </a:solidFill>
                <a:latin typeface="Noto Sans CJK KR"/>
              </a:rPr>
              <a:t>데이터셋</a:t>
            </a:r>
            <a:r>
              <a:rPr sz="2600" b="1" i="0" dirty="0">
                <a:solidFill>
                  <a:srgbClr val="FFFFFF"/>
                </a:solidFill>
                <a:latin typeface="Noto Sans CJK KR"/>
              </a:rPr>
              <a:t> </a:t>
            </a:r>
            <a:r>
              <a:rPr sz="2600" b="1" i="0" dirty="0" err="1">
                <a:solidFill>
                  <a:srgbClr val="FFFFFF"/>
                </a:solidFill>
                <a:latin typeface="Noto Sans CJK KR"/>
              </a:rPr>
              <a:t>개형</a:t>
            </a:r>
            <a:endParaRPr sz="2600" b="1" i="0" dirty="0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1229360"/>
            <a:ext cx="5486400" cy="2468880"/>
          </a:xfrm>
          <a:prstGeom prst="rect">
            <a:avLst/>
          </a:prstGeom>
          <a:solidFill>
            <a:srgbClr val="F4F6F8"/>
          </a:solidFill>
          <a:ln w="12700">
            <a:solidFill>
              <a:srgbClr val="4C7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320800"/>
            <a:ext cx="5120640" cy="129266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 dirty="0">
                <a:solidFill>
                  <a:srgbClr val="4C72B0"/>
                </a:solidFill>
                <a:highlight>
                  <a:srgbClr val="FFFF00"/>
                </a:highlight>
                <a:latin typeface="Noto Sans CJK KR"/>
              </a:rPr>
              <a:t>SFT — </a:t>
            </a:r>
            <a:r>
              <a:rPr sz="1400" b="1" i="0" dirty="0" err="1">
                <a:solidFill>
                  <a:srgbClr val="4C72B0"/>
                </a:solidFill>
                <a:highlight>
                  <a:srgbClr val="FFFF00"/>
                </a:highlight>
                <a:latin typeface="Noto Sans CJK KR"/>
              </a:rPr>
              <a:t>지도학습</a:t>
            </a:r>
            <a:r>
              <a:rPr sz="1400" b="1" i="0" dirty="0">
                <a:solidFill>
                  <a:srgbClr val="4C72B0"/>
                </a:solidFill>
                <a:highlight>
                  <a:srgbClr val="FFFF00"/>
                </a:highlight>
                <a:latin typeface="Noto Sans CJK KR"/>
              </a:rPr>
              <a:t> (sft_v4_train, </a:t>
            </a:r>
            <a:r>
              <a:rPr lang="en-US" sz="1400" b="1" i="0" dirty="0">
                <a:solidFill>
                  <a:srgbClr val="4C72B0"/>
                </a:solidFill>
                <a:highlight>
                  <a:srgbClr val="FFFF00"/>
                </a:highlight>
                <a:latin typeface="Noto Sans CJK KR"/>
              </a:rPr>
              <a:t>989</a:t>
            </a:r>
            <a:r>
              <a:rPr sz="1400" b="1" i="0" dirty="0">
                <a:solidFill>
                  <a:srgbClr val="4C72B0"/>
                </a:solidFill>
                <a:highlight>
                  <a:srgbClr val="FFFF00"/>
                </a:highlight>
                <a:latin typeface="Noto Sans CJK KR"/>
              </a:rPr>
              <a:t>행)</a:t>
            </a:r>
            <a:endParaRPr lang="en-US" sz="1400" b="1" i="0" dirty="0">
              <a:solidFill>
                <a:srgbClr val="4C72B0"/>
              </a:solidFill>
              <a:highlight>
                <a:srgbClr val="FFFF00"/>
              </a:highlight>
              <a:latin typeface="Noto Sans CJK KR"/>
            </a:endParaRPr>
          </a:p>
          <a:p>
            <a:pPr algn="l">
              <a:spcAft>
                <a:spcPts val="400"/>
              </a:spcAft>
            </a:pPr>
            <a:endParaRPr sz="1400" b="1" i="0" dirty="0">
              <a:solidFill>
                <a:srgbClr val="4C72B0"/>
              </a:solidFill>
              <a:latin typeface="Noto Sans CJK KR"/>
            </a:endParaRPr>
          </a:p>
          <a:p>
            <a:pPr algn="l">
              <a:spcAft>
                <a:spcPts val="400"/>
              </a:spcAft>
            </a:pPr>
            <a:r>
              <a:rPr sz="1200" b="0" i="0" dirty="0">
                <a:solidFill>
                  <a:srgbClr val="C00000"/>
                </a:solidFill>
                <a:latin typeface="Noto Sans CJK KR"/>
              </a:rPr>
              <a:t>'</a:t>
            </a:r>
            <a:r>
              <a:rPr sz="1200" b="0" i="0" dirty="0" err="1">
                <a:solidFill>
                  <a:srgbClr val="C00000"/>
                </a:solidFill>
                <a:latin typeface="Noto Sans CJK KR"/>
              </a:rPr>
              <a:t>입력</a:t>
            </a:r>
            <a:r>
              <a:rPr sz="1200" b="0" i="0" dirty="0">
                <a:solidFill>
                  <a:srgbClr val="C00000"/>
                </a:solidFill>
                <a:latin typeface="Noto Sans CJK KR"/>
              </a:rPr>
              <a:t> → </a:t>
            </a:r>
            <a:r>
              <a:rPr sz="1200" b="0" i="0" dirty="0" err="1">
                <a:solidFill>
                  <a:srgbClr val="C00000"/>
                </a:solidFill>
                <a:latin typeface="Noto Sans CJK KR"/>
              </a:rPr>
              <a:t>정답</a:t>
            </a:r>
            <a:r>
              <a:rPr sz="1200" b="0" i="0" dirty="0">
                <a:solidFill>
                  <a:srgbClr val="C00000"/>
                </a:solidFill>
                <a:latin typeface="Noto Sans CJK KR"/>
              </a:rPr>
              <a:t>' </a:t>
            </a:r>
            <a:r>
              <a:rPr sz="1200" b="0" i="0" dirty="0" err="1">
                <a:solidFill>
                  <a:srgbClr val="C00000"/>
                </a:solidFill>
                <a:latin typeface="Noto Sans CJK KR"/>
              </a:rPr>
              <a:t>쌍만</a:t>
            </a:r>
            <a:r>
              <a:rPr sz="1200" b="0" i="0" dirty="0">
                <a:solidFill>
                  <a:srgbClr val="C00000"/>
                </a:solidFill>
                <a:latin typeface="Noto Sans CJK KR"/>
              </a:rPr>
              <a:t> </a:t>
            </a:r>
            <a:r>
              <a:rPr sz="1200" b="0" i="0" dirty="0" err="1">
                <a:solidFill>
                  <a:srgbClr val="C00000"/>
                </a:solidFill>
                <a:latin typeface="Noto Sans CJK KR"/>
              </a:rPr>
              <a:t>필요</a:t>
            </a:r>
            <a:endParaRPr sz="1200" b="0" i="0" dirty="0">
              <a:solidFill>
                <a:srgbClr val="C00000"/>
              </a:solidFill>
              <a:latin typeface="Noto Sans CJK KR"/>
            </a:endParaRPr>
          </a:p>
          <a:p>
            <a:pPr algn="l"/>
            <a:r>
              <a:rPr sz="1150" b="0" i="0" dirty="0">
                <a:solidFill>
                  <a:srgbClr val="C00000"/>
                </a:solidFill>
                <a:latin typeface="Noto Sans CJK KR"/>
              </a:rPr>
              <a:t>prompt · chosen(</a:t>
            </a:r>
            <a:r>
              <a:rPr sz="1150" b="0" i="0" dirty="0" err="1">
                <a:solidFill>
                  <a:srgbClr val="C00000"/>
                </a:solidFill>
                <a:latin typeface="Noto Sans CJK KR"/>
              </a:rPr>
              <a:t>정답</a:t>
            </a:r>
            <a:r>
              <a:rPr sz="1150" b="0" i="0" dirty="0">
                <a:solidFill>
                  <a:srgbClr val="C00000"/>
                </a:solidFill>
                <a:latin typeface="Noto Sans CJK KR"/>
              </a:rPr>
              <a:t> JSON) · persona · today · source</a:t>
            </a:r>
            <a:endParaRPr lang="en-US" sz="1150" b="0" i="1" dirty="0">
              <a:solidFill>
                <a:srgbClr val="C00000"/>
              </a:solidFill>
              <a:latin typeface="Noto Sans CJK KR"/>
            </a:endParaRPr>
          </a:p>
          <a:p>
            <a:pPr algn="l">
              <a:spcBef>
                <a:spcPts val="600"/>
              </a:spcBef>
            </a:pPr>
            <a:r>
              <a:rPr sz="1150" b="0" i="1" dirty="0" err="1">
                <a:solidFill>
                  <a:srgbClr val="4C72B0"/>
                </a:solidFill>
                <a:highlight>
                  <a:srgbClr val="FFFF00"/>
                </a:highlight>
                <a:latin typeface="Noto Sans CJK KR"/>
              </a:rPr>
              <a:t>목적</a:t>
            </a:r>
            <a:r>
              <a:rPr sz="1150" b="0" i="1" dirty="0">
                <a:solidFill>
                  <a:srgbClr val="4C72B0"/>
                </a:solidFill>
                <a:highlight>
                  <a:srgbClr val="FFFF00"/>
                </a:highlight>
                <a:latin typeface="Noto Sans CJK KR"/>
              </a:rPr>
              <a:t>: 4축 JSON </a:t>
            </a:r>
            <a:r>
              <a:rPr sz="1150" b="0" i="1" dirty="0" err="1">
                <a:solidFill>
                  <a:srgbClr val="4C72B0"/>
                </a:solidFill>
                <a:highlight>
                  <a:srgbClr val="FFFF00"/>
                </a:highlight>
                <a:latin typeface="Noto Sans CJK KR"/>
              </a:rPr>
              <a:t>포맷과</a:t>
            </a:r>
            <a:r>
              <a:rPr sz="1150" b="0" i="1" dirty="0">
                <a:solidFill>
                  <a:srgbClr val="4C72B0"/>
                </a:solidFill>
                <a:highlight>
                  <a:srgbClr val="FFFF00"/>
                </a:highlight>
                <a:latin typeface="Noto Sans CJK KR"/>
              </a:rPr>
              <a:t> </a:t>
            </a:r>
            <a:r>
              <a:rPr sz="1150" b="0" i="1" dirty="0" err="1">
                <a:solidFill>
                  <a:srgbClr val="4C72B0"/>
                </a:solidFill>
                <a:highlight>
                  <a:srgbClr val="FFFF00"/>
                </a:highlight>
                <a:latin typeface="Noto Sans CJK KR"/>
              </a:rPr>
              <a:t>채점</a:t>
            </a:r>
            <a:r>
              <a:rPr sz="1150" b="0" i="1" dirty="0">
                <a:solidFill>
                  <a:srgbClr val="4C72B0"/>
                </a:solidFill>
                <a:highlight>
                  <a:srgbClr val="FFFF00"/>
                </a:highlight>
                <a:latin typeface="Noto Sans CJK KR"/>
              </a:rPr>
              <a:t> </a:t>
            </a:r>
            <a:r>
              <a:rPr sz="1150" b="0" i="1" dirty="0" err="1">
                <a:solidFill>
                  <a:srgbClr val="4C72B0"/>
                </a:solidFill>
                <a:highlight>
                  <a:srgbClr val="FFFF00"/>
                </a:highlight>
                <a:latin typeface="Noto Sans CJK KR"/>
              </a:rPr>
              <a:t>규칙</a:t>
            </a:r>
            <a:r>
              <a:rPr sz="1150" b="0" i="1" dirty="0">
                <a:solidFill>
                  <a:srgbClr val="4C72B0"/>
                </a:solidFill>
                <a:highlight>
                  <a:srgbClr val="FFFF00"/>
                </a:highlight>
                <a:latin typeface="Noto Sans CJK KR"/>
              </a:rPr>
              <a:t> </a:t>
            </a:r>
            <a:r>
              <a:rPr sz="1150" b="0" i="1" dirty="0" err="1">
                <a:solidFill>
                  <a:srgbClr val="4C72B0"/>
                </a:solidFill>
                <a:highlight>
                  <a:srgbClr val="FFFF00"/>
                </a:highlight>
                <a:latin typeface="Noto Sans CJK KR"/>
              </a:rPr>
              <a:t>자체를</a:t>
            </a:r>
            <a:r>
              <a:rPr sz="1150" b="0" i="1" dirty="0">
                <a:solidFill>
                  <a:srgbClr val="4C72B0"/>
                </a:solidFill>
                <a:highlight>
                  <a:srgbClr val="FFFF00"/>
                </a:highlight>
                <a:latin typeface="Noto Sans CJK KR"/>
              </a:rPr>
              <a:t> </a:t>
            </a:r>
            <a:r>
              <a:rPr sz="1150" b="0" i="1" dirty="0" err="1">
                <a:solidFill>
                  <a:srgbClr val="4C72B0"/>
                </a:solidFill>
                <a:highlight>
                  <a:srgbClr val="FFFF00"/>
                </a:highlight>
                <a:latin typeface="Noto Sans CJK KR"/>
              </a:rPr>
              <a:t>주입</a:t>
            </a:r>
            <a:r>
              <a:rPr sz="1150" b="0" i="1" dirty="0">
                <a:solidFill>
                  <a:srgbClr val="4C72B0"/>
                </a:solidFill>
                <a:highlight>
                  <a:srgbClr val="FFFF00"/>
                </a:highlight>
                <a:latin typeface="Noto Sans CJK KR"/>
              </a:rPr>
              <a:t> (</a:t>
            </a:r>
            <a:r>
              <a:rPr sz="1150" b="0" i="1" dirty="0" err="1">
                <a:solidFill>
                  <a:srgbClr val="4C72B0"/>
                </a:solidFill>
                <a:highlight>
                  <a:srgbClr val="FFFF00"/>
                </a:highlight>
                <a:latin typeface="Noto Sans CJK KR"/>
              </a:rPr>
              <a:t>없는</a:t>
            </a:r>
            <a:r>
              <a:rPr sz="1150" b="0" i="1" dirty="0">
                <a:solidFill>
                  <a:srgbClr val="4C72B0"/>
                </a:solidFill>
                <a:highlight>
                  <a:srgbClr val="FFFF00"/>
                </a:highlight>
                <a:latin typeface="Noto Sans CJK KR"/>
              </a:rPr>
              <a:t> </a:t>
            </a:r>
            <a:r>
              <a:rPr sz="1150" b="0" i="1" dirty="0" err="1">
                <a:solidFill>
                  <a:srgbClr val="4C72B0"/>
                </a:solidFill>
                <a:highlight>
                  <a:srgbClr val="FFFF00"/>
                </a:highlight>
                <a:latin typeface="Noto Sans CJK KR"/>
              </a:rPr>
              <a:t>능력</a:t>
            </a:r>
            <a:r>
              <a:rPr sz="1150" b="0" i="1" dirty="0">
                <a:solidFill>
                  <a:srgbClr val="4C72B0"/>
                </a:solidFill>
                <a:highlight>
                  <a:srgbClr val="FFFF00"/>
                </a:highlight>
                <a:latin typeface="Noto Sans CJK KR"/>
              </a:rPr>
              <a:t> </a:t>
            </a:r>
            <a:r>
              <a:rPr sz="1150" b="0" i="1" dirty="0" err="1">
                <a:solidFill>
                  <a:srgbClr val="4C72B0"/>
                </a:solidFill>
                <a:highlight>
                  <a:srgbClr val="FFFF00"/>
                </a:highlight>
                <a:latin typeface="Noto Sans CJK KR"/>
              </a:rPr>
              <a:t>추가</a:t>
            </a:r>
            <a:r>
              <a:rPr sz="1150" b="0" i="1" dirty="0">
                <a:solidFill>
                  <a:srgbClr val="4C72B0"/>
                </a:solidFill>
                <a:highlight>
                  <a:srgbClr val="FFFF00"/>
                </a:highlight>
                <a:latin typeface="Noto Sans CJK KR"/>
              </a:rPr>
              <a:t>)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239520"/>
            <a:ext cx="5486400" cy="2468880"/>
          </a:xfrm>
          <a:prstGeom prst="rect">
            <a:avLst/>
          </a:prstGeom>
          <a:solidFill>
            <a:srgbClr val="F4F6F8"/>
          </a:solidFill>
          <a:ln w="12700">
            <a:solidFill>
              <a:srgbClr val="DD84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290320"/>
            <a:ext cx="5120640" cy="129266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 dirty="0">
                <a:solidFill>
                  <a:srgbClr val="DD8452"/>
                </a:solidFill>
                <a:highlight>
                  <a:srgbClr val="FFFF00"/>
                </a:highlight>
                <a:latin typeface="Noto Sans CJK KR"/>
              </a:rPr>
              <a:t>DPO — </a:t>
            </a:r>
            <a:r>
              <a:rPr sz="1400" b="1" i="0" dirty="0" err="1">
                <a:solidFill>
                  <a:srgbClr val="DD8452"/>
                </a:solidFill>
                <a:highlight>
                  <a:srgbClr val="FFFF00"/>
                </a:highlight>
                <a:latin typeface="Noto Sans CJK KR"/>
              </a:rPr>
              <a:t>선호학습</a:t>
            </a:r>
            <a:r>
              <a:rPr sz="1400" b="1" i="0" dirty="0">
                <a:solidFill>
                  <a:srgbClr val="DD8452"/>
                </a:solidFill>
                <a:highlight>
                  <a:srgbClr val="FFFF00"/>
                </a:highlight>
                <a:latin typeface="Noto Sans CJK KR"/>
              </a:rPr>
              <a:t> (dpo_pairs_v5, 1,368쌍)</a:t>
            </a:r>
            <a:endParaRPr lang="en-US" sz="1400" b="1" i="0" dirty="0">
              <a:solidFill>
                <a:srgbClr val="DD8452"/>
              </a:solidFill>
              <a:highlight>
                <a:srgbClr val="FFFF00"/>
              </a:highlight>
              <a:latin typeface="Noto Sans CJK KR"/>
            </a:endParaRPr>
          </a:p>
          <a:p>
            <a:pPr algn="l">
              <a:spcAft>
                <a:spcPts val="400"/>
              </a:spcAft>
            </a:pPr>
            <a:endParaRPr sz="1400" b="1" i="0" dirty="0">
              <a:solidFill>
                <a:srgbClr val="DD8452"/>
              </a:solidFill>
              <a:latin typeface="Noto Sans CJK KR"/>
            </a:endParaRPr>
          </a:p>
          <a:p>
            <a:pPr algn="l">
              <a:spcAft>
                <a:spcPts val="400"/>
              </a:spcAft>
            </a:pPr>
            <a:r>
              <a:rPr sz="1200" b="0" i="0" dirty="0">
                <a:solidFill>
                  <a:srgbClr val="222222"/>
                </a:solidFill>
                <a:latin typeface="Noto Sans CJK KR"/>
              </a:rPr>
              <a:t>'</a:t>
            </a:r>
            <a:r>
              <a:rPr sz="1200" b="0" i="0" dirty="0" err="1">
                <a:solidFill>
                  <a:srgbClr val="C00000"/>
                </a:solidFill>
                <a:latin typeface="Noto Sans CJK KR"/>
              </a:rPr>
              <a:t>좋은</a:t>
            </a:r>
            <a:r>
              <a:rPr sz="1200" b="0" i="0" dirty="0">
                <a:solidFill>
                  <a:srgbClr val="C00000"/>
                </a:solidFill>
                <a:latin typeface="Noto Sans CJK KR"/>
              </a:rPr>
              <a:t> 답(chosen) vs </a:t>
            </a:r>
            <a:r>
              <a:rPr sz="1200" b="0" i="0" dirty="0" err="1">
                <a:solidFill>
                  <a:srgbClr val="C00000"/>
                </a:solidFill>
                <a:latin typeface="Noto Sans CJK KR"/>
              </a:rPr>
              <a:t>나쁜</a:t>
            </a:r>
            <a:r>
              <a:rPr sz="1200" b="0" i="0" dirty="0">
                <a:solidFill>
                  <a:srgbClr val="C00000"/>
                </a:solidFill>
                <a:latin typeface="Noto Sans CJK KR"/>
              </a:rPr>
              <a:t> 답(rejected)' 쌍 </a:t>
            </a:r>
            <a:r>
              <a:rPr sz="1200" b="0" i="0" dirty="0" err="1">
                <a:solidFill>
                  <a:srgbClr val="C00000"/>
                </a:solidFill>
                <a:latin typeface="Noto Sans CJK KR"/>
              </a:rPr>
              <a:t>필요</a:t>
            </a:r>
            <a:endParaRPr sz="1200" b="0" i="0" dirty="0">
              <a:solidFill>
                <a:srgbClr val="C00000"/>
              </a:solidFill>
              <a:latin typeface="Noto Sans CJK KR"/>
            </a:endParaRPr>
          </a:p>
          <a:p>
            <a:pPr algn="l"/>
            <a:r>
              <a:rPr sz="1150" b="0" i="0" dirty="0">
                <a:solidFill>
                  <a:srgbClr val="C00000"/>
                </a:solidFill>
                <a:latin typeface="Noto Sans CJK KR"/>
              </a:rPr>
              <a:t>+ rejected · category(</a:t>
            </a:r>
            <a:r>
              <a:rPr sz="1150" b="0" i="0" dirty="0" err="1">
                <a:solidFill>
                  <a:srgbClr val="C00000"/>
                </a:solidFill>
                <a:latin typeface="Noto Sans CJK KR"/>
              </a:rPr>
              <a:t>위반유형</a:t>
            </a:r>
            <a:r>
              <a:rPr sz="1150" b="0" i="0" dirty="0">
                <a:solidFill>
                  <a:srgbClr val="C00000"/>
                </a:solidFill>
                <a:latin typeface="Noto Sans CJK KR"/>
              </a:rPr>
              <a:t>)</a:t>
            </a:r>
            <a:endParaRPr lang="en-US" sz="1150" b="0" i="1" dirty="0">
              <a:solidFill>
                <a:srgbClr val="C00000"/>
              </a:solidFill>
              <a:latin typeface="Noto Sans CJK KR"/>
            </a:endParaRPr>
          </a:p>
          <a:p>
            <a:pPr algn="l">
              <a:spcBef>
                <a:spcPts val="600"/>
              </a:spcBef>
            </a:pPr>
            <a:r>
              <a:rPr sz="1150" b="0" i="1" dirty="0" err="1">
                <a:solidFill>
                  <a:srgbClr val="DD8452"/>
                </a:solidFill>
                <a:highlight>
                  <a:srgbClr val="FFFF00"/>
                </a:highlight>
                <a:latin typeface="Noto Sans CJK KR"/>
              </a:rPr>
              <a:t>목적</a:t>
            </a:r>
            <a:r>
              <a:rPr sz="1150" b="0" i="1" dirty="0">
                <a:solidFill>
                  <a:srgbClr val="DD8452"/>
                </a:solidFill>
                <a:highlight>
                  <a:srgbClr val="FFFF00"/>
                </a:highlight>
                <a:latin typeface="Noto Sans CJK KR"/>
              </a:rPr>
              <a:t>: 한 </a:t>
            </a:r>
            <a:r>
              <a:rPr sz="1150" b="0" i="1" dirty="0" err="1">
                <a:solidFill>
                  <a:srgbClr val="DD8452"/>
                </a:solidFill>
                <a:highlight>
                  <a:srgbClr val="FFFF00"/>
                </a:highlight>
                <a:latin typeface="Noto Sans CJK KR"/>
              </a:rPr>
              <a:t>가지</a:t>
            </a:r>
            <a:r>
              <a:rPr sz="1150" b="0" i="1" dirty="0">
                <a:solidFill>
                  <a:srgbClr val="DD8452"/>
                </a:solidFill>
                <a:highlight>
                  <a:srgbClr val="FFFF00"/>
                </a:highlight>
                <a:latin typeface="Noto Sans CJK KR"/>
              </a:rPr>
              <a:t> </a:t>
            </a:r>
            <a:r>
              <a:rPr sz="1150" b="0" i="1" dirty="0" err="1">
                <a:solidFill>
                  <a:srgbClr val="DD8452"/>
                </a:solidFill>
                <a:highlight>
                  <a:srgbClr val="FFFF00"/>
                </a:highlight>
                <a:latin typeface="Noto Sans CJK KR"/>
              </a:rPr>
              <a:t>규칙만</a:t>
            </a:r>
            <a:r>
              <a:rPr sz="1150" b="0" i="1" dirty="0">
                <a:solidFill>
                  <a:srgbClr val="DD8452"/>
                </a:solidFill>
                <a:highlight>
                  <a:srgbClr val="FFFF00"/>
                </a:highlight>
                <a:latin typeface="Noto Sans CJK KR"/>
              </a:rPr>
              <a:t> </a:t>
            </a:r>
            <a:r>
              <a:rPr sz="1150" b="0" i="1" dirty="0" err="1">
                <a:solidFill>
                  <a:srgbClr val="DD8452"/>
                </a:solidFill>
                <a:highlight>
                  <a:srgbClr val="FFFF00"/>
                </a:highlight>
                <a:latin typeface="Noto Sans CJK KR"/>
              </a:rPr>
              <a:t>틀린</a:t>
            </a:r>
            <a:r>
              <a:rPr sz="1150" b="0" i="1" dirty="0">
                <a:solidFill>
                  <a:srgbClr val="DD8452"/>
                </a:solidFill>
                <a:highlight>
                  <a:srgbClr val="FFFF00"/>
                </a:highlight>
                <a:latin typeface="Noto Sans CJK KR"/>
              </a:rPr>
              <a:t> hard </a:t>
            </a:r>
            <a:r>
              <a:rPr sz="1150" b="0" i="1" dirty="0" err="1">
                <a:solidFill>
                  <a:srgbClr val="DD8452"/>
                </a:solidFill>
                <a:highlight>
                  <a:srgbClr val="FFFF00"/>
                </a:highlight>
                <a:latin typeface="Noto Sans CJK KR"/>
              </a:rPr>
              <a:t>negative로</a:t>
            </a:r>
            <a:r>
              <a:rPr sz="1150" b="0" i="1" dirty="0">
                <a:solidFill>
                  <a:srgbClr val="DD8452"/>
                </a:solidFill>
                <a:highlight>
                  <a:srgbClr val="FFFF00"/>
                </a:highlight>
                <a:latin typeface="Noto Sans CJK KR"/>
              </a:rPr>
              <a:t> 그 </a:t>
            </a:r>
            <a:r>
              <a:rPr sz="1150" b="0" i="1" dirty="0" err="1">
                <a:solidFill>
                  <a:srgbClr val="DD8452"/>
                </a:solidFill>
                <a:highlight>
                  <a:srgbClr val="FFFF00"/>
                </a:highlight>
                <a:latin typeface="Noto Sans CJK KR"/>
              </a:rPr>
              <a:t>규칙</a:t>
            </a:r>
            <a:r>
              <a:rPr sz="1150" b="0" i="1" dirty="0">
                <a:solidFill>
                  <a:srgbClr val="DD8452"/>
                </a:solidFill>
                <a:highlight>
                  <a:srgbClr val="FFFF00"/>
                </a:highlight>
                <a:latin typeface="Noto Sans CJK KR"/>
              </a:rPr>
              <a:t> </a:t>
            </a:r>
            <a:r>
              <a:rPr sz="1150" b="0" i="1" dirty="0" err="1">
                <a:solidFill>
                  <a:srgbClr val="DD8452"/>
                </a:solidFill>
                <a:highlight>
                  <a:srgbClr val="FFFF00"/>
                </a:highlight>
                <a:latin typeface="Noto Sans CJK KR"/>
              </a:rPr>
              <a:t>위반을</a:t>
            </a:r>
            <a:r>
              <a:rPr sz="1150" b="0" i="1" dirty="0">
                <a:solidFill>
                  <a:srgbClr val="DD8452"/>
                </a:solidFill>
                <a:highlight>
                  <a:srgbClr val="FFFF00"/>
                </a:highlight>
                <a:latin typeface="Noto Sans CJK KR"/>
              </a:rPr>
              <a:t> </a:t>
            </a:r>
            <a:r>
              <a:rPr sz="1150" b="0" i="1" dirty="0" err="1">
                <a:solidFill>
                  <a:srgbClr val="DD8452"/>
                </a:solidFill>
                <a:highlight>
                  <a:srgbClr val="FFFF00"/>
                </a:highlight>
                <a:latin typeface="Noto Sans CJK KR"/>
              </a:rPr>
              <a:t>벌점</a:t>
            </a:r>
            <a:endParaRPr sz="1150" b="0" i="1" dirty="0">
              <a:solidFill>
                <a:srgbClr val="DD8452"/>
              </a:solidFill>
              <a:highlight>
                <a:srgbClr val="FFFF00"/>
              </a:highlight>
              <a:latin typeface="Noto Sans CJK K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97600" y="4261728"/>
            <a:ext cx="54864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v"/>
            </a:pPr>
            <a:r>
              <a:rPr sz="1300" b="1" i="0" dirty="0">
                <a:solidFill>
                  <a:srgbClr val="1F2D3D"/>
                </a:solidFill>
                <a:latin typeface="Noto Sans CJK KR"/>
              </a:rPr>
              <a:t>DPO rejected </a:t>
            </a:r>
            <a:r>
              <a:rPr sz="1300" b="1" i="0" dirty="0" err="1">
                <a:solidFill>
                  <a:srgbClr val="1F2D3D"/>
                </a:solidFill>
                <a:latin typeface="Noto Sans CJK KR"/>
              </a:rPr>
              <a:t>위반</a:t>
            </a:r>
            <a:r>
              <a:rPr sz="1300" b="1" i="0" dirty="0">
                <a:solidFill>
                  <a:srgbClr val="1F2D3D"/>
                </a:solidFill>
                <a:latin typeface="Noto Sans CJK KR"/>
              </a:rPr>
              <a:t> </a:t>
            </a:r>
            <a:r>
              <a:rPr sz="1300" b="1" i="0" dirty="0" err="1">
                <a:solidFill>
                  <a:srgbClr val="1F2D3D"/>
                </a:solidFill>
                <a:latin typeface="Noto Sans CJK KR"/>
              </a:rPr>
              <a:t>유형</a:t>
            </a:r>
            <a:r>
              <a:rPr sz="1300" b="1" i="0" dirty="0">
                <a:solidFill>
                  <a:srgbClr val="1F2D3D"/>
                </a:solidFill>
                <a:latin typeface="Noto Sans CJK KR"/>
              </a:rPr>
              <a:t> </a:t>
            </a:r>
            <a:r>
              <a:rPr sz="1300" b="1" i="0" dirty="0" err="1">
                <a:solidFill>
                  <a:srgbClr val="1F2D3D"/>
                </a:solidFill>
                <a:latin typeface="Noto Sans CJK KR"/>
              </a:rPr>
              <a:t>분포</a:t>
            </a:r>
            <a:r>
              <a:rPr sz="1300" b="1" i="0" dirty="0">
                <a:solidFill>
                  <a:srgbClr val="1F2D3D"/>
                </a:solidFill>
                <a:latin typeface="Noto Sans CJK KR"/>
              </a:rPr>
              <a:t> (v5)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6992329"/>
              </p:ext>
            </p:extLst>
          </p:nvPr>
        </p:nvGraphicFramePr>
        <p:xfrm>
          <a:off x="6228080" y="4663440"/>
          <a:ext cx="5572759" cy="1831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4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0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7959">
                  <a:extLst>
                    <a:ext uri="{9D8B030D-6E8A-4147-A177-3AD203B41FA5}">
                      <a16:colId xmlns:a16="http://schemas.microsoft.com/office/drawing/2014/main" val="2290983305"/>
                    </a:ext>
                  </a:extLst>
                </a:gridCol>
              </a:tblGrid>
              <a:tr h="205134">
                <a:tc>
                  <a:txBody>
                    <a:bodyPr/>
                    <a:lstStyle/>
                    <a:p>
                      <a:pPr algn="l"/>
                      <a:r>
                        <a:rPr sz="1300" b="1" i="0" dirty="0" err="1">
                          <a:solidFill>
                            <a:srgbClr val="FFFFFF"/>
                          </a:solidFill>
                          <a:latin typeface="Noto Sans CJK KR"/>
                        </a:rPr>
                        <a:t>유형</a:t>
                      </a:r>
                      <a:endParaRPr sz="1300" b="1" i="0" dirty="0">
                        <a:solidFill>
                          <a:srgbClr val="FFFFFF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DD84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 dirty="0" err="1">
                          <a:solidFill>
                            <a:srgbClr val="FFFFFF"/>
                          </a:solidFill>
                          <a:latin typeface="Noto Sans CJK KR"/>
                        </a:rPr>
                        <a:t>rejected가</a:t>
                      </a:r>
                      <a:r>
                        <a:rPr sz="1300" b="1" i="0" dirty="0">
                          <a:solidFill>
                            <a:srgbClr val="FFFFFF"/>
                          </a:solidFill>
                          <a:latin typeface="Noto Sans CJK KR"/>
                        </a:rPr>
                        <a:t> </a:t>
                      </a:r>
                      <a:r>
                        <a:rPr sz="1300" b="1" i="0" dirty="0" err="1">
                          <a:solidFill>
                            <a:srgbClr val="FFFFFF"/>
                          </a:solidFill>
                          <a:latin typeface="Noto Sans CJK KR"/>
                        </a:rPr>
                        <a:t>일부러</a:t>
                      </a:r>
                      <a:r>
                        <a:rPr sz="1300" b="1" i="0" dirty="0">
                          <a:solidFill>
                            <a:srgbClr val="FFFFFF"/>
                          </a:solidFill>
                          <a:latin typeface="Noto Sans CJK KR"/>
                        </a:rPr>
                        <a:t> </a:t>
                      </a:r>
                      <a:r>
                        <a:rPr sz="1300" b="1" i="0" dirty="0" err="1">
                          <a:solidFill>
                            <a:srgbClr val="FFFFFF"/>
                          </a:solidFill>
                          <a:latin typeface="Noto Sans CJK KR"/>
                        </a:rPr>
                        <a:t>저지른</a:t>
                      </a:r>
                      <a:r>
                        <a:rPr sz="1300" b="1" i="0" dirty="0">
                          <a:solidFill>
                            <a:srgbClr val="FFFFFF"/>
                          </a:solidFill>
                          <a:latin typeface="Noto Sans CJK KR"/>
                        </a:rPr>
                        <a:t> </a:t>
                      </a:r>
                      <a:r>
                        <a:rPr sz="1300" b="1" i="0" dirty="0" err="1">
                          <a:solidFill>
                            <a:srgbClr val="FFFFFF"/>
                          </a:solidFill>
                          <a:latin typeface="Noto Sans CJK KR"/>
                        </a:rPr>
                        <a:t>오류</a:t>
                      </a:r>
                      <a:endParaRPr sz="1300" b="1" i="0" dirty="0">
                        <a:solidFill>
                          <a:srgbClr val="FFFFFF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DD84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 dirty="0">
                          <a:solidFill>
                            <a:srgbClr val="FFFFFF"/>
                          </a:solidFill>
                          <a:latin typeface="Noto Sans CJK KR"/>
                        </a:rPr>
                        <a:t>쌍</a:t>
                      </a:r>
                    </a:p>
                  </a:txBody>
                  <a:tcPr marL="73152" marR="54864" marT="27432" marB="27432" anchor="ctr">
                    <a:solidFill>
                      <a:srgbClr val="DD84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Noto Sans CJK KR"/>
                        </a:rPr>
                        <a:t>order_score_mismatch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점수는</a:t>
                      </a:r>
                      <a:r>
                        <a:rPr sz="12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맞는데</a:t>
                      </a:r>
                      <a:r>
                        <a:rPr sz="12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순서가</a:t>
                      </a:r>
                      <a:r>
                        <a:rPr sz="12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점수와</a:t>
                      </a:r>
                      <a:r>
                        <a:rPr sz="12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모순</a:t>
                      </a:r>
                      <a:endParaRPr sz="1200" b="0" i="0" dirty="0">
                        <a:solidFill>
                          <a:srgbClr val="222222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230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Noto Sans CJK KR"/>
                        </a:rPr>
                        <a:t>granularity_swap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마감</a:t>
                      </a:r>
                      <a:r>
                        <a:rPr sz="12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단위</a:t>
                      </a:r>
                      <a:r>
                        <a:rPr sz="12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(</a:t>
                      </a:r>
                      <a:r>
                        <a:rPr sz="12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시각↔날짜</a:t>
                      </a:r>
                      <a:r>
                        <a:rPr sz="12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) </a:t>
                      </a:r>
                      <a:r>
                        <a:rPr sz="12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혼동</a:t>
                      </a:r>
                      <a:endParaRPr sz="1200" b="0" i="0" dirty="0">
                        <a:solidFill>
                          <a:srgbClr val="222222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220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Noto Sans CJK KR"/>
                        </a:rPr>
                        <a:t>date_confusion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지난</a:t>
                      </a:r>
                      <a:r>
                        <a:rPr sz="12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날짜를</a:t>
                      </a:r>
                      <a:r>
                        <a:rPr sz="12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오늘</a:t>
                      </a:r>
                      <a:r>
                        <a:rPr sz="12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/</a:t>
                      </a:r>
                      <a:r>
                        <a:rPr sz="12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미래로</a:t>
                      </a:r>
                      <a:r>
                        <a:rPr sz="12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착각</a:t>
                      </a:r>
                      <a:endParaRPr sz="1200" b="0" i="0" dirty="0">
                        <a:solidFill>
                          <a:srgbClr val="222222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177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Noto Sans CJK KR"/>
                        </a:rPr>
                        <a:t>dependency_scatter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의존성</a:t>
                      </a:r>
                      <a:r>
                        <a:rPr sz="12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체인을</a:t>
                      </a:r>
                      <a:r>
                        <a:rPr sz="12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분산</a:t>
                      </a:r>
                      <a:r>
                        <a:rPr sz="12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배치</a:t>
                      </a:r>
                      <a:endParaRPr sz="1200" b="0" i="0" dirty="0">
                        <a:solidFill>
                          <a:srgbClr val="222222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185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12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risk_ignore</a:t>
                      </a:r>
                      <a:r>
                        <a:rPr sz="12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/ </a:t>
                      </a:r>
                      <a:r>
                        <a:rPr sz="12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past_hallucination</a:t>
                      </a:r>
                      <a:endParaRPr sz="1200" b="0" i="0" dirty="0">
                        <a:solidFill>
                          <a:srgbClr val="222222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리스크</a:t>
                      </a:r>
                      <a:r>
                        <a:rPr sz="12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미반영</a:t>
                      </a:r>
                      <a:r>
                        <a:rPr sz="12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/ </a:t>
                      </a:r>
                      <a:r>
                        <a:rPr sz="12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지남</a:t>
                      </a:r>
                      <a:r>
                        <a:rPr sz="12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단정</a:t>
                      </a:r>
                      <a:endParaRPr sz="1200" b="0" i="0" dirty="0">
                        <a:solidFill>
                          <a:srgbClr val="222222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92 / 36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1356576" y="6446520"/>
            <a:ext cx="713503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Noto Sans CJK KR"/>
              </a:rPr>
              <a:t>15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276B3224-A230-C000-9001-0C299F0BE1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720" y="2704902"/>
            <a:ext cx="4216400" cy="202855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32AEDBD3-174E-1ACC-EDB1-69C2B091A0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1550" y="2582983"/>
            <a:ext cx="2676899" cy="160762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DPO PAIR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dirty="0">
                <a:solidFill>
                  <a:srgbClr val="FFFFFF"/>
                </a:solidFill>
                <a:latin typeface="Noto Sans CJK KR"/>
              </a:rPr>
              <a:t>DPO </a:t>
            </a:r>
            <a:r>
              <a:rPr sz="2600" b="1" i="0" dirty="0" err="1">
                <a:solidFill>
                  <a:srgbClr val="FFFFFF"/>
                </a:solidFill>
                <a:latin typeface="Noto Sans CJK KR"/>
              </a:rPr>
              <a:t>선호쌍</a:t>
            </a:r>
            <a:r>
              <a:rPr sz="2600" b="1" i="0" dirty="0">
                <a:solidFill>
                  <a:srgbClr val="FFFFFF"/>
                </a:solidFill>
                <a:latin typeface="Noto Sans CJK KR"/>
              </a:rPr>
              <a:t> </a:t>
            </a:r>
            <a:r>
              <a:rPr sz="2600" b="1" i="0" dirty="0" err="1">
                <a:solidFill>
                  <a:srgbClr val="FFFFFF"/>
                </a:solidFill>
                <a:latin typeface="Noto Sans CJK KR"/>
              </a:rPr>
              <a:t>실제</a:t>
            </a:r>
            <a:r>
              <a:rPr sz="2600" b="1" i="0" dirty="0">
                <a:solidFill>
                  <a:srgbClr val="FFFFFF"/>
                </a:solidFill>
                <a:latin typeface="Noto Sans CJK KR"/>
              </a:rPr>
              <a:t> </a:t>
            </a:r>
            <a:r>
              <a:rPr sz="2600" b="1" i="0" dirty="0" err="1">
                <a:solidFill>
                  <a:srgbClr val="FFFFFF"/>
                </a:solidFill>
                <a:latin typeface="Noto Sans CJK KR"/>
              </a:rPr>
              <a:t>예시</a:t>
            </a:r>
            <a:r>
              <a:rPr sz="2600" b="1" i="0" dirty="0">
                <a:solidFill>
                  <a:srgbClr val="FFFFFF"/>
                </a:solidFill>
                <a:latin typeface="Noto Sans CJK KR"/>
              </a:rPr>
              <a:t> — </a:t>
            </a:r>
            <a:r>
              <a:rPr sz="2600" b="1" i="0" dirty="0" err="1">
                <a:solidFill>
                  <a:srgbClr val="FFFFFF"/>
                </a:solidFill>
                <a:latin typeface="Noto Sans CJK KR"/>
              </a:rPr>
              <a:t>date_confusion</a:t>
            </a:r>
            <a:endParaRPr sz="2600" b="1" i="0" dirty="0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92840" cy="52322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 dirty="0" err="1">
                <a:solidFill>
                  <a:srgbClr val="222222"/>
                </a:solidFill>
                <a:latin typeface="Noto Sans CJK KR"/>
              </a:rPr>
              <a:t>입력</a:t>
            </a:r>
            <a:r>
              <a:rPr sz="1300" b="1" i="0" dirty="0">
                <a:solidFill>
                  <a:srgbClr val="222222"/>
                </a:solidFill>
                <a:latin typeface="Noto Sans CJK KR"/>
              </a:rPr>
              <a:t>: </a:t>
            </a:r>
            <a:r>
              <a:rPr sz="1300" b="1" i="0" dirty="0" err="1">
                <a:solidFill>
                  <a:srgbClr val="222222"/>
                </a:solidFill>
                <a:latin typeface="Noto Sans CJK KR"/>
              </a:rPr>
              <a:t>정순자</a:t>
            </a:r>
            <a:r>
              <a:rPr sz="1300" b="1" i="0" dirty="0">
                <a:solidFill>
                  <a:srgbClr val="222222"/>
                </a:solidFill>
                <a:latin typeface="Noto Sans CJK KR"/>
              </a:rPr>
              <a:t> (</a:t>
            </a:r>
            <a:r>
              <a:rPr sz="1300" b="1" i="0" dirty="0" err="1">
                <a:solidFill>
                  <a:srgbClr val="222222"/>
                </a:solidFill>
                <a:latin typeface="Noto Sans CJK KR"/>
              </a:rPr>
              <a:t>무직</a:t>
            </a:r>
            <a:r>
              <a:rPr sz="1300" b="1" i="0" dirty="0">
                <a:solidFill>
                  <a:srgbClr val="222222"/>
                </a:solidFill>
                <a:latin typeface="Noto Sans CJK KR"/>
              </a:rPr>
              <a:t>, 86세) · </a:t>
            </a:r>
            <a:r>
              <a:rPr sz="1300" b="1" i="0" dirty="0" err="1">
                <a:solidFill>
                  <a:srgbClr val="222222"/>
                </a:solidFill>
                <a:latin typeface="Noto Sans CJK KR"/>
              </a:rPr>
              <a:t>오늘</a:t>
            </a:r>
            <a:r>
              <a:rPr sz="1300" b="1" i="0" dirty="0">
                <a:solidFill>
                  <a:srgbClr val="222222"/>
                </a:solidFill>
                <a:latin typeface="Noto Sans CJK KR"/>
              </a:rPr>
              <a:t> = 2026-12-11</a:t>
            </a:r>
          </a:p>
          <a:p>
            <a:pPr algn="l"/>
            <a:r>
              <a:rPr sz="1250" b="0" i="0" dirty="0">
                <a:solidFill>
                  <a:srgbClr val="C0392B"/>
                </a:solidFill>
                <a:latin typeface="Noto Sans CJK KR"/>
              </a:rPr>
              <a:t>id=4 </a:t>
            </a:r>
            <a:r>
              <a:rPr sz="1250" b="0" i="0" dirty="0">
                <a:solidFill>
                  <a:srgbClr val="C0392B"/>
                </a:solidFill>
                <a:highlight>
                  <a:srgbClr val="FFFF00"/>
                </a:highlight>
                <a:latin typeface="Noto Sans CJK KR"/>
              </a:rPr>
              <a:t>'12월 9일 14:00까지 </a:t>
            </a:r>
            <a:r>
              <a:rPr sz="1250" b="0" i="0" dirty="0" err="1">
                <a:solidFill>
                  <a:srgbClr val="C0392B"/>
                </a:solidFill>
                <a:highlight>
                  <a:srgbClr val="FFFF00"/>
                </a:highlight>
                <a:latin typeface="Noto Sans CJK KR"/>
              </a:rPr>
              <a:t>손주</a:t>
            </a:r>
            <a:r>
              <a:rPr sz="1250" b="0" i="0" dirty="0">
                <a:solidFill>
                  <a:srgbClr val="C0392B"/>
                </a:solidFill>
                <a:highlight>
                  <a:srgbClr val="FFFF00"/>
                </a:highlight>
                <a:latin typeface="Noto Sans CJK KR"/>
              </a:rPr>
              <a:t> </a:t>
            </a:r>
            <a:r>
              <a:rPr sz="1250" b="0" i="0" dirty="0" err="1">
                <a:solidFill>
                  <a:srgbClr val="C0392B"/>
                </a:solidFill>
                <a:highlight>
                  <a:srgbClr val="FFFF00"/>
                </a:highlight>
                <a:latin typeface="Noto Sans CJK KR"/>
              </a:rPr>
              <a:t>겨울</a:t>
            </a:r>
            <a:r>
              <a:rPr lang="ko-KR" altLang="en-US" sz="1250" dirty="0">
                <a:solidFill>
                  <a:srgbClr val="C0392B"/>
                </a:solidFill>
                <a:highlight>
                  <a:srgbClr val="FFFF00"/>
                </a:highlight>
                <a:latin typeface="Noto Sans CJK KR"/>
              </a:rPr>
              <a:t>에</a:t>
            </a:r>
            <a:r>
              <a:rPr sz="1250" b="0" i="0" dirty="0">
                <a:solidFill>
                  <a:srgbClr val="C0392B"/>
                </a:solidFill>
                <a:highlight>
                  <a:srgbClr val="FFFF00"/>
                </a:highlight>
                <a:latin typeface="Noto Sans CJK KR"/>
              </a:rPr>
              <a:t> </a:t>
            </a:r>
            <a:r>
              <a:rPr sz="1250" b="0" i="0" dirty="0" err="1">
                <a:solidFill>
                  <a:srgbClr val="C0392B"/>
                </a:solidFill>
                <a:highlight>
                  <a:srgbClr val="FFFF00"/>
                </a:highlight>
                <a:latin typeface="Noto Sans CJK KR"/>
              </a:rPr>
              <a:t>인사</a:t>
            </a:r>
            <a:r>
              <a:rPr sz="1250" b="0" i="0" dirty="0">
                <a:solidFill>
                  <a:srgbClr val="C0392B"/>
                </a:solidFill>
                <a:highlight>
                  <a:srgbClr val="FFFF00"/>
                </a:highlight>
                <a:latin typeface="Noto Sans CJK KR"/>
              </a:rPr>
              <a:t> </a:t>
            </a:r>
            <a:r>
              <a:rPr sz="1250" b="0" i="0" dirty="0" err="1">
                <a:solidFill>
                  <a:srgbClr val="C0392B"/>
                </a:solidFill>
                <a:highlight>
                  <a:srgbClr val="FFFF00"/>
                </a:highlight>
                <a:latin typeface="Noto Sans CJK KR"/>
              </a:rPr>
              <a:t>카드</a:t>
            </a:r>
            <a:r>
              <a:rPr sz="1250" b="0" i="0" dirty="0">
                <a:solidFill>
                  <a:srgbClr val="C0392B"/>
                </a:solidFill>
                <a:highlight>
                  <a:srgbClr val="FFFF00"/>
                </a:highlight>
                <a:latin typeface="Noto Sans CJK KR"/>
              </a:rPr>
              <a:t> </a:t>
            </a:r>
            <a:r>
              <a:rPr sz="1250" b="0" i="0" dirty="0" err="1">
                <a:solidFill>
                  <a:srgbClr val="C0392B"/>
                </a:solidFill>
                <a:highlight>
                  <a:srgbClr val="FFFF00"/>
                </a:highlight>
                <a:latin typeface="Noto Sans CJK KR"/>
              </a:rPr>
              <a:t>써두기</a:t>
            </a:r>
            <a:r>
              <a:rPr sz="1250" b="0" i="0" dirty="0">
                <a:solidFill>
                  <a:srgbClr val="C0392B"/>
                </a:solidFill>
                <a:latin typeface="Noto Sans CJK KR"/>
              </a:rPr>
              <a:t>' → </a:t>
            </a:r>
            <a:r>
              <a:rPr sz="1250" b="1" i="0" dirty="0" err="1">
                <a:solidFill>
                  <a:srgbClr val="C00000"/>
                </a:solidFill>
                <a:latin typeface="Noto Sans CJK KR"/>
              </a:rPr>
              <a:t>오늘</a:t>
            </a:r>
            <a:r>
              <a:rPr sz="1250" b="1" i="0" dirty="0">
                <a:solidFill>
                  <a:srgbClr val="C00000"/>
                </a:solidFill>
                <a:latin typeface="Noto Sans CJK KR"/>
              </a:rPr>
              <a:t>(12/11)</a:t>
            </a:r>
            <a:r>
              <a:rPr sz="1250" b="1" i="0" dirty="0" err="1">
                <a:solidFill>
                  <a:srgbClr val="C00000"/>
                </a:solidFill>
                <a:latin typeface="Noto Sans CJK KR"/>
              </a:rPr>
              <a:t>보다</a:t>
            </a:r>
            <a:r>
              <a:rPr sz="1250" b="1" i="0" dirty="0">
                <a:solidFill>
                  <a:srgbClr val="C00000"/>
                </a:solidFill>
                <a:latin typeface="Noto Sans CJK KR"/>
              </a:rPr>
              <a:t> 2일 </a:t>
            </a:r>
            <a:r>
              <a:rPr sz="1250" b="1" i="0" dirty="0" err="1">
                <a:solidFill>
                  <a:srgbClr val="C00000"/>
                </a:solidFill>
                <a:latin typeface="Noto Sans CJK KR"/>
              </a:rPr>
              <a:t>지난</a:t>
            </a:r>
            <a:r>
              <a:rPr sz="1250" b="1" i="0" dirty="0">
                <a:solidFill>
                  <a:srgbClr val="C00000"/>
                </a:solidFill>
                <a:latin typeface="Noto Sans CJK KR"/>
              </a:rPr>
              <a:t> </a:t>
            </a:r>
            <a:r>
              <a:rPr sz="1250" b="1" i="0" dirty="0" err="1">
                <a:solidFill>
                  <a:srgbClr val="C00000"/>
                </a:solidFill>
                <a:latin typeface="Noto Sans CJK KR"/>
              </a:rPr>
              <a:t>일정</a:t>
            </a:r>
            <a:endParaRPr lang="ko-KR" altLang="en-US" sz="1200" b="1" dirty="0">
              <a:solidFill>
                <a:srgbClr val="C00000"/>
              </a:solidFill>
              <a:latin typeface="Noto Sans CJK KR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2031344"/>
            <a:ext cx="5486400" cy="3200400"/>
          </a:xfrm>
          <a:prstGeom prst="rect">
            <a:avLst/>
          </a:prstGeom>
          <a:solidFill>
            <a:srgbClr val="ECF6EE"/>
          </a:solidFill>
          <a:ln w="25400">
            <a:solidFill>
              <a:srgbClr val="55A8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168504"/>
            <a:ext cx="5120640" cy="180305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 dirty="0">
                <a:solidFill>
                  <a:srgbClr val="55A868"/>
                </a:solidFill>
                <a:latin typeface="Noto Sans CJK KR"/>
              </a:rPr>
              <a:t>✅ chosen (</a:t>
            </a:r>
            <a:r>
              <a:rPr sz="1500" b="1" i="0" dirty="0" err="1">
                <a:solidFill>
                  <a:srgbClr val="55A868"/>
                </a:solidFill>
                <a:latin typeface="Noto Sans CJK KR"/>
              </a:rPr>
              <a:t>선호</a:t>
            </a:r>
            <a:r>
              <a:rPr sz="1500" b="1" i="0" dirty="0">
                <a:solidFill>
                  <a:srgbClr val="55A868"/>
                </a:solidFill>
                <a:latin typeface="Noto Sans CJK KR"/>
              </a:rPr>
              <a:t>)</a:t>
            </a:r>
          </a:p>
          <a:p>
            <a:pPr algn="l"/>
            <a:r>
              <a:rPr sz="1300" b="1" i="0" dirty="0" err="1">
                <a:solidFill>
                  <a:srgbClr val="222222"/>
                </a:solidFill>
                <a:latin typeface="D2Coding"/>
              </a:rPr>
              <a:t>priority_order</a:t>
            </a:r>
            <a:r>
              <a:rPr sz="1300" b="1" i="0" dirty="0">
                <a:solidFill>
                  <a:srgbClr val="222222"/>
                </a:solidFill>
                <a:latin typeface="D2Coding"/>
              </a:rPr>
              <a:t>: [1, 3, 5, 2, 4]</a:t>
            </a:r>
            <a:r>
              <a:rPr lang="en-US" sz="1300" b="1" i="0" dirty="0">
                <a:solidFill>
                  <a:srgbClr val="222222"/>
                </a:solidFill>
                <a:latin typeface="D2Coding"/>
              </a:rPr>
              <a:t>’ </a:t>
            </a:r>
            <a:r>
              <a:rPr sz="1200" b="0" i="0" dirty="0">
                <a:solidFill>
                  <a:srgbClr val="C00000"/>
                </a:solidFill>
                <a:latin typeface="Noto Sans CJK KR"/>
              </a:rPr>
              <a:t>→ id=4를 </a:t>
            </a:r>
            <a:r>
              <a:rPr sz="1200" b="0" i="0" dirty="0" err="1">
                <a:solidFill>
                  <a:srgbClr val="C00000"/>
                </a:solidFill>
                <a:latin typeface="Noto Sans CJK KR"/>
              </a:rPr>
              <a:t>최하위</a:t>
            </a:r>
            <a:r>
              <a:rPr sz="1200" b="0" i="0" dirty="0">
                <a:solidFill>
                  <a:srgbClr val="C00000"/>
                </a:solidFill>
                <a:latin typeface="Noto Sans CJK KR"/>
              </a:rPr>
              <a:t>(5번째) </a:t>
            </a:r>
            <a:r>
              <a:rPr sz="1200" b="0" i="0" dirty="0" err="1">
                <a:solidFill>
                  <a:srgbClr val="C00000"/>
                </a:solidFill>
                <a:latin typeface="Noto Sans CJK KR"/>
              </a:rPr>
              <a:t>배치</a:t>
            </a:r>
            <a:endParaRPr lang="en-US" sz="1200" b="0" i="0" dirty="0">
              <a:solidFill>
                <a:srgbClr val="C00000"/>
              </a:solidFill>
              <a:latin typeface="Noto Sans CJK KR"/>
            </a:endParaRPr>
          </a:p>
          <a:p>
            <a:pPr algn="l"/>
            <a:endParaRPr sz="1200" b="0" i="0" dirty="0">
              <a:solidFill>
                <a:srgbClr val="C00000"/>
              </a:solidFill>
              <a:latin typeface="Noto Sans CJK KR"/>
            </a:endParaRPr>
          </a:p>
          <a:p>
            <a:pPr algn="l"/>
            <a:r>
              <a:rPr sz="1250" b="0" i="0" dirty="0">
                <a:solidFill>
                  <a:srgbClr val="222222"/>
                </a:solidFill>
                <a:latin typeface="D2Coding"/>
              </a:rPr>
              <a:t>id=4 </a:t>
            </a:r>
            <a:r>
              <a:rPr sz="1250" b="0" i="0" dirty="0" err="1">
                <a:solidFill>
                  <a:srgbClr val="222222"/>
                </a:solidFill>
                <a:highlight>
                  <a:srgbClr val="00FFFF"/>
                </a:highlight>
                <a:latin typeface="D2Coding"/>
              </a:rPr>
              <a:t>점수</a:t>
            </a:r>
            <a:r>
              <a:rPr sz="1250" b="0" i="0" dirty="0">
                <a:solidFill>
                  <a:srgbClr val="222222"/>
                </a:solidFill>
                <a:highlight>
                  <a:srgbClr val="00FFFF"/>
                </a:highlight>
                <a:latin typeface="D2Coding"/>
              </a:rPr>
              <a:t>: urgency=1, </a:t>
            </a:r>
            <a:r>
              <a:rPr sz="1250" b="0" i="0" dirty="0" err="1">
                <a:solidFill>
                  <a:srgbClr val="222222"/>
                </a:solidFill>
                <a:highlight>
                  <a:srgbClr val="00FFFF"/>
                </a:highlight>
                <a:latin typeface="D2Coding"/>
              </a:rPr>
              <a:t>time_constraint</a:t>
            </a:r>
            <a:r>
              <a:rPr sz="1250" b="0" i="0" dirty="0">
                <a:solidFill>
                  <a:srgbClr val="222222"/>
                </a:solidFill>
                <a:highlight>
                  <a:srgbClr val="00FFFF"/>
                </a:highlight>
                <a:latin typeface="D2Coding"/>
              </a:rPr>
              <a:t>=1</a:t>
            </a:r>
            <a:endParaRPr lang="en-US" sz="1250" b="0" i="0" dirty="0">
              <a:solidFill>
                <a:srgbClr val="222222"/>
              </a:solidFill>
              <a:highlight>
                <a:srgbClr val="00FFFF"/>
              </a:highlight>
              <a:latin typeface="D2Coding"/>
            </a:endParaRPr>
          </a:p>
          <a:p>
            <a:pPr algn="l"/>
            <a:endParaRPr sz="1250" b="0" i="0" dirty="0">
              <a:solidFill>
                <a:srgbClr val="222222"/>
              </a:solidFill>
              <a:highlight>
                <a:srgbClr val="00FFFF"/>
              </a:highlight>
              <a:latin typeface="D2Coding"/>
            </a:endParaRPr>
          </a:p>
          <a:p>
            <a:pPr algn="l">
              <a:spcBef>
                <a:spcPts val="400"/>
              </a:spcBef>
            </a:pPr>
            <a:r>
              <a:rPr sz="1150" b="0" i="1" dirty="0">
                <a:solidFill>
                  <a:srgbClr val="55A868"/>
                </a:solidFill>
                <a:latin typeface="Noto Sans CJK KR"/>
              </a:rPr>
              <a:t>reason:</a:t>
            </a:r>
            <a:endParaRPr lang="en-US" sz="1150" b="0" i="1" dirty="0">
              <a:solidFill>
                <a:srgbClr val="55A868"/>
              </a:solidFill>
              <a:latin typeface="Noto Sans CJK KR"/>
            </a:endParaRPr>
          </a:p>
          <a:p>
            <a:pPr algn="l">
              <a:spcBef>
                <a:spcPts val="400"/>
              </a:spcBef>
            </a:pPr>
            <a:r>
              <a:rPr sz="1150" b="0" i="1" dirty="0">
                <a:solidFill>
                  <a:srgbClr val="55A868"/>
                </a:solidFill>
                <a:latin typeface="Noto Sans CJK KR"/>
              </a:rPr>
              <a:t> "12월 9일 </a:t>
            </a:r>
            <a:r>
              <a:rPr sz="1150" b="0" i="1" dirty="0" err="1">
                <a:solidFill>
                  <a:srgbClr val="55A868"/>
                </a:solidFill>
                <a:latin typeface="Noto Sans CJK KR"/>
              </a:rPr>
              <a:t>마감으로</a:t>
            </a:r>
            <a:r>
              <a:rPr sz="1150" b="0" i="1" dirty="0">
                <a:solidFill>
                  <a:srgbClr val="55A868"/>
                </a:solidFill>
                <a:latin typeface="Noto Sans CJK KR"/>
              </a:rPr>
              <a:t> </a:t>
            </a:r>
            <a:r>
              <a:rPr sz="1150" b="0" i="1" dirty="0" err="1">
                <a:solidFill>
                  <a:srgbClr val="55A868"/>
                </a:solidFill>
                <a:highlight>
                  <a:srgbClr val="00FFFF"/>
                </a:highlight>
                <a:latin typeface="Noto Sans CJK KR"/>
              </a:rPr>
              <a:t>오늘</a:t>
            </a:r>
            <a:r>
              <a:rPr sz="1150" b="0" i="1" dirty="0">
                <a:solidFill>
                  <a:srgbClr val="55A868"/>
                </a:solidFill>
                <a:highlight>
                  <a:srgbClr val="00FFFF"/>
                </a:highlight>
                <a:latin typeface="Noto Sans CJK KR"/>
              </a:rPr>
              <a:t> </a:t>
            </a:r>
            <a:r>
              <a:rPr sz="1150" b="0" i="1" dirty="0" err="1">
                <a:solidFill>
                  <a:srgbClr val="55A868"/>
                </a:solidFill>
                <a:highlight>
                  <a:srgbClr val="00FFFF"/>
                </a:highlight>
                <a:latin typeface="Noto Sans CJK KR"/>
              </a:rPr>
              <a:t>기준</a:t>
            </a:r>
            <a:endParaRPr sz="1150" b="0" i="1" dirty="0">
              <a:solidFill>
                <a:srgbClr val="55A868"/>
              </a:solidFill>
              <a:highlight>
                <a:srgbClr val="00FFFF"/>
              </a:highlight>
              <a:latin typeface="Noto Sans CJK KR"/>
            </a:endParaRPr>
          </a:p>
          <a:p>
            <a:pPr algn="l"/>
            <a:r>
              <a:rPr sz="1150" b="0" i="1" dirty="0">
                <a:solidFill>
                  <a:srgbClr val="55A868"/>
                </a:solidFill>
                <a:highlight>
                  <a:srgbClr val="00FFFF"/>
                </a:highlight>
                <a:latin typeface="Noto Sans CJK KR"/>
              </a:rPr>
              <a:t> </a:t>
            </a:r>
            <a:r>
              <a:rPr sz="1150" b="0" i="1" dirty="0" err="1">
                <a:solidFill>
                  <a:srgbClr val="55A868"/>
                </a:solidFill>
                <a:highlight>
                  <a:srgbClr val="00FFFF"/>
                </a:highlight>
                <a:latin typeface="Noto Sans CJK KR"/>
              </a:rPr>
              <a:t>이미</a:t>
            </a:r>
            <a:r>
              <a:rPr sz="1150" b="0" i="1" dirty="0">
                <a:solidFill>
                  <a:srgbClr val="55A868"/>
                </a:solidFill>
                <a:highlight>
                  <a:srgbClr val="00FFFF"/>
                </a:highlight>
                <a:latin typeface="Noto Sans CJK KR"/>
              </a:rPr>
              <a:t> </a:t>
            </a:r>
            <a:r>
              <a:rPr sz="1150" b="0" i="1" dirty="0" err="1">
                <a:solidFill>
                  <a:srgbClr val="55A868"/>
                </a:solidFill>
                <a:highlight>
                  <a:srgbClr val="00FFFF"/>
                </a:highlight>
                <a:latin typeface="Noto Sans CJK KR"/>
              </a:rPr>
              <a:t>지난</a:t>
            </a:r>
            <a:r>
              <a:rPr sz="1150" b="0" i="1" dirty="0">
                <a:solidFill>
                  <a:srgbClr val="55A868"/>
                </a:solidFill>
                <a:highlight>
                  <a:srgbClr val="00FFFF"/>
                </a:highlight>
                <a:latin typeface="Noto Sans CJK KR"/>
              </a:rPr>
              <a:t> </a:t>
            </a:r>
            <a:r>
              <a:rPr sz="1150" b="0" i="1" dirty="0" err="1">
                <a:solidFill>
                  <a:srgbClr val="55A868"/>
                </a:solidFill>
                <a:highlight>
                  <a:srgbClr val="00FFFF"/>
                </a:highlight>
                <a:latin typeface="Noto Sans CJK KR"/>
              </a:rPr>
              <a:t>일정</a:t>
            </a:r>
            <a:r>
              <a:rPr sz="1150" b="0" i="1" dirty="0" err="1">
                <a:solidFill>
                  <a:srgbClr val="55A868"/>
                </a:solidFill>
                <a:latin typeface="Noto Sans CJK KR"/>
              </a:rPr>
              <a:t>이므로</a:t>
            </a:r>
            <a:r>
              <a:rPr sz="1150" b="0" i="1" dirty="0">
                <a:solidFill>
                  <a:srgbClr val="55A868"/>
                </a:solidFill>
                <a:latin typeface="Noto Sans CJK KR"/>
              </a:rPr>
              <a:t> </a:t>
            </a:r>
            <a:r>
              <a:rPr sz="1150" b="1" i="1" dirty="0" err="1">
                <a:solidFill>
                  <a:srgbClr val="C00000"/>
                </a:solidFill>
                <a:highlight>
                  <a:srgbClr val="FFFF00"/>
                </a:highlight>
                <a:latin typeface="Noto Sans CJK KR"/>
              </a:rPr>
              <a:t>최하위로</a:t>
            </a:r>
            <a:r>
              <a:rPr sz="1150" b="1" i="1" dirty="0">
                <a:solidFill>
                  <a:srgbClr val="C00000"/>
                </a:solidFill>
                <a:highlight>
                  <a:srgbClr val="FFFF00"/>
                </a:highlight>
                <a:latin typeface="Noto Sans CJK KR"/>
              </a:rPr>
              <a:t> </a:t>
            </a:r>
            <a:r>
              <a:rPr sz="1150" b="1" i="1" dirty="0" err="1">
                <a:solidFill>
                  <a:srgbClr val="C00000"/>
                </a:solidFill>
                <a:highlight>
                  <a:srgbClr val="FFFF00"/>
                </a:highlight>
                <a:latin typeface="Noto Sans CJK KR"/>
              </a:rPr>
              <a:t>배치</a:t>
            </a:r>
            <a:r>
              <a:rPr sz="1150" b="0" i="1" dirty="0">
                <a:solidFill>
                  <a:srgbClr val="55A868"/>
                </a:solidFill>
                <a:latin typeface="Noto Sans CJK KR"/>
              </a:rPr>
              <a:t>"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2031344"/>
            <a:ext cx="5486400" cy="3200400"/>
          </a:xfrm>
          <a:prstGeom prst="rect">
            <a:avLst/>
          </a:prstGeom>
          <a:solidFill>
            <a:srgbClr val="FBECEA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2168504"/>
            <a:ext cx="5120640" cy="180305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 dirty="0">
                <a:solidFill>
                  <a:srgbClr val="C0392B"/>
                </a:solidFill>
                <a:latin typeface="Noto Sans CJK KR"/>
              </a:rPr>
              <a:t>❌ rejected (</a:t>
            </a:r>
            <a:r>
              <a:rPr sz="1500" b="1" i="0" dirty="0" err="1">
                <a:solidFill>
                  <a:srgbClr val="C0392B"/>
                </a:solidFill>
                <a:latin typeface="Noto Sans CJK KR"/>
              </a:rPr>
              <a:t>비선호</a:t>
            </a:r>
            <a:r>
              <a:rPr sz="1500" b="1" i="0" dirty="0">
                <a:solidFill>
                  <a:srgbClr val="C0392B"/>
                </a:solidFill>
                <a:latin typeface="Noto Sans CJK KR"/>
              </a:rPr>
              <a:t>)</a:t>
            </a:r>
          </a:p>
          <a:p>
            <a:pPr algn="l"/>
            <a:r>
              <a:rPr sz="1300" b="1" i="0" dirty="0" err="1">
                <a:solidFill>
                  <a:srgbClr val="222222"/>
                </a:solidFill>
                <a:latin typeface="D2Coding"/>
              </a:rPr>
              <a:t>priority_order</a:t>
            </a:r>
            <a:r>
              <a:rPr sz="1300" b="1" i="0" dirty="0">
                <a:solidFill>
                  <a:srgbClr val="222222"/>
                </a:solidFill>
                <a:latin typeface="D2Coding"/>
              </a:rPr>
              <a:t>: [4, 1, 3, 5, 2]</a:t>
            </a:r>
            <a:r>
              <a:rPr lang="en-US" sz="1300" b="1" dirty="0">
                <a:solidFill>
                  <a:srgbClr val="222222"/>
                </a:solidFill>
                <a:latin typeface="D2Coding"/>
              </a:rPr>
              <a:t> </a:t>
            </a:r>
            <a:r>
              <a:rPr sz="1200" b="0" i="0" dirty="0">
                <a:solidFill>
                  <a:srgbClr val="C00000"/>
                </a:solidFill>
                <a:latin typeface="Noto Sans CJK KR"/>
              </a:rPr>
              <a:t>→ id=4를 1위 </a:t>
            </a:r>
            <a:r>
              <a:rPr sz="1200" b="0" i="0" dirty="0" err="1">
                <a:solidFill>
                  <a:srgbClr val="C00000"/>
                </a:solidFill>
                <a:latin typeface="Noto Sans CJK KR"/>
              </a:rPr>
              <a:t>배치</a:t>
            </a:r>
            <a:endParaRPr lang="en-US" sz="1200" b="0" i="0" dirty="0">
              <a:solidFill>
                <a:srgbClr val="C00000"/>
              </a:solidFill>
              <a:latin typeface="Noto Sans CJK KR"/>
            </a:endParaRPr>
          </a:p>
          <a:p>
            <a:pPr algn="l"/>
            <a:endParaRPr sz="1200" b="0" i="0" dirty="0">
              <a:solidFill>
                <a:srgbClr val="C00000"/>
              </a:solidFill>
              <a:latin typeface="Noto Sans CJK KR"/>
            </a:endParaRPr>
          </a:p>
          <a:p>
            <a:pPr algn="l"/>
            <a:r>
              <a:rPr sz="1250" b="0" i="0" dirty="0">
                <a:solidFill>
                  <a:srgbClr val="222222"/>
                </a:solidFill>
                <a:latin typeface="D2Coding"/>
              </a:rPr>
              <a:t>id=4 </a:t>
            </a:r>
            <a:r>
              <a:rPr sz="1250" b="0" i="0" dirty="0" err="1">
                <a:solidFill>
                  <a:srgbClr val="222222"/>
                </a:solidFill>
                <a:highlight>
                  <a:srgbClr val="00FFFF"/>
                </a:highlight>
                <a:latin typeface="D2Coding"/>
              </a:rPr>
              <a:t>점수</a:t>
            </a:r>
            <a:r>
              <a:rPr sz="1250" b="0" i="0" dirty="0">
                <a:solidFill>
                  <a:srgbClr val="222222"/>
                </a:solidFill>
                <a:highlight>
                  <a:srgbClr val="00FFFF"/>
                </a:highlight>
                <a:latin typeface="D2Coding"/>
              </a:rPr>
              <a:t>: urgency=5, </a:t>
            </a:r>
            <a:r>
              <a:rPr sz="1250" b="0" i="0" dirty="0" err="1">
                <a:solidFill>
                  <a:srgbClr val="222222"/>
                </a:solidFill>
                <a:highlight>
                  <a:srgbClr val="00FFFF"/>
                </a:highlight>
                <a:latin typeface="D2Coding"/>
              </a:rPr>
              <a:t>time_constraint</a:t>
            </a:r>
            <a:r>
              <a:rPr sz="1250" b="0" i="0" dirty="0">
                <a:solidFill>
                  <a:srgbClr val="222222"/>
                </a:solidFill>
                <a:highlight>
                  <a:srgbClr val="00FFFF"/>
                </a:highlight>
                <a:latin typeface="D2Coding"/>
              </a:rPr>
              <a:t>=5</a:t>
            </a:r>
            <a:endParaRPr lang="en-US" sz="1250" b="0" i="0" dirty="0">
              <a:solidFill>
                <a:srgbClr val="222222"/>
              </a:solidFill>
              <a:highlight>
                <a:srgbClr val="00FFFF"/>
              </a:highlight>
              <a:latin typeface="D2Coding"/>
            </a:endParaRPr>
          </a:p>
          <a:p>
            <a:pPr algn="l"/>
            <a:endParaRPr sz="1250" b="0" i="0" dirty="0">
              <a:solidFill>
                <a:srgbClr val="222222"/>
              </a:solidFill>
              <a:highlight>
                <a:srgbClr val="00FFFF"/>
              </a:highlight>
              <a:latin typeface="D2Coding"/>
            </a:endParaRPr>
          </a:p>
          <a:p>
            <a:pPr algn="l">
              <a:spcBef>
                <a:spcPts val="400"/>
              </a:spcBef>
            </a:pPr>
            <a:r>
              <a:rPr sz="1150" b="0" i="1" dirty="0">
                <a:solidFill>
                  <a:srgbClr val="C0392B"/>
                </a:solidFill>
                <a:latin typeface="Noto Sans CJK KR"/>
              </a:rPr>
              <a:t>reason: </a:t>
            </a:r>
            <a:endParaRPr lang="en-US" sz="1150" b="0" i="1" dirty="0">
              <a:solidFill>
                <a:srgbClr val="C0392B"/>
              </a:solidFill>
              <a:latin typeface="Noto Sans CJK KR"/>
            </a:endParaRPr>
          </a:p>
          <a:p>
            <a:pPr algn="l">
              <a:spcBef>
                <a:spcPts val="400"/>
              </a:spcBef>
            </a:pPr>
            <a:r>
              <a:rPr sz="1150" b="0" i="1" dirty="0">
                <a:solidFill>
                  <a:srgbClr val="C0392B"/>
                </a:solidFill>
                <a:latin typeface="Noto Sans CJK KR"/>
              </a:rPr>
              <a:t>"</a:t>
            </a:r>
            <a:r>
              <a:rPr sz="1150" b="0" i="1" dirty="0" err="1">
                <a:solidFill>
                  <a:srgbClr val="C0392B"/>
                </a:solidFill>
                <a:highlight>
                  <a:srgbClr val="00FFFF"/>
                </a:highlight>
                <a:latin typeface="Noto Sans CJK KR"/>
              </a:rPr>
              <a:t>마감이</a:t>
            </a:r>
            <a:r>
              <a:rPr sz="1150" b="0" i="1" dirty="0">
                <a:solidFill>
                  <a:srgbClr val="C0392B"/>
                </a:solidFill>
                <a:highlight>
                  <a:srgbClr val="00FFFF"/>
                </a:highlight>
                <a:latin typeface="Noto Sans CJK KR"/>
              </a:rPr>
              <a:t> </a:t>
            </a:r>
            <a:r>
              <a:rPr sz="1150" b="0" i="1" dirty="0" err="1">
                <a:solidFill>
                  <a:srgbClr val="C0392B"/>
                </a:solidFill>
                <a:highlight>
                  <a:srgbClr val="00FFFF"/>
                </a:highlight>
                <a:latin typeface="Noto Sans CJK KR"/>
              </a:rPr>
              <a:t>오늘이라</a:t>
            </a:r>
            <a:endParaRPr sz="1150" b="0" i="1" dirty="0">
              <a:solidFill>
                <a:srgbClr val="C0392B"/>
              </a:solidFill>
              <a:highlight>
                <a:srgbClr val="00FFFF"/>
              </a:highlight>
              <a:latin typeface="Noto Sans CJK KR"/>
            </a:endParaRPr>
          </a:p>
          <a:p>
            <a:pPr algn="l"/>
            <a:r>
              <a:rPr sz="1150" b="0" i="1" dirty="0">
                <a:solidFill>
                  <a:srgbClr val="C0392B"/>
                </a:solidFill>
                <a:latin typeface="Noto Sans CJK KR"/>
              </a:rPr>
              <a:t> </a:t>
            </a:r>
            <a:r>
              <a:rPr sz="1150" b="0" i="1" dirty="0" err="1">
                <a:solidFill>
                  <a:srgbClr val="C0392B"/>
                </a:solidFill>
                <a:latin typeface="Noto Sans CJK KR"/>
              </a:rPr>
              <a:t>즉시</a:t>
            </a:r>
            <a:r>
              <a:rPr sz="1150" b="0" i="1" dirty="0">
                <a:solidFill>
                  <a:srgbClr val="C0392B"/>
                </a:solidFill>
                <a:latin typeface="Noto Sans CJK KR"/>
              </a:rPr>
              <a:t> </a:t>
            </a:r>
            <a:r>
              <a:rPr sz="1150" b="0" i="1" dirty="0" err="1">
                <a:solidFill>
                  <a:srgbClr val="C0392B"/>
                </a:solidFill>
                <a:latin typeface="Noto Sans CJK KR"/>
              </a:rPr>
              <a:t>착수해야</a:t>
            </a:r>
            <a:r>
              <a:rPr sz="1150" b="0" i="1" dirty="0">
                <a:solidFill>
                  <a:srgbClr val="C0392B"/>
                </a:solidFill>
                <a:latin typeface="Noto Sans CJK KR"/>
              </a:rPr>
              <a:t> </a:t>
            </a:r>
            <a:r>
              <a:rPr sz="1150" b="0" i="1" dirty="0" err="1">
                <a:solidFill>
                  <a:srgbClr val="C0392B"/>
                </a:solidFill>
                <a:latin typeface="Noto Sans CJK KR"/>
              </a:rPr>
              <a:t>합니다</a:t>
            </a:r>
            <a:r>
              <a:rPr sz="1150" b="0" i="1" dirty="0">
                <a:solidFill>
                  <a:srgbClr val="C0392B"/>
                </a:solidFill>
                <a:latin typeface="Noto Sans CJK KR"/>
              </a:rPr>
              <a:t>" (</a:t>
            </a:r>
            <a:r>
              <a:rPr sz="1150" b="1" i="1" dirty="0">
                <a:solidFill>
                  <a:srgbClr val="C00000"/>
                </a:solidFill>
                <a:highlight>
                  <a:srgbClr val="FFFF00"/>
                </a:highlight>
                <a:latin typeface="Noto Sans CJK KR"/>
              </a:rPr>
              <a:t>12/9를 </a:t>
            </a:r>
            <a:r>
              <a:rPr sz="1150" b="1" i="1" dirty="0" err="1">
                <a:solidFill>
                  <a:srgbClr val="C00000"/>
                </a:solidFill>
                <a:highlight>
                  <a:srgbClr val="FFFF00"/>
                </a:highlight>
                <a:latin typeface="Noto Sans CJK KR"/>
              </a:rPr>
              <a:t>오늘로</a:t>
            </a:r>
            <a:r>
              <a:rPr sz="1150" b="1" i="1" dirty="0">
                <a:solidFill>
                  <a:srgbClr val="C00000"/>
                </a:solidFill>
                <a:highlight>
                  <a:srgbClr val="FFFF00"/>
                </a:highlight>
                <a:latin typeface="Noto Sans CJK KR"/>
              </a:rPr>
              <a:t> </a:t>
            </a:r>
            <a:r>
              <a:rPr sz="1150" b="1" i="1" dirty="0" err="1">
                <a:solidFill>
                  <a:srgbClr val="C00000"/>
                </a:solidFill>
                <a:highlight>
                  <a:srgbClr val="FFFF00"/>
                </a:highlight>
                <a:latin typeface="Noto Sans CJK KR"/>
              </a:rPr>
              <a:t>착각</a:t>
            </a:r>
            <a:r>
              <a:rPr sz="1150" b="0" i="1" dirty="0">
                <a:solidFill>
                  <a:srgbClr val="C0392B"/>
                </a:solidFill>
                <a:highlight>
                  <a:srgbClr val="FFFF00"/>
                </a:highlight>
                <a:latin typeface="Noto Sans CJK KR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368904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1" dirty="0" err="1">
                <a:solidFill>
                  <a:srgbClr val="1F2D3D"/>
                </a:solidFill>
                <a:latin typeface="Noto Sans CJK KR"/>
              </a:rPr>
              <a:t>포맷은</a:t>
            </a:r>
            <a:r>
              <a:rPr sz="1200" b="1" i="1" dirty="0">
                <a:solidFill>
                  <a:srgbClr val="1F2D3D"/>
                </a:solidFill>
                <a:latin typeface="Noto Sans CJK KR"/>
              </a:rPr>
              <a:t> 100% </a:t>
            </a:r>
            <a:r>
              <a:rPr sz="1200" b="1" i="1" dirty="0" err="1">
                <a:solidFill>
                  <a:srgbClr val="1F2D3D"/>
                </a:solidFill>
                <a:latin typeface="Noto Sans CJK KR"/>
              </a:rPr>
              <a:t>동일</a:t>
            </a:r>
            <a:r>
              <a:rPr sz="1200" b="1" i="1" dirty="0">
                <a:solidFill>
                  <a:srgbClr val="1F2D3D"/>
                </a:solidFill>
                <a:latin typeface="Noto Sans CJK KR"/>
              </a:rPr>
              <a:t>, </a:t>
            </a:r>
            <a:r>
              <a:rPr sz="1200" b="1" i="1" dirty="0" err="1">
                <a:solidFill>
                  <a:srgbClr val="1F2D3D"/>
                </a:solidFill>
                <a:latin typeface="Noto Sans CJK KR"/>
              </a:rPr>
              <a:t>내용</a:t>
            </a:r>
            <a:r>
              <a:rPr sz="1200" b="1" i="1" dirty="0">
                <a:solidFill>
                  <a:srgbClr val="1F2D3D"/>
                </a:solidFill>
                <a:latin typeface="Noto Sans CJK KR"/>
              </a:rPr>
              <a:t> 한 </a:t>
            </a:r>
            <a:r>
              <a:rPr sz="1200" b="1" i="1" dirty="0" err="1">
                <a:solidFill>
                  <a:srgbClr val="1F2D3D"/>
                </a:solidFill>
                <a:latin typeface="Noto Sans CJK KR"/>
              </a:rPr>
              <a:t>곳만</a:t>
            </a:r>
            <a:r>
              <a:rPr sz="1200" b="1" i="1" dirty="0">
                <a:solidFill>
                  <a:srgbClr val="1F2D3D"/>
                </a:solidFill>
                <a:latin typeface="Noto Sans CJK KR"/>
              </a:rPr>
              <a:t> </a:t>
            </a:r>
            <a:r>
              <a:rPr sz="1200" b="1" i="1" dirty="0" err="1">
                <a:solidFill>
                  <a:srgbClr val="1F2D3D"/>
                </a:solidFill>
                <a:latin typeface="Noto Sans CJK KR"/>
              </a:rPr>
              <a:t>다름</a:t>
            </a:r>
            <a:r>
              <a:rPr sz="1200" b="1" i="1" dirty="0">
                <a:solidFill>
                  <a:srgbClr val="1F2D3D"/>
                </a:solidFill>
                <a:latin typeface="Noto Sans CJK KR"/>
              </a:rPr>
              <a:t> → </a:t>
            </a:r>
            <a:r>
              <a:rPr sz="1200" b="1" i="1" dirty="0" err="1">
                <a:solidFill>
                  <a:srgbClr val="1F2D3D"/>
                </a:solidFill>
                <a:latin typeface="Noto Sans CJK KR"/>
              </a:rPr>
              <a:t>학습</a:t>
            </a:r>
            <a:r>
              <a:rPr sz="1200" b="1" i="1" dirty="0">
                <a:solidFill>
                  <a:srgbClr val="1F2D3D"/>
                </a:solidFill>
                <a:latin typeface="Noto Sans CJK KR"/>
              </a:rPr>
              <a:t> </a:t>
            </a:r>
            <a:r>
              <a:rPr sz="1200" b="1" i="1" dirty="0" err="1">
                <a:solidFill>
                  <a:srgbClr val="1F2D3D"/>
                </a:solidFill>
                <a:latin typeface="Noto Sans CJK KR"/>
              </a:rPr>
              <a:t>신호가</a:t>
            </a:r>
            <a:r>
              <a:rPr sz="1200" b="1" i="1" dirty="0">
                <a:solidFill>
                  <a:srgbClr val="1F2D3D"/>
                </a:solidFill>
                <a:latin typeface="Noto Sans CJK KR"/>
              </a:rPr>
              <a:t> '</a:t>
            </a:r>
            <a:r>
              <a:rPr sz="1200" b="1" i="1" dirty="0" err="1">
                <a:solidFill>
                  <a:srgbClr val="1F2D3D"/>
                </a:solidFill>
                <a:latin typeface="Noto Sans CJK KR"/>
              </a:rPr>
              <a:t>날짜</a:t>
            </a:r>
            <a:r>
              <a:rPr sz="1200" b="1" i="1" dirty="0">
                <a:solidFill>
                  <a:srgbClr val="1F2D3D"/>
                </a:solidFill>
                <a:latin typeface="Noto Sans CJK KR"/>
              </a:rPr>
              <a:t> </a:t>
            </a:r>
            <a:r>
              <a:rPr sz="1200" b="1" i="1" dirty="0" err="1">
                <a:solidFill>
                  <a:srgbClr val="1F2D3D"/>
                </a:solidFill>
                <a:latin typeface="Noto Sans CJK KR"/>
              </a:rPr>
              <a:t>추론</a:t>
            </a:r>
            <a:r>
              <a:rPr sz="1200" b="1" i="1" dirty="0">
                <a:solidFill>
                  <a:srgbClr val="1F2D3D"/>
                </a:solidFill>
                <a:latin typeface="Noto Sans CJK KR"/>
              </a:rPr>
              <a:t> </a:t>
            </a:r>
            <a:r>
              <a:rPr sz="1200" b="1" i="1" dirty="0" err="1">
                <a:solidFill>
                  <a:srgbClr val="1F2D3D"/>
                </a:solidFill>
                <a:latin typeface="Noto Sans CJK KR"/>
              </a:rPr>
              <a:t>규칙'에</a:t>
            </a:r>
            <a:r>
              <a:rPr sz="1200" b="1" i="1" dirty="0">
                <a:solidFill>
                  <a:srgbClr val="1F2D3D"/>
                </a:solidFill>
                <a:latin typeface="Noto Sans CJK KR"/>
              </a:rPr>
              <a:t> </a:t>
            </a:r>
            <a:r>
              <a:rPr sz="1200" b="1" i="1" dirty="0" err="1">
                <a:solidFill>
                  <a:srgbClr val="1F2D3D"/>
                </a:solidFill>
                <a:latin typeface="Noto Sans CJK KR"/>
              </a:rPr>
              <a:t>정확히</a:t>
            </a:r>
            <a:r>
              <a:rPr sz="1200" b="1" i="1" dirty="0">
                <a:solidFill>
                  <a:srgbClr val="1F2D3D"/>
                </a:solidFill>
                <a:latin typeface="Noto Sans CJK KR"/>
              </a:rPr>
              <a:t> </a:t>
            </a:r>
            <a:r>
              <a:rPr sz="1200" b="1" i="1" dirty="0" err="1">
                <a:solidFill>
                  <a:srgbClr val="1F2D3D"/>
                </a:solidFill>
                <a:latin typeface="Noto Sans CJK KR"/>
              </a:rPr>
              <a:t>집중</a:t>
            </a:r>
            <a:r>
              <a:rPr sz="1200" b="1" i="1" dirty="0">
                <a:solidFill>
                  <a:srgbClr val="1F2D3D"/>
                </a:solidFill>
                <a:latin typeface="Noto Sans CJK KR"/>
              </a:rPr>
              <a:t> (hard negative)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45864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Noto Sans CJK KR"/>
              </a:rPr>
              <a:t>16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33EFD483-12D1-B513-B2CC-A5AEC032966C}"/>
              </a:ext>
            </a:extLst>
          </p:cNvPr>
          <p:cNvSpPr/>
          <p:nvPr/>
        </p:nvSpPr>
        <p:spPr>
          <a:xfrm>
            <a:off x="2468880" y="2498704"/>
            <a:ext cx="193040" cy="2184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1EC2DA60-ACD6-073C-CDA2-1D79A52BF3E3}"/>
              </a:ext>
            </a:extLst>
          </p:cNvPr>
          <p:cNvSpPr/>
          <p:nvPr/>
        </p:nvSpPr>
        <p:spPr>
          <a:xfrm>
            <a:off x="7589520" y="2508864"/>
            <a:ext cx="193040" cy="2184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EVOLUTION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Noto Sans CJK KR"/>
              </a:rPr>
              <a:t>데이터셋 진화 v1 → v5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8803981"/>
              </p:ext>
            </p:extLst>
          </p:nvPr>
        </p:nvGraphicFramePr>
        <p:xfrm>
          <a:off x="294640" y="1163320"/>
          <a:ext cx="11592560" cy="4716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2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4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386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99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7110">
                  <a:extLst>
                    <a:ext uri="{9D8B030D-6E8A-4147-A177-3AD203B41FA5}">
                      <a16:colId xmlns:a16="http://schemas.microsoft.com/office/drawing/2014/main" val="74392414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1" i="0" dirty="0" err="1">
                          <a:solidFill>
                            <a:srgbClr val="FFFFFF"/>
                          </a:solidFill>
                          <a:latin typeface="Noto Sans CJK KR"/>
                        </a:rPr>
                        <a:t>버전</a:t>
                      </a:r>
                      <a:endParaRPr sz="1300" b="1" i="0" dirty="0">
                        <a:solidFill>
                          <a:srgbClr val="FFFFFF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4C72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 dirty="0" err="1">
                          <a:solidFill>
                            <a:srgbClr val="FFFFFF"/>
                          </a:solidFill>
                          <a:latin typeface="Noto Sans CJK KR"/>
                        </a:rPr>
                        <a:t>출력</a:t>
                      </a:r>
                      <a:r>
                        <a:rPr sz="1300" b="1" i="0" dirty="0">
                          <a:solidFill>
                            <a:srgbClr val="FFFFFF"/>
                          </a:solidFill>
                          <a:latin typeface="Noto Sans CJK KR"/>
                        </a:rPr>
                        <a:t> </a:t>
                      </a:r>
                      <a:r>
                        <a:rPr sz="1300" b="1" i="0" dirty="0" err="1">
                          <a:solidFill>
                            <a:srgbClr val="FFFFFF"/>
                          </a:solidFill>
                          <a:latin typeface="Noto Sans CJK KR"/>
                        </a:rPr>
                        <a:t>형식</a:t>
                      </a:r>
                      <a:endParaRPr sz="1300" b="1" i="0" dirty="0">
                        <a:solidFill>
                          <a:srgbClr val="FFFFFF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4C72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KR"/>
                        </a:rPr>
                        <a:t>핵심 추가</a:t>
                      </a:r>
                    </a:p>
                  </a:txBody>
                  <a:tcPr marL="73152" marR="54864" marT="27432" marB="27432" anchor="ctr">
                    <a:solidFill>
                      <a:srgbClr val="4C72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 dirty="0" err="1">
                          <a:solidFill>
                            <a:srgbClr val="FFFFFF"/>
                          </a:solidFill>
                          <a:latin typeface="Noto Sans CJK KR"/>
                        </a:rPr>
                        <a:t>기대효과</a:t>
                      </a:r>
                      <a:endParaRPr sz="1300" b="1" i="0" dirty="0">
                        <a:solidFill>
                          <a:srgbClr val="FFFFFF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4C72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1" i="0" dirty="0">
                          <a:solidFill>
                            <a:srgbClr val="FFFFFF"/>
                          </a:solidFill>
                          <a:latin typeface="Noto Sans CJK KR"/>
                        </a:rPr>
                        <a:t>데이터</a:t>
                      </a:r>
                      <a:endParaRPr sz="1300" b="1" i="0" dirty="0">
                        <a:solidFill>
                          <a:srgbClr val="FFFFFF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4C72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25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v1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 dirty="0" err="1">
                          <a:solidFill>
                            <a:srgbClr val="222222"/>
                          </a:solidFill>
                          <a:highlight>
                            <a:srgbClr val="FFFF00"/>
                          </a:highlight>
                          <a:latin typeface="Noto Sans CJK KR"/>
                        </a:rPr>
                        <a:t>자유</a:t>
                      </a:r>
                      <a:r>
                        <a:rPr sz="1250" b="1" i="0" dirty="0">
                          <a:solidFill>
                            <a:srgbClr val="222222"/>
                          </a:solidFill>
                          <a:highlight>
                            <a:srgbClr val="FFFF00"/>
                          </a:highlight>
                          <a:latin typeface="Noto Sans CJK KR"/>
                        </a:rPr>
                        <a:t> </a:t>
                      </a:r>
                      <a:r>
                        <a:rPr sz="1250" b="1" i="0" dirty="0" err="1">
                          <a:solidFill>
                            <a:srgbClr val="222222"/>
                          </a:solidFill>
                          <a:highlight>
                            <a:srgbClr val="FFFF00"/>
                          </a:highlight>
                          <a:latin typeface="Noto Sans CJK KR"/>
                        </a:rPr>
                        <a:t>텍스트</a:t>
                      </a:r>
                      <a:endParaRPr lang="en-US" sz="1250" b="1" i="0" dirty="0">
                        <a:solidFill>
                          <a:srgbClr val="222222"/>
                        </a:solidFill>
                        <a:highlight>
                          <a:srgbClr val="FFFF00"/>
                        </a:highlight>
                        <a:latin typeface="Noto Sans CJK KR"/>
                      </a:endParaRPr>
                    </a:p>
                    <a:p>
                      <a:pPr algn="ctr"/>
                      <a:br>
                        <a:rPr lang="en-US" sz="125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</a:br>
                      <a:r>
                        <a:rPr lang="ko-KR" altLang="ko-KR" sz="1300" dirty="0">
                          <a:solidFill>
                            <a:srgbClr val="C00000"/>
                          </a:solidFill>
                        </a:rPr>
                        <a:t>모델에게 그냥 자연어 답변을 학습</a:t>
                      </a:r>
                      <a:endParaRPr sz="1300" b="0" i="0" dirty="0">
                        <a:solidFill>
                          <a:srgbClr val="C00000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페르소나</a:t>
                      </a:r>
                      <a:r>
                        <a:rPr sz="125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기반</a:t>
                      </a:r>
                      <a:r>
                        <a:rPr sz="125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우선순위</a:t>
                      </a:r>
                      <a:endParaRPr sz="1250" b="0" i="0" dirty="0">
                        <a:solidFill>
                          <a:srgbClr val="222222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말투·관점</a:t>
                      </a:r>
                      <a:r>
                        <a:rPr sz="125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반영</a:t>
                      </a:r>
                      <a:r>
                        <a:rPr sz="125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(앱 </a:t>
                      </a:r>
                      <a:r>
                        <a:rPr sz="125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파싱</a:t>
                      </a:r>
                      <a:r>
                        <a:rPr sz="125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불가</a:t>
                      </a:r>
                      <a:r>
                        <a:rPr sz="125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)</a:t>
                      </a:r>
                      <a:endParaRPr lang="en-US" sz="1250" b="0" i="0" dirty="0">
                        <a:solidFill>
                          <a:srgbClr val="222222"/>
                        </a:solidFill>
                        <a:latin typeface="Noto Sans CJK KR"/>
                      </a:endParaRPr>
                    </a:p>
                    <a:p>
                      <a:pPr algn="ctr"/>
                      <a:r>
                        <a:rPr lang="ko-KR" altLang="ko-KR" sz="1300" dirty="0">
                          <a:solidFill>
                            <a:srgbClr val="C00000"/>
                          </a:solidFill>
                        </a:rPr>
                        <a:t>사람이 읽기에는 괜찮</a:t>
                      </a:r>
                      <a:r>
                        <a:rPr lang="ko-KR" altLang="en-US" sz="1300" dirty="0">
                          <a:solidFill>
                            <a:srgbClr val="C00000"/>
                          </a:solidFill>
                        </a:rPr>
                        <a:t>지만</a:t>
                      </a:r>
                      <a:br>
                        <a:rPr lang="ko-KR" altLang="ko-KR" sz="1300" dirty="0">
                          <a:solidFill>
                            <a:srgbClr val="C00000"/>
                          </a:solidFill>
                        </a:rPr>
                      </a:br>
                      <a:r>
                        <a:rPr lang="ko-KR" altLang="ko-KR" sz="1300" dirty="0">
                          <a:solidFill>
                            <a:srgbClr val="C00000"/>
                          </a:solidFill>
                        </a:rPr>
                        <a:t>프로그램이 평가하기 어</a:t>
                      </a:r>
                      <a:r>
                        <a:rPr lang="ko-KR" altLang="en-US" sz="1300" dirty="0">
                          <a:solidFill>
                            <a:srgbClr val="C00000"/>
                          </a:solidFill>
                        </a:rPr>
                        <a:t>려움</a:t>
                      </a:r>
                      <a:endParaRPr sz="1300" b="0" i="0" dirty="0">
                        <a:solidFill>
                          <a:srgbClr val="C00000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5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5,999</a:t>
                      </a:r>
                      <a:endParaRPr sz="1250" b="0" i="0" dirty="0">
                        <a:solidFill>
                          <a:srgbClr val="222222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22222"/>
                          </a:solidFill>
                          <a:latin typeface="Noto Sans CJK KR"/>
                        </a:rPr>
                        <a:t>v2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 dirty="0">
                          <a:solidFill>
                            <a:srgbClr val="222222"/>
                          </a:solidFill>
                          <a:highlight>
                            <a:srgbClr val="FFFF00"/>
                          </a:highlight>
                          <a:latin typeface="Noto Sans CJK KR"/>
                        </a:rPr>
                        <a:t>4축 </a:t>
                      </a:r>
                      <a:r>
                        <a:rPr sz="1250" b="1" i="0" dirty="0" err="1">
                          <a:solidFill>
                            <a:srgbClr val="222222"/>
                          </a:solidFill>
                          <a:highlight>
                            <a:srgbClr val="FFFF00"/>
                          </a:highlight>
                          <a:latin typeface="Noto Sans CJK KR"/>
                        </a:rPr>
                        <a:t>점수</a:t>
                      </a:r>
                      <a:r>
                        <a:rPr sz="1250" b="1" i="0" dirty="0">
                          <a:solidFill>
                            <a:srgbClr val="222222"/>
                          </a:solidFill>
                          <a:highlight>
                            <a:srgbClr val="FFFF00"/>
                          </a:highlight>
                          <a:latin typeface="Noto Sans CJK KR"/>
                        </a:rPr>
                        <a:t> JSON</a:t>
                      </a:r>
                      <a:endParaRPr lang="en-US" sz="1250" b="1" i="0" dirty="0">
                        <a:solidFill>
                          <a:srgbClr val="222222"/>
                        </a:solidFill>
                        <a:highlight>
                          <a:srgbClr val="FFFF00"/>
                        </a:highlight>
                        <a:latin typeface="Noto Sans CJK KR"/>
                      </a:endParaRPr>
                    </a:p>
                    <a:p>
                      <a:pPr algn="ctr"/>
                      <a:endParaRPr lang="en-US" sz="1250" b="1" i="0" dirty="0">
                        <a:solidFill>
                          <a:srgbClr val="222222"/>
                        </a:solidFill>
                        <a:latin typeface="Noto Sans CJK KR"/>
                      </a:endParaRPr>
                    </a:p>
                    <a:p>
                      <a:pPr algn="ctr"/>
                      <a:r>
                        <a:rPr lang="ko-KR" altLang="ko-KR" sz="1300" dirty="0" err="1">
                          <a:solidFill>
                            <a:srgbClr val="C00000"/>
                          </a:solidFill>
                        </a:rPr>
                        <a:t>할일을</a:t>
                      </a:r>
                      <a:r>
                        <a:rPr lang="ko-KR" altLang="ko-KR" sz="1300" dirty="0">
                          <a:solidFill>
                            <a:srgbClr val="C00000"/>
                          </a:solidFill>
                        </a:rPr>
                        <a:t> </a:t>
                      </a:r>
                      <a:r>
                        <a:rPr lang="ko-KR" altLang="ko-KR" sz="1300" b="1" dirty="0">
                          <a:solidFill>
                            <a:srgbClr val="C00000"/>
                          </a:solidFill>
                        </a:rPr>
                        <a:t>4가지 기준</a:t>
                      </a:r>
                      <a:r>
                        <a:rPr lang="ko-KR" altLang="ko-KR" sz="1300" dirty="0">
                          <a:solidFill>
                            <a:srgbClr val="C00000"/>
                          </a:solidFill>
                        </a:rPr>
                        <a:t>으로 점수화</a:t>
                      </a:r>
                      <a:endParaRPr lang="en-US" altLang="ko-KR" sz="1300" dirty="0">
                        <a:solidFill>
                          <a:srgbClr val="C00000"/>
                        </a:solidFill>
                      </a:endParaRPr>
                    </a:p>
                    <a:p>
                      <a:pPr algn="ctr"/>
                      <a:r>
                        <a:rPr lang="en-US" altLang="ko-KR" sz="1300" b="0" i="0" dirty="0">
                          <a:solidFill>
                            <a:srgbClr val="C00000"/>
                          </a:solidFill>
                          <a:latin typeface="Noto Sans CJK KR"/>
                        </a:rPr>
                        <a:t>-</a:t>
                      </a:r>
                      <a:r>
                        <a:rPr lang="ko-KR" altLang="ko-KR" sz="1300" dirty="0" err="1"/>
                        <a:t>긴급도·중요도·의존성·시간제약</a:t>
                      </a:r>
                      <a:endParaRPr sz="1300" b="0" i="0" dirty="0">
                        <a:solidFill>
                          <a:srgbClr val="C00000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구조화·앱연동·설명가능성</a:t>
                      </a:r>
                      <a:endParaRPr sz="1250" b="0" i="0" dirty="0">
                        <a:solidFill>
                          <a:srgbClr val="222222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5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4</a:t>
                      </a:r>
                      <a:r>
                        <a:rPr lang="ko-KR" altLang="en-US" sz="125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축 </a:t>
                      </a:r>
                      <a:r>
                        <a:rPr sz="125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정렬</a:t>
                      </a:r>
                      <a:r>
                        <a:rPr sz="125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근거</a:t>
                      </a:r>
                      <a:r>
                        <a:rPr sz="125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정량화</a:t>
                      </a:r>
                      <a:endParaRPr lang="en-US" sz="1250" b="0" i="0" dirty="0">
                        <a:solidFill>
                          <a:srgbClr val="222222"/>
                        </a:solidFill>
                        <a:latin typeface="Noto Sans CJK KR"/>
                      </a:endParaRPr>
                    </a:p>
                    <a:p>
                      <a:pPr algn="ctr"/>
                      <a:r>
                        <a:rPr lang="ko-KR" altLang="ko-KR" sz="1300" b="1" dirty="0">
                          <a:solidFill>
                            <a:srgbClr val="C00000"/>
                          </a:solidFill>
                        </a:rPr>
                        <a:t>오늘이 며칠인지, 마감이 지났는지, 내일인지</a:t>
                      </a:r>
                      <a:r>
                        <a:rPr lang="ko-KR" altLang="ko-KR" sz="1300" dirty="0">
                          <a:solidFill>
                            <a:srgbClr val="C00000"/>
                          </a:solidFill>
                        </a:rPr>
                        <a:t>를 정확히 판단하는 </a:t>
                      </a:r>
                      <a:endParaRPr lang="en-US" altLang="ko-KR" sz="1300" dirty="0">
                        <a:solidFill>
                          <a:srgbClr val="C00000"/>
                        </a:solidFill>
                      </a:endParaRPr>
                    </a:p>
                    <a:p>
                      <a:pPr algn="ctr"/>
                      <a:r>
                        <a:rPr lang="ko-KR" altLang="ko-KR" sz="1300" dirty="0">
                          <a:solidFill>
                            <a:srgbClr val="C00000"/>
                          </a:solidFill>
                        </a:rPr>
                        <a:t>날짜 개념</a:t>
                      </a:r>
                      <a:r>
                        <a:rPr lang="en-US" altLang="ko-KR" sz="1300" dirty="0">
                          <a:solidFill>
                            <a:srgbClr val="C00000"/>
                          </a:solidFill>
                        </a:rPr>
                        <a:t> </a:t>
                      </a:r>
                      <a:r>
                        <a:rPr lang="ko-KR" altLang="en-US" sz="1300" dirty="0">
                          <a:solidFill>
                            <a:srgbClr val="C00000"/>
                          </a:solidFill>
                        </a:rPr>
                        <a:t>없음</a:t>
                      </a:r>
                      <a:r>
                        <a:rPr lang="en-US" altLang="ko-KR" sz="1300" dirty="0">
                          <a:solidFill>
                            <a:srgbClr val="C00000"/>
                          </a:solidFill>
                        </a:rPr>
                        <a:t>. </a:t>
                      </a:r>
                      <a:endParaRPr sz="1300" b="0" i="0" dirty="0">
                        <a:solidFill>
                          <a:srgbClr val="C00000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5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10,958</a:t>
                      </a:r>
                      <a:endParaRPr sz="1250" b="0" i="0" dirty="0">
                        <a:solidFill>
                          <a:srgbClr val="222222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22222"/>
                          </a:solidFill>
                          <a:latin typeface="Noto Sans CJK KR"/>
                        </a:rPr>
                        <a:t>v3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 dirty="0">
                          <a:solidFill>
                            <a:srgbClr val="222222"/>
                          </a:solidFill>
                          <a:highlight>
                            <a:srgbClr val="FFFF00"/>
                          </a:highlight>
                          <a:latin typeface="Noto Sans CJK KR"/>
                        </a:rPr>
                        <a:t>4축 JSON</a:t>
                      </a:r>
                      <a:r>
                        <a:rPr lang="en-US" sz="1250" b="1" i="0" dirty="0">
                          <a:solidFill>
                            <a:srgbClr val="222222"/>
                          </a:solidFill>
                          <a:highlight>
                            <a:srgbClr val="FFFF00"/>
                          </a:highlight>
                          <a:latin typeface="Noto Sans CJK KR"/>
                        </a:rPr>
                        <a:t>(</a:t>
                      </a:r>
                      <a:r>
                        <a:rPr lang="ko-KR" altLang="ko-KR" sz="1250" b="1" dirty="0">
                          <a:highlight>
                            <a:srgbClr val="FFFF00"/>
                          </a:highlight>
                        </a:rPr>
                        <a:t>날짜 규칙 추가</a:t>
                      </a:r>
                      <a:r>
                        <a:rPr lang="en-US" altLang="ko-KR" sz="1400" b="1" dirty="0">
                          <a:highlight>
                            <a:srgbClr val="FFFF00"/>
                          </a:highlight>
                        </a:rPr>
                        <a:t>)</a:t>
                      </a:r>
                      <a:endParaRPr lang="en-US" sz="1250" b="1" i="0" dirty="0">
                        <a:solidFill>
                          <a:srgbClr val="222222"/>
                        </a:solidFill>
                        <a:highlight>
                          <a:srgbClr val="FFFF00"/>
                        </a:highlight>
                        <a:latin typeface="Noto Sans CJK KR"/>
                      </a:endParaRPr>
                    </a:p>
                    <a:p>
                      <a:pPr algn="ctr"/>
                      <a:endParaRPr lang="en-US" sz="1250" b="0" i="0" dirty="0">
                        <a:solidFill>
                          <a:srgbClr val="222222"/>
                        </a:solidFill>
                        <a:latin typeface="Noto Sans CJK KR"/>
                      </a:endParaRPr>
                    </a:p>
                    <a:p>
                      <a:pPr algn="ctr"/>
                      <a:r>
                        <a:rPr lang="ko-KR" altLang="ko-KR" sz="1300" dirty="0">
                          <a:solidFill>
                            <a:srgbClr val="C00000"/>
                          </a:solidFill>
                        </a:rPr>
                        <a:t>오늘 날짜와 지난 일정 규칙 추가</a:t>
                      </a:r>
                      <a:br>
                        <a:rPr lang="en-US" sz="13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</a:br>
                      <a:r>
                        <a:rPr lang="en-US" sz="13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-</a:t>
                      </a:r>
                      <a:r>
                        <a:rPr lang="ko-KR" altLang="ko-KR" sz="1300" kern="1200" dirty="0" err="1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today</a:t>
                      </a:r>
                      <a:r>
                        <a:rPr lang="ko-KR" altLang="ko-KR" sz="1300" dirty="0" err="1">
                          <a:solidFill>
                            <a:srgbClr val="C00000"/>
                          </a:solidFill>
                        </a:rPr>
                        <a:t>를</a:t>
                      </a:r>
                      <a:r>
                        <a:rPr lang="ko-KR" altLang="ko-KR" sz="1300" dirty="0">
                          <a:solidFill>
                            <a:srgbClr val="C00000"/>
                          </a:solidFill>
                        </a:rPr>
                        <a:t> 명확하게 넣</a:t>
                      </a:r>
                      <a:r>
                        <a:rPr lang="ko-KR" altLang="en-US" sz="1300" dirty="0">
                          <a:solidFill>
                            <a:srgbClr val="C00000"/>
                          </a:solidFill>
                        </a:rPr>
                        <a:t>음</a:t>
                      </a:r>
                      <a:r>
                        <a:rPr lang="en-US" altLang="ko-KR" sz="1300" dirty="0">
                          <a:solidFill>
                            <a:srgbClr val="C00000"/>
                          </a:solidFill>
                        </a:rPr>
                        <a:t>.(</a:t>
                      </a:r>
                      <a:r>
                        <a:rPr lang="ko-KR" altLang="en-US" sz="1300" dirty="0">
                          <a:solidFill>
                            <a:srgbClr val="C00000"/>
                          </a:solidFill>
                        </a:rPr>
                        <a:t>날짜개념</a:t>
                      </a:r>
                      <a:r>
                        <a:rPr lang="en-US" altLang="ko-KR" sz="1300" dirty="0">
                          <a:solidFill>
                            <a:srgbClr val="C00000"/>
                          </a:solidFill>
                        </a:rPr>
                        <a:t>)</a:t>
                      </a:r>
                      <a:endParaRPr sz="1300" b="0" i="0" dirty="0">
                        <a:solidFill>
                          <a:srgbClr val="222222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오늘</a:t>
                      </a:r>
                      <a:r>
                        <a:rPr sz="125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날짜</a:t>
                      </a:r>
                      <a:r>
                        <a:rPr sz="125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주입·지난</a:t>
                      </a:r>
                      <a:r>
                        <a:rPr sz="125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일정</a:t>
                      </a:r>
                      <a:r>
                        <a:rPr sz="125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규칙</a:t>
                      </a:r>
                      <a:endParaRPr lang="en-US" sz="1250" b="0" i="0" dirty="0">
                        <a:solidFill>
                          <a:srgbClr val="222222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 err="1">
                          <a:solidFill>
                            <a:srgbClr val="C00000"/>
                          </a:solidFill>
                          <a:latin typeface="Noto Sans CJK KR"/>
                        </a:rPr>
                        <a:t>날짜</a:t>
                      </a:r>
                      <a:r>
                        <a:rPr sz="1250" b="0" i="0" dirty="0">
                          <a:solidFill>
                            <a:srgbClr val="C00000"/>
                          </a:solidFill>
                          <a:latin typeface="Noto Sans CJK KR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C00000"/>
                          </a:solidFill>
                          <a:latin typeface="Noto Sans CJK KR"/>
                        </a:rPr>
                        <a:t>혼동</a:t>
                      </a:r>
                      <a:r>
                        <a:rPr sz="1250" b="0" i="0" dirty="0">
                          <a:solidFill>
                            <a:srgbClr val="C00000"/>
                          </a:solidFill>
                          <a:latin typeface="Noto Sans CJK KR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C00000"/>
                          </a:solidFill>
                          <a:latin typeface="Noto Sans CJK KR"/>
                        </a:rPr>
                        <a:t>해결</a:t>
                      </a:r>
                      <a:r>
                        <a:rPr sz="125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endParaRPr lang="en-US" sz="1250" b="0" i="0" dirty="0">
                        <a:solidFill>
                          <a:srgbClr val="222222"/>
                        </a:solidFill>
                        <a:latin typeface="Noto Sans CJK KR"/>
                      </a:endParaRPr>
                    </a:p>
                    <a:p>
                      <a:pPr algn="ctr"/>
                      <a:r>
                        <a:rPr sz="125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(dated 38→77%)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5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1,978</a:t>
                      </a:r>
                      <a:endParaRPr sz="1250" b="0" i="0" dirty="0">
                        <a:solidFill>
                          <a:srgbClr val="222222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22222"/>
                          </a:solidFill>
                          <a:latin typeface="Noto Sans CJK KR"/>
                        </a:rPr>
                        <a:t>v4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 dirty="0">
                          <a:solidFill>
                            <a:srgbClr val="222222"/>
                          </a:solidFill>
                          <a:highlight>
                            <a:srgbClr val="FFFF00"/>
                          </a:highlight>
                          <a:latin typeface="Noto Sans CJK KR"/>
                        </a:rPr>
                        <a:t>4축 JSON</a:t>
                      </a:r>
                      <a:r>
                        <a:rPr lang="en-US" sz="1250" b="1" i="0" dirty="0">
                          <a:solidFill>
                            <a:srgbClr val="222222"/>
                          </a:solidFill>
                          <a:highlight>
                            <a:srgbClr val="FFFF00"/>
                          </a:highlight>
                          <a:latin typeface="Noto Sans CJK KR"/>
                        </a:rPr>
                        <a:t>(</a:t>
                      </a:r>
                      <a:r>
                        <a:rPr lang="ko-KR" altLang="ko-KR" sz="1250" b="1" dirty="0">
                          <a:highlight>
                            <a:srgbClr val="FFFF00"/>
                          </a:highlight>
                        </a:rPr>
                        <a:t>정답 출력 중심 학습</a:t>
                      </a:r>
                      <a:r>
                        <a:rPr lang="en-US" altLang="ko-KR" sz="1400" b="1" dirty="0">
                          <a:highlight>
                            <a:srgbClr val="FFFF00"/>
                          </a:highlight>
                        </a:rPr>
                        <a:t>)</a:t>
                      </a:r>
                      <a:endParaRPr lang="en-US" sz="1250" b="1" i="0" dirty="0">
                        <a:solidFill>
                          <a:srgbClr val="222222"/>
                        </a:solidFill>
                        <a:highlight>
                          <a:srgbClr val="FFFF00"/>
                        </a:highlight>
                        <a:latin typeface="Noto Sans CJK KR"/>
                      </a:endParaRPr>
                    </a:p>
                    <a:p>
                      <a:pPr algn="ctr"/>
                      <a:endParaRPr lang="en-US" sz="1250" b="0" i="0" dirty="0">
                        <a:solidFill>
                          <a:srgbClr val="222222"/>
                        </a:solidFill>
                        <a:latin typeface="Noto Sans CJK KR"/>
                      </a:endParaRPr>
                    </a:p>
                    <a:p>
                      <a:pPr algn="ctr"/>
                      <a:r>
                        <a:rPr lang="ko-KR" altLang="ko-KR" sz="1300" dirty="0">
                          <a:solidFill>
                            <a:srgbClr val="C00000"/>
                          </a:solidFill>
                        </a:rPr>
                        <a:t>데이터 품질 개선 및 정답 출력 중심 학습</a:t>
                      </a:r>
                      <a:endParaRPr lang="en-US" altLang="ko-KR" sz="1300" dirty="0">
                        <a:solidFill>
                          <a:srgbClr val="C00000"/>
                        </a:solidFill>
                      </a:endParaRPr>
                    </a:p>
                    <a:p>
                      <a:pPr algn="ctr"/>
                      <a:r>
                        <a:rPr lang="en-US" altLang="ko-KR" sz="1300" dirty="0"/>
                        <a:t>-</a:t>
                      </a:r>
                      <a:r>
                        <a:rPr lang="ko-KR" altLang="ko-KR" sz="1300" dirty="0"/>
                        <a:t>정답 형식을 더 깔끔하게 만들고, </a:t>
                      </a:r>
                      <a:endParaRPr lang="en-US" altLang="ko-KR" sz="1300" dirty="0"/>
                    </a:p>
                    <a:p>
                      <a:pPr algn="ctr"/>
                      <a:r>
                        <a:rPr lang="ko-KR" altLang="ko-KR" sz="1300" dirty="0"/>
                        <a:t>모델이 </a:t>
                      </a:r>
                      <a:r>
                        <a:rPr lang="ko-KR" altLang="ko-KR" sz="1300" b="1" dirty="0"/>
                        <a:t>정답 출력 부분에 집중해서 학습</a:t>
                      </a:r>
                      <a:endParaRPr sz="1300" b="0" i="0" dirty="0">
                        <a:solidFill>
                          <a:srgbClr val="C00000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2222"/>
                          </a:solidFill>
                          <a:latin typeface="Noto Sans CJK KR"/>
                        </a:rPr>
                        <a:t>이중 생성·prompt loss 마스킹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ko-KR" sz="1300" dirty="0">
                          <a:solidFill>
                            <a:srgbClr val="C00000"/>
                          </a:solidFill>
                        </a:rPr>
                        <a:t>모델이 원하는 형식과 기준에 맞게 우선순위를 정하는 비율</a:t>
                      </a:r>
                      <a:r>
                        <a:rPr lang="ko-KR" altLang="en-US" sz="1300" dirty="0">
                          <a:solidFill>
                            <a:srgbClr val="C00000"/>
                          </a:solidFill>
                        </a:rPr>
                        <a:t>향상</a:t>
                      </a:r>
                      <a:endParaRPr lang="en-US" sz="1300" b="0" i="0" dirty="0">
                        <a:solidFill>
                          <a:srgbClr val="C00000"/>
                        </a:solidFill>
                        <a:latin typeface="Noto Sans CJK KR"/>
                      </a:endParaRPr>
                    </a:p>
                    <a:p>
                      <a:pPr algn="ctr"/>
                      <a:r>
                        <a:rPr sz="125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56.7 → 77.3% (+20.6%p)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5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989</a:t>
                      </a:r>
                      <a:endParaRPr sz="1250" b="0" i="0" dirty="0">
                        <a:solidFill>
                          <a:srgbClr val="222222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25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v5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 dirty="0">
                          <a:solidFill>
                            <a:srgbClr val="222222"/>
                          </a:solidFill>
                          <a:highlight>
                            <a:srgbClr val="FFFF00"/>
                          </a:highlight>
                          <a:latin typeface="Noto Sans CJK KR"/>
                        </a:rPr>
                        <a:t>4축 JSON</a:t>
                      </a:r>
                      <a:r>
                        <a:rPr lang="en-US" sz="1250" b="1" i="0" dirty="0">
                          <a:solidFill>
                            <a:srgbClr val="222222"/>
                          </a:solidFill>
                          <a:highlight>
                            <a:srgbClr val="FFFF00"/>
                          </a:highlight>
                          <a:latin typeface="Noto Sans CJK KR"/>
                        </a:rPr>
                        <a:t>(DPO </a:t>
                      </a:r>
                      <a:r>
                        <a:rPr lang="ko-KR" altLang="en-US" sz="1250" b="1" i="0" dirty="0">
                          <a:solidFill>
                            <a:srgbClr val="222222"/>
                          </a:solidFill>
                          <a:highlight>
                            <a:srgbClr val="FFFF00"/>
                          </a:highlight>
                          <a:latin typeface="Noto Sans CJK KR"/>
                        </a:rPr>
                        <a:t>선호학습</a:t>
                      </a:r>
                      <a:r>
                        <a:rPr lang="en-US" altLang="ko-KR" sz="1250" b="1" i="0" dirty="0">
                          <a:solidFill>
                            <a:srgbClr val="222222"/>
                          </a:solidFill>
                          <a:highlight>
                            <a:srgbClr val="FFFF00"/>
                          </a:highlight>
                          <a:latin typeface="Noto Sans CJK KR"/>
                        </a:rPr>
                        <a:t>)</a:t>
                      </a:r>
                      <a:endParaRPr lang="en-US" sz="1250" b="1" i="0" dirty="0">
                        <a:solidFill>
                          <a:srgbClr val="222222"/>
                        </a:solidFill>
                        <a:highlight>
                          <a:srgbClr val="FFFF00"/>
                        </a:highlight>
                        <a:latin typeface="Noto Sans CJK KR"/>
                      </a:endParaRPr>
                    </a:p>
                    <a:p>
                      <a:pPr algn="ctr"/>
                      <a:endParaRPr lang="en-US" sz="1250" b="0" i="0" dirty="0">
                        <a:solidFill>
                          <a:srgbClr val="222222"/>
                        </a:solidFill>
                        <a:latin typeface="Noto Sans CJK KR"/>
                      </a:endParaRPr>
                    </a:p>
                    <a:p>
                      <a:pPr algn="ctr"/>
                      <a:r>
                        <a:rPr lang="ko-KR" altLang="ko-KR" sz="1300" dirty="0">
                          <a:solidFill>
                            <a:srgbClr val="C00000"/>
                          </a:solidFill>
                        </a:rPr>
                        <a:t>좋은 답/나쁜 답 비교를 통한 DPO 선호학습</a:t>
                      </a:r>
                      <a:endParaRPr lang="en-US" altLang="ko-KR" sz="1300" dirty="0">
                        <a:solidFill>
                          <a:srgbClr val="C00000"/>
                        </a:solidFill>
                      </a:endParaRPr>
                    </a:p>
                    <a:p>
                      <a:pPr algn="ctr"/>
                      <a:r>
                        <a:rPr lang="en-US" altLang="ko-KR" sz="1300" dirty="0"/>
                        <a:t>-</a:t>
                      </a:r>
                      <a:r>
                        <a:rPr lang="ko-KR" altLang="ko-KR" sz="1300" dirty="0"/>
                        <a:t>입력에 대해 </a:t>
                      </a:r>
                      <a:r>
                        <a:rPr lang="ko-KR" altLang="ko-KR" sz="1300" b="1" dirty="0"/>
                        <a:t>좋은 답변</a:t>
                      </a:r>
                      <a:r>
                        <a:rPr lang="ko-KR" altLang="ko-KR" sz="1300" dirty="0"/>
                        <a:t>과 </a:t>
                      </a:r>
                      <a:r>
                        <a:rPr lang="ko-KR" altLang="ko-KR" sz="1300" b="1" dirty="0"/>
                        <a:t>나쁜 답변</a:t>
                      </a:r>
                      <a:r>
                        <a:rPr lang="ko-KR" altLang="ko-KR" sz="1300" dirty="0"/>
                        <a:t>을 함께 보</a:t>
                      </a:r>
                      <a:r>
                        <a:rPr lang="ko-KR" altLang="en-US" sz="1300" dirty="0"/>
                        <a:t>임</a:t>
                      </a:r>
                      <a:endParaRPr sz="1300" b="0" i="0" dirty="0">
                        <a:solidFill>
                          <a:srgbClr val="C00000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2222"/>
                          </a:solidFill>
                          <a:latin typeface="Noto Sans CJK KR"/>
                        </a:rPr>
                        <a:t>on-policy DPO·체인 보강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성능</a:t>
                      </a:r>
                      <a:r>
                        <a:rPr sz="125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보존</a:t>
                      </a:r>
                      <a:r>
                        <a:rPr sz="125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+ </a:t>
                      </a:r>
                      <a:r>
                        <a:rPr sz="125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날짜</a:t>
                      </a:r>
                      <a:r>
                        <a:rPr sz="125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미세</a:t>
                      </a:r>
                      <a:r>
                        <a:rPr sz="125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개선</a:t>
                      </a:r>
                      <a:br>
                        <a:rPr lang="en-US" sz="125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</a:br>
                      <a:r>
                        <a:rPr lang="ko-KR" altLang="ko-KR" sz="1300" dirty="0">
                          <a:solidFill>
                            <a:srgbClr val="C00000"/>
                          </a:solidFill>
                        </a:rPr>
                        <a:t>v4에서 이미 좋아진 전체 우선순위 성능은 떨어뜨리지 않으면서, </a:t>
                      </a:r>
                      <a:endParaRPr lang="en-US" altLang="ko-KR" sz="1300" dirty="0">
                        <a:solidFill>
                          <a:srgbClr val="C00000"/>
                        </a:solidFill>
                      </a:endParaRPr>
                    </a:p>
                    <a:p>
                      <a:pPr algn="ctr"/>
                      <a:r>
                        <a:rPr lang="ko-KR" altLang="ko-KR" sz="1300" dirty="0">
                          <a:solidFill>
                            <a:srgbClr val="C00000"/>
                          </a:solidFill>
                        </a:rPr>
                        <a:t>날짜 판단 오류만 조금 더 </a:t>
                      </a:r>
                      <a:r>
                        <a:rPr lang="ko-KR" altLang="ko-KR" sz="1300" dirty="0" err="1">
                          <a:solidFill>
                            <a:srgbClr val="C00000"/>
                          </a:solidFill>
                        </a:rPr>
                        <a:t>줄</a:t>
                      </a:r>
                      <a:r>
                        <a:rPr lang="ko-KR" altLang="en-US" sz="1300" dirty="0" err="1">
                          <a:solidFill>
                            <a:srgbClr val="C00000"/>
                          </a:solidFill>
                        </a:rPr>
                        <a:t>음</a:t>
                      </a:r>
                      <a:endParaRPr sz="1300" b="0" i="0" dirty="0">
                        <a:solidFill>
                          <a:srgbClr val="C00000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5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1,368</a:t>
                      </a:r>
                      <a:endParaRPr sz="1250" b="0" i="0" dirty="0">
                        <a:solidFill>
                          <a:srgbClr val="222222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089391" y="5978966"/>
            <a:ext cx="8458779" cy="78739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anchor="t">
            <a:spAutoFit/>
          </a:bodyPr>
          <a:lstStyle/>
          <a:p>
            <a:pPr marL="285750" indent="-285750" algn="l">
              <a:spcAft>
                <a:spcPts val="400"/>
              </a:spcAft>
              <a:buFont typeface="Wingdings" panose="05000000000000000000" pitchFamily="2" charset="2"/>
              <a:buChar char="v"/>
            </a:pPr>
            <a:endParaRPr lang="en-US" sz="1300" b="1" i="0" dirty="0">
              <a:solidFill>
                <a:srgbClr val="4C72B0"/>
              </a:solidFill>
              <a:latin typeface="Noto Sans CJK KR"/>
            </a:endParaRPr>
          </a:p>
          <a:p>
            <a:pPr marL="285750" indent="-285750" algn="l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sz="1300" b="1" i="0" dirty="0" err="1">
                <a:solidFill>
                  <a:srgbClr val="4C72B0"/>
                </a:solidFill>
                <a:latin typeface="Noto Sans CJK KR"/>
              </a:rPr>
              <a:t>핵심</a:t>
            </a:r>
            <a:r>
              <a:rPr sz="1300" b="1" i="0" dirty="0">
                <a:solidFill>
                  <a:srgbClr val="4C72B0"/>
                </a:solidFill>
                <a:latin typeface="Noto Sans CJK KR"/>
              </a:rPr>
              <a:t> </a:t>
            </a:r>
            <a:r>
              <a:rPr sz="1300" b="1" i="0" dirty="0" err="1">
                <a:solidFill>
                  <a:srgbClr val="4C72B0"/>
                </a:solidFill>
                <a:latin typeface="Noto Sans CJK KR"/>
              </a:rPr>
              <a:t>흐름</a:t>
            </a:r>
            <a:r>
              <a:rPr lang="en-US" sz="1300" b="1" dirty="0">
                <a:solidFill>
                  <a:srgbClr val="4C72B0"/>
                </a:solidFill>
                <a:latin typeface="Noto Sans CJK KR"/>
              </a:rPr>
              <a:t> : </a:t>
            </a:r>
            <a:r>
              <a:rPr sz="1250" b="1" i="0" dirty="0" err="1">
                <a:solidFill>
                  <a:srgbClr val="222222"/>
                </a:solidFill>
                <a:latin typeface="Noto Sans CJK KR"/>
              </a:rPr>
              <a:t>자유</a:t>
            </a:r>
            <a:r>
              <a:rPr sz="1250" b="1" i="0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250" b="1" i="0" dirty="0" err="1">
                <a:solidFill>
                  <a:srgbClr val="222222"/>
                </a:solidFill>
                <a:latin typeface="Noto Sans CJK KR"/>
              </a:rPr>
              <a:t>텍스트</a:t>
            </a:r>
            <a:r>
              <a:rPr sz="1250" b="1" i="0" dirty="0">
                <a:solidFill>
                  <a:srgbClr val="222222"/>
                </a:solidFill>
                <a:latin typeface="Noto Sans CJK KR"/>
              </a:rPr>
              <a:t>(v1) → </a:t>
            </a:r>
            <a:r>
              <a:rPr sz="1250" b="1" i="0" dirty="0" err="1">
                <a:solidFill>
                  <a:srgbClr val="222222"/>
                </a:solidFill>
                <a:latin typeface="Noto Sans CJK KR"/>
              </a:rPr>
              <a:t>구조화</a:t>
            </a:r>
            <a:r>
              <a:rPr sz="1250" b="1" i="0" dirty="0">
                <a:solidFill>
                  <a:srgbClr val="222222"/>
                </a:solidFill>
                <a:latin typeface="Noto Sans CJK KR"/>
              </a:rPr>
              <a:t> JSON(v2) → </a:t>
            </a:r>
            <a:r>
              <a:rPr sz="1250" b="1" i="0" dirty="0" err="1">
                <a:solidFill>
                  <a:srgbClr val="222222"/>
                </a:solidFill>
                <a:latin typeface="Noto Sans CJK KR"/>
              </a:rPr>
              <a:t>날짜</a:t>
            </a:r>
            <a:r>
              <a:rPr sz="1250" b="1" i="0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250" b="1" i="0" dirty="0" err="1">
                <a:solidFill>
                  <a:srgbClr val="222222"/>
                </a:solidFill>
                <a:latin typeface="Noto Sans CJK KR"/>
              </a:rPr>
              <a:t>추론</a:t>
            </a:r>
            <a:r>
              <a:rPr sz="1250" b="1" i="0" dirty="0">
                <a:solidFill>
                  <a:srgbClr val="222222"/>
                </a:solidFill>
                <a:latin typeface="Noto Sans CJK KR"/>
              </a:rPr>
              <a:t>(v3) → </a:t>
            </a:r>
            <a:r>
              <a:rPr sz="1250" b="1" i="0" dirty="0" err="1">
                <a:solidFill>
                  <a:srgbClr val="222222"/>
                </a:solidFill>
                <a:latin typeface="Noto Sans CJK KR"/>
              </a:rPr>
              <a:t>데이터</a:t>
            </a:r>
            <a:r>
              <a:rPr sz="1250" b="1" i="0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250" b="1" i="0" dirty="0" err="1">
                <a:solidFill>
                  <a:srgbClr val="222222"/>
                </a:solidFill>
                <a:latin typeface="Noto Sans CJK KR"/>
              </a:rPr>
              <a:t>품질·이중생성</a:t>
            </a:r>
            <a:r>
              <a:rPr sz="1250" b="1" i="0" dirty="0">
                <a:solidFill>
                  <a:srgbClr val="222222"/>
                </a:solidFill>
                <a:latin typeface="Noto Sans CJK KR"/>
              </a:rPr>
              <a:t>(v4) → on-policy </a:t>
            </a:r>
            <a:r>
              <a:rPr sz="1250" b="1" i="0" dirty="0" err="1">
                <a:solidFill>
                  <a:srgbClr val="222222"/>
                </a:solidFill>
                <a:latin typeface="Noto Sans CJK KR"/>
              </a:rPr>
              <a:t>보강</a:t>
            </a:r>
            <a:r>
              <a:rPr sz="1250" b="1" i="0" dirty="0">
                <a:solidFill>
                  <a:srgbClr val="222222"/>
                </a:solidFill>
                <a:latin typeface="Noto Sans CJK KR"/>
              </a:rPr>
              <a:t>(v5)</a:t>
            </a:r>
            <a:endParaRPr lang="en-US" sz="1250" b="1" i="0" dirty="0">
              <a:solidFill>
                <a:srgbClr val="222222"/>
              </a:solidFill>
              <a:latin typeface="Noto Sans CJK KR"/>
            </a:endParaRPr>
          </a:p>
          <a:p>
            <a:pPr marL="285750" indent="-285750" algn="l">
              <a:spcAft>
                <a:spcPts val="400"/>
              </a:spcAft>
              <a:buFont typeface="Wingdings" panose="05000000000000000000" pitchFamily="2" charset="2"/>
              <a:buChar char="v"/>
            </a:pPr>
            <a:endParaRPr sz="1250" b="0" i="0" dirty="0">
              <a:solidFill>
                <a:srgbClr val="222222"/>
              </a:solidFill>
              <a:latin typeface="Noto Sans CJK KR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00EEBF7-92A0-4622-E173-27C8EF092BA1}"/>
              </a:ext>
            </a:extLst>
          </p:cNvPr>
          <p:cNvSpPr/>
          <p:nvPr/>
        </p:nvSpPr>
        <p:spPr>
          <a:xfrm>
            <a:off x="677280" y="2326640"/>
            <a:ext cx="642373" cy="271514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SFT</a:t>
            </a:r>
            <a:endParaRPr lang="ko-KR" altLang="en-US" sz="14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D1A39FB-93AC-9375-AF49-6142485D1551}"/>
              </a:ext>
            </a:extLst>
          </p:cNvPr>
          <p:cNvSpPr/>
          <p:nvPr/>
        </p:nvSpPr>
        <p:spPr>
          <a:xfrm>
            <a:off x="672200" y="5130687"/>
            <a:ext cx="647453" cy="67575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DPO</a:t>
            </a:r>
            <a:endParaRPr lang="ko-KR" altLang="en-US" sz="1400" dirty="0"/>
          </a:p>
        </p:txBody>
      </p:sp>
      <p:sp>
        <p:nvSpPr>
          <p:cNvPr id="13" name="TextBox 12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Noto Sans CJK KR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Noto Sans CJK KR"/>
              </a:rPr>
              <a:t>학습 파이프라인 &amp; RTX 12GB 제약 극복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2377440" cy="1005840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673352"/>
            <a:ext cx="23774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Noto Sans CJK KR"/>
              </a:rPr>
              <a:t>Base
Qwen3.5-4B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673352"/>
            <a:ext cx="548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>
                <a:solidFill>
                  <a:srgbClr val="1F2D3D"/>
                </a:solidFill>
                <a:latin typeface="Noto Sans CJK KR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1554480"/>
            <a:ext cx="2377440" cy="1005840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66160" y="1673352"/>
            <a:ext cx="23774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Noto Sans CJK KR"/>
              </a:rPr>
              <a:t>SFT v4
포맷·규칙 주입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673352"/>
            <a:ext cx="548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>
                <a:solidFill>
                  <a:srgbClr val="1F2D3D"/>
                </a:solidFill>
                <a:latin typeface="Noto Sans CJK KR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1554480"/>
            <a:ext cx="2377440" cy="100584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673352"/>
            <a:ext cx="23774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Noto Sans CJK KR"/>
              </a:rPr>
              <a:t>DPO v5
선호 미세조정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8346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F2D3D"/>
                </a:solidFill>
                <a:latin typeface="Noto Sans CJK KR"/>
              </a:rPr>
              <a:t>12GB VRAM 한계 극복 기법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91840"/>
            <a:ext cx="109728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22222"/>
                </a:solidFill>
                <a:latin typeface="Noto Sans CJK KR"/>
              </a:rPr>
              <a:t>•  QLoRA 4-bit NF4 — 4.2B 모델 + 248K vocab을 12GB에 적재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22222"/>
                </a:solidFill>
                <a:latin typeface="Noto Sans CJK KR"/>
              </a:rPr>
              <a:t>•  MemEfficientDPOTrainer — chosen/rejected [1,T] 순차 처리 + 청킹 log_softmax + 수동 gradient 주입</a:t>
            </a:r>
          </a:p>
          <a:p>
            <a:pPr lvl="1" algn="l">
              <a:spcAft>
                <a:spcPts val="500"/>
              </a:spcAft>
            </a:pPr>
            <a:r>
              <a:rPr sz="1100" b="0" i="1">
                <a:solidFill>
                  <a:srgbClr val="5A5A5A"/>
                </a:solidFill>
                <a:latin typeface="Noto Sans CJK KR"/>
              </a:rPr>
              <a:t>(248K vocab → [2,T,248K] logits ~1.1GiB, 표준 DPO 불가 → 자체 구현)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22222"/>
                </a:solidFill>
                <a:latin typeface="Noto Sans CJK KR"/>
              </a:rPr>
              <a:t>•  prompt loss 마스킹 — 응답 토큰에만 loss → 학습 밀도 ~2.5배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22222"/>
                </a:solidFill>
                <a:latin typeface="Noto Sans CJK KR"/>
              </a:rPr>
              <a:t>•  Qwen3.5 CUDA 버그 우회 — is_fast_path_available 강제 패치 (fla delta-rule)</a:t>
            </a:r>
          </a:p>
          <a:p>
            <a:pPr algn="l"/>
            <a:r>
              <a:rPr sz="1300" b="0" i="0">
                <a:solidFill>
                  <a:srgbClr val="222222"/>
                </a:solidFill>
                <a:latin typeface="Noto Sans CJK KR"/>
              </a:rPr>
              <a:t>•  precompute_ref_log_probs — ref 모델 forward 사전 계산으로 메모리 절감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Noto Sans CJK KR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Noto Sans CJK KR"/>
              </a:rPr>
              <a:t>벤치마크 — 학습 여정의 두 점프</a:t>
            </a:r>
          </a:p>
        </p:txBody>
      </p:sp>
      <p:pic>
        <p:nvPicPr>
          <p:cNvPr id="6" name="Picture 5" descr="chart_milest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915" y="1325880"/>
            <a:ext cx="7509689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80644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1F2D3D"/>
                </a:solidFill>
                <a:latin typeface="Noto Sans CJK KR"/>
              </a:rPr>
              <a:t>성능 점프는 모델 구조가 아니라 데이터 큐레이션(+20.6%p)과 모델 업그레이드(+8.0%p)에서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Noto Sans CJK KR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Noto Sans CJK KR"/>
              </a:rPr>
              <a:t>Qwen3.5-4B 파인튜닝 단계별 통과율</a:t>
            </a:r>
          </a:p>
        </p:txBody>
      </p:sp>
      <p:pic>
        <p:nvPicPr>
          <p:cNvPr id="6" name="Picture 5" descr="chart_pro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0824" y="1325880"/>
            <a:ext cx="7499872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80644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1">
                <a:solidFill>
                  <a:srgbClr val="5A5A5A"/>
                </a:solidFill>
                <a:latin typeface="Noto Sans CJK KR"/>
              </a:rPr>
              <a:t>어댑터 없음 0% → Base 14.7% → SFT 85.3% → DPO 85.3% (held-out n=150)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Noto Sans CJK KR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Noto Sans CJK KR"/>
              </a:rPr>
              <a:t>시나리오별 통과율 — SFT vs DPO</a:t>
            </a:r>
          </a:p>
        </p:txBody>
      </p:sp>
      <p:pic>
        <p:nvPicPr>
          <p:cNvPr id="6" name="Picture 5" descr="chart_scena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9482" y="1325880"/>
            <a:ext cx="8342555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80644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1F2D3D"/>
                </a:solidFill>
                <a:latin typeface="Noto Sans CJK KR"/>
              </a:rPr>
              <a:t>대부분 시나리오 90~100% · 의존성 체인만 47%로 공통 막힘 (SFT·DPO 동일, n=150)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Noto Sans CJK KR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Noto Sans CJK KR"/>
              </a:rPr>
              <a:t>4모델 실제 출력 비교 (동일 쿼리)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17320"/>
          <a:ext cx="1129284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9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KR"/>
                        </a:rPr>
                        <a:t>쿼리(시나리오)</a:t>
                      </a:r>
                    </a:p>
                  </a:txBody>
                  <a:tcPr marL="73152" marR="54864" marT="27432" marB="27432" anchor="ctr">
                    <a:solidFill>
                      <a:srgbClr val="4C72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KR"/>
                        </a:rPr>
                        <a:t>Base</a:t>
                      </a:r>
                    </a:p>
                  </a:txBody>
                  <a:tcPr marL="73152" marR="54864" marT="27432" marB="27432" anchor="ctr">
                    <a:solidFill>
                      <a:srgbClr val="4C72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KR"/>
                        </a:rPr>
                        <a:t>Instruct</a:t>
                      </a:r>
                    </a:p>
                  </a:txBody>
                  <a:tcPr marL="73152" marR="54864" marT="27432" marB="27432" anchor="ctr">
                    <a:solidFill>
                      <a:srgbClr val="4C72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KR"/>
                        </a:rPr>
                        <a:t>SFT v4</a:t>
                      </a:r>
                    </a:p>
                  </a:txBody>
                  <a:tcPr marL="73152" marR="54864" marT="27432" marB="27432" anchor="ctr">
                    <a:solidFill>
                      <a:srgbClr val="4C72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KR"/>
                        </a:rPr>
                        <a:t>DPO v5</a:t>
                      </a:r>
                    </a:p>
                  </a:txBody>
                  <a:tcPr marL="73152" marR="54864" marT="27432" marB="27432" anchor="ctr">
                    <a:solidFill>
                      <a:srgbClr val="4C72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날짜혼재 / 당일시각 / 리스크 / 상대날짜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6쿼리 통과 합계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2/6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0/6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5/6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5/6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3108960"/>
            <a:ext cx="5486400" cy="3017520"/>
          </a:xfrm>
          <a:prstGeom prst="rect">
            <a:avLst/>
          </a:prstGeom>
          <a:solidFill>
            <a:srgbClr val="FBECEA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521208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C0392B"/>
                </a:solidFill>
                <a:latin typeface="Noto Sans CJK KR"/>
              </a:rPr>
              <a:t>Instruct (어댑터 없음) — ❌ 파싱 실패</a:t>
            </a:r>
          </a:p>
          <a:p>
            <a:pPr algn="l"/>
            <a:r>
              <a:rPr sz="1150" b="0" i="0">
                <a:solidFill>
                  <a:srgbClr val="222222"/>
                </a:solidFill>
                <a:latin typeface="D2Coding"/>
              </a:rPr>
              <a:t>"tasks": [</a:t>
            </a:r>
          </a:p>
          <a:p>
            <a:pPr algn="l"/>
            <a:r>
              <a:rPr sz="1150" b="0" i="0">
                <a:solidFill>
                  <a:srgbClr val="C0392B"/>
                </a:solidFill>
                <a:latin typeface="D2Coding"/>
              </a:rPr>
              <a:t>  "배관 열손실 검토표를 정리해...",</a:t>
            </a:r>
          </a:p>
          <a:p>
            <a:pPr algn="l"/>
            <a:r>
              <a:rPr sz="1150" b="0" i="0">
                <a:solidFill>
                  <a:srgbClr val="C0392B"/>
                </a:solidFill>
                <a:latin typeface="D2Coding"/>
              </a:rPr>
              <a:t>  "4월 4일 10:00까지 회의자료...",</a:t>
            </a:r>
          </a:p>
          <a:p>
            <a:pPr algn="l"/>
            <a:r>
              <a:rPr sz="1150" b="0" i="0">
                <a:solidFill>
                  <a:srgbClr val="222222"/>
                </a:solidFill>
                <a:latin typeface="D2Coding"/>
              </a:rPr>
              <a:t>  ... ]</a:t>
            </a:r>
          </a:p>
          <a:p>
            <a:pPr algn="l">
              <a:spcBef>
                <a:spcPts val="500"/>
              </a:spcBef>
            </a:pPr>
            <a:r>
              <a:rPr sz="1100" b="0" i="1">
                <a:solidFill>
                  <a:srgbClr val="C0392B"/>
                </a:solidFill>
                <a:latin typeface="Noto Sans CJK KR"/>
              </a:rPr>
              <a:t>tasks를 문자열 배열로 출력 (객체 아님)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5A5A5A"/>
                </a:solidFill>
                <a:latin typeface="Noto Sans CJK KR"/>
              </a:rPr>
              <a:t>→ 추론은 합리적이나 스키마 위반으로 파싱 실패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3108960"/>
            <a:ext cx="5486400" cy="3017520"/>
          </a:xfrm>
          <a:prstGeom prst="rect">
            <a:avLst/>
          </a:prstGeom>
          <a:solidFill>
            <a:srgbClr val="ECF6EE"/>
          </a:solidFill>
          <a:ln w="12700">
            <a:solidFill>
              <a:srgbClr val="55A8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3200400"/>
            <a:ext cx="521208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55A868"/>
                </a:solidFill>
                <a:latin typeface="Noto Sans CJK KR"/>
              </a:rPr>
              <a:t>SFT v4 — ✅ 통과</a:t>
            </a:r>
          </a:p>
          <a:p>
            <a:pPr algn="l"/>
            <a:r>
              <a:rPr sz="1150" b="0" i="0">
                <a:solidFill>
                  <a:srgbClr val="55A868"/>
                </a:solidFill>
                <a:latin typeface="D2Coding"/>
              </a:rPr>
              <a:t>{"tasks":[{"id":1,"text":"배관..."},</a:t>
            </a:r>
          </a:p>
          <a:p>
            <a:pPr algn="l"/>
            <a:r>
              <a:rPr sz="1150" b="0" i="0">
                <a:solidFill>
                  <a:srgbClr val="55A868"/>
                </a:solidFill>
                <a:latin typeface="D2Coding"/>
              </a:rPr>
              <a:t>  {"id":2,"text":"회의자료..."}, ...],</a:t>
            </a:r>
          </a:p>
          <a:p>
            <a:pPr algn="l"/>
            <a:r>
              <a:rPr sz="1150" b="0" i="0">
                <a:solidFill>
                  <a:srgbClr val="222222"/>
                </a:solidFill>
                <a:latin typeface="D2Coding"/>
              </a:rPr>
              <a:t>"priority_order":[1,4,2,3,5],</a:t>
            </a:r>
          </a:p>
          <a:p>
            <a:pPr algn="l"/>
            <a:r>
              <a:rPr sz="1150" b="0" i="0">
                <a:solidFill>
                  <a:srgbClr val="222222"/>
                </a:solidFill>
                <a:latin typeface="D2Coding"/>
              </a:rPr>
              <a:t>"scores":[...]}</a:t>
            </a:r>
          </a:p>
          <a:p>
            <a:pPr algn="l">
              <a:spcBef>
                <a:spcPts val="500"/>
              </a:spcBef>
            </a:pPr>
            <a:r>
              <a:rPr sz="1100" b="0" i="1">
                <a:solidFill>
                  <a:srgbClr val="55A868"/>
                </a:solidFill>
                <a:latin typeface="Noto Sans CJK KR"/>
              </a:rPr>
              <a:t>정확한 {id,text} 객체 스키마 준수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5A5A5A"/>
                </a:solidFill>
                <a:latin typeface="Noto Sans CJK KR"/>
              </a:rPr>
              <a:t>→ 지난 일정(id=5) 최하위, urgency=1 강등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Noto Sans CJK KR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KEY FINDING 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Noto Sans CJK KR"/>
              </a:rPr>
              <a:t>파인튜닝의 1차 효과는 '스키마 준수'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292840" cy="1371600"/>
          </a:xfrm>
          <a:prstGeom prst="rect">
            <a:avLst/>
          </a:prstGeom>
          <a:solidFill>
            <a:srgbClr val="FDF3E7"/>
          </a:solidFill>
          <a:ln w="25400">
            <a:solidFill>
              <a:srgbClr val="DD84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536192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DD8452"/>
                </a:solidFill>
                <a:latin typeface="Noto Sans CJK KR"/>
              </a:rPr>
              <a:t>"instruct 0%"는 추론 실패가 아니라 스키마 미준수 — tasks를 ["문자열"]로 출력해 파싱 실패.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222222"/>
                </a:solidFill>
                <a:latin typeface="Noto Sans CJK KR"/>
              </a:rPr>
              <a:t>내용만 채점(포맷 무시)하면 instruct 34.0% · base 31.3% — 추론 능력의 1/3은 이미 있었고, 파인튜닝이 앱 규격으로 고정한 것.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108960"/>
          <a:ext cx="112928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KR"/>
                        </a:rPr>
                        <a:t>모델</a:t>
                      </a:r>
                    </a:p>
                  </a:txBody>
                  <a:tcPr marL="73152" marR="54864" marT="27432" marB="27432" anchor="ctr">
                    <a:solidFill>
                      <a:srgbClr val="DD84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KR"/>
                        </a:rPr>
                        <a:t>통과율(n=150)</a:t>
                      </a:r>
                    </a:p>
                  </a:txBody>
                  <a:tcPr marL="73152" marR="54864" marT="27432" marB="27432" anchor="ctr">
                    <a:solidFill>
                      <a:srgbClr val="DD84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KR"/>
                        </a:rPr>
                        <a:t>원인</a:t>
                      </a:r>
                    </a:p>
                  </a:txBody>
                  <a:tcPr marL="73152" marR="54864" marT="27432" marB="27432" anchor="ctr">
                    <a:solidFill>
                      <a:srgbClr val="DD84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Qwen3.5-4B instruct (no FT)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0.0%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tasks를 문자열 배열로 출력 → 파싱 실패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Qwen3.5-4B-Base (no FT)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14.7%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시스템 프롬프트 스키마 예시를 더 충실히 모방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+ SFT v4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85.3%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정확한 JSON 스키마 + 채점 규칙 학습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21208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 i="1">
                <a:solidFill>
                  <a:srgbClr val="1F2D3D"/>
                </a:solidFill>
                <a:latin typeface="Noto Sans CJK KR"/>
              </a:rPr>
              <a:t>역설: base가 instruct보다 통과율이 높다 (2/6 vs 0/6) — RLHF instruct가 오히려 스키마를 '재해석'</a:t>
            </a:r>
          </a:p>
          <a:p>
            <a:pPr algn="ctr">
              <a:spcBef>
                <a:spcPts val="400"/>
              </a:spcBef>
            </a:pPr>
            <a:r>
              <a:rPr sz="1250" b="0" i="0">
                <a:solidFill>
                  <a:srgbClr val="222222"/>
                </a:solidFill>
                <a:latin typeface="Noto Sans CJK KR"/>
              </a:rPr>
              <a:t>→ 파인튜닝은 '없는 추론 주입'이 아니라 '앱이 파싱할 정확한 출력 규격 고정'이 핵심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Noto Sans CJK KR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KEY FINDING 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Noto Sans CJK KR"/>
              </a:rPr>
              <a:t>DPO는 '능력 부재'를 해결하지 못한다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292840" cy="1234440"/>
          </a:xfrm>
          <a:prstGeom prst="rect">
            <a:avLst/>
          </a:prstGeom>
          <a:solidFill>
            <a:srgbClr val="FDF3E7"/>
          </a:solidFill>
          <a:ln w="25400">
            <a:solidFill>
              <a:srgbClr val="DD84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536192"/>
            <a:ext cx="109728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DD8452"/>
                </a:solidFill>
                <a:latin typeface="Noto Sans CJK KR"/>
              </a:rPr>
              <a:t>의존성 체인에서 SFT v4와 DPO v5가 글자 단위로 동일하게 실패</a:t>
            </a:r>
          </a:p>
          <a:p>
            <a:pPr algn="l"/>
            <a:r>
              <a:rPr sz="1250" b="0" i="0">
                <a:solidFill>
                  <a:srgbClr val="222222"/>
                </a:solidFill>
                <a:latin typeface="Noto Sans CJK KR"/>
              </a:rPr>
              <a:t>같은 priority_order [5,3,4,1,2], 같은 dependency=2 → 동일한 위반 2건. DPO가 체인을 전혀 안 옮겼다.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926080"/>
          <a:ext cx="1129284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92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KR"/>
                        </a:rPr>
                        <a:t>시나리오</a:t>
                      </a:r>
                    </a:p>
                  </a:txBody>
                  <a:tcPr marL="73152" marR="54864" marT="27432" marB="27432" anchor="ctr">
                    <a:solidFill>
                      <a:srgbClr val="DD84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KR"/>
                        </a:rPr>
                        <a:t>SFT v4</a:t>
                      </a:r>
                    </a:p>
                  </a:txBody>
                  <a:tcPr marL="73152" marR="54864" marT="27432" marB="27432" anchor="ctr">
                    <a:solidFill>
                      <a:srgbClr val="DD84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KR"/>
                        </a:rPr>
                        <a:t>DPO v5</a:t>
                      </a:r>
                    </a:p>
                  </a:txBody>
                  <a:tcPr marL="73152" marR="54864" marT="27432" marB="27432" anchor="ctr">
                    <a:solidFill>
                      <a:srgbClr val="DD84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KR"/>
                        </a:rPr>
                        <a:t>변화</a:t>
                      </a:r>
                    </a:p>
                  </a:txBody>
                  <a:tcPr marL="73152" marR="54864" marT="27432" marB="27432" anchor="ctr">
                    <a:solidFill>
                      <a:srgbClr val="DD84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날짜혼재·당일시각·상대날짜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90~100%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100%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유지/소폭 개선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의존성 체인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47%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47%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0 (불변)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663440"/>
            <a:ext cx="112471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F2D3D"/>
                </a:solidFill>
                <a:latin typeface="Noto Sans CJK KR"/>
              </a:rPr>
              <a:t>왜 DPO가 체인을 못 고쳤나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22222"/>
                </a:solidFill>
                <a:latin typeface="Noto Sans CJK KR"/>
              </a:rPr>
              <a:t>•  DPO는 '모델이 정답을 생성할 수 있는데 잘못 선택'할 때만 효과적 — 체인은 4B 모델의 능력 부재라 선호학습으로 안 됨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22222"/>
                </a:solidFill>
                <a:latin typeface="Noto Sans CJK KR"/>
              </a:rPr>
              <a:t>•  reward_accuracy 98.9% → 이미 아는 것을 재학습한 셈 (가중치 변화 미미)</a:t>
            </a:r>
          </a:p>
          <a:p>
            <a:pPr algn="l"/>
            <a:r>
              <a:rPr sz="1250" b="1" i="0">
                <a:solidFill>
                  <a:srgbClr val="55A868"/>
                </a:solidFill>
                <a:latin typeface="Noto Sans CJK KR"/>
              </a:rPr>
              <a:t>•  해결책: 4–5단계 긴 체인 특화 SFT 데이터 3× 증량 (선호학습이 아닌 능력 보강)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Noto Sans CJK KR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Noto Sans CJK KR"/>
              </a:rPr>
              <a:t>결론 &amp; 향후 과제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DD8452"/>
                </a:solidFill>
                <a:latin typeface="Noto Sans CJK KR"/>
              </a:rPr>
              <a:t>•  성능 점프는 데이터 품질·loss 마스킹에서 나왔다</a:t>
            </a:r>
          </a:p>
          <a:p>
            <a:pPr lvl="1" algn="l">
              <a:spcAft>
                <a:spcPts val="1000"/>
              </a:spcAft>
            </a:pPr>
            <a:r>
              <a:rPr sz="1300" b="0" i="0">
                <a:solidFill>
                  <a:srgbClr val="C9D4E0"/>
                </a:solidFill>
                <a:latin typeface="Noto Sans CJK KR"/>
              </a:rPr>
              <a:t>DPO/GRPO 선호학습 단독으로는 한계 약점을 못 옮김 (+20.6%p는 SFT 데이터 큐레이션)</a:t>
            </a:r>
          </a:p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DD8452"/>
                </a:solidFill>
                <a:latin typeface="Noto Sans CJK KR"/>
              </a:rPr>
              <a:t>•  파인튜닝의 1차 효과는 정확한 JSON 스키마 준수</a:t>
            </a:r>
          </a:p>
          <a:p>
            <a:pPr lvl="1" algn="l">
              <a:spcAft>
                <a:spcPts val="1000"/>
              </a:spcAft>
            </a:pPr>
            <a:r>
              <a:rPr sz="1300" b="0" i="0">
                <a:solidFill>
                  <a:srgbClr val="C9D4E0"/>
                </a:solidFill>
                <a:latin typeface="Noto Sans CJK KR"/>
              </a:rPr>
              <a:t>instruct 0% → SFT 90%: 추론이 아닌 출력 규격 고정이 핵심</a:t>
            </a:r>
          </a:p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DD8452"/>
                </a:solidFill>
                <a:latin typeface="Noto Sans CJK KR"/>
              </a:rPr>
              <a:t>•  의존성 체인은 미해결 — SFT 데이터 증량이 다음 레버</a:t>
            </a:r>
          </a:p>
          <a:p>
            <a:pPr lvl="1" algn="l"/>
            <a:r>
              <a:rPr sz="1300" b="0" i="0">
                <a:solidFill>
                  <a:srgbClr val="C9D4E0"/>
                </a:solidFill>
                <a:latin typeface="Noto Sans CJK KR"/>
              </a:rPr>
              <a:t>4–5단계 긴 체인 특화 데이터 3× 증량으로 능력 자체를 보강해야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120640"/>
            <a:ext cx="10515600" cy="1005840"/>
          </a:xfrm>
          <a:prstGeom prst="rect">
            <a:avLst/>
          </a:prstGeom>
          <a:solidFill>
            <a:srgbClr val="2A3B4F"/>
          </a:solidFill>
          <a:ln w="12700">
            <a:solidFill>
              <a:srgbClr val="DD84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5257800"/>
            <a:ext cx="10149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Noto Sans CJK KR"/>
              </a:rPr>
              <a:t>최종 성과: Qwen3.5-4B 85.3% · Qwen3.5-9B 88.7% (RTX 4090) — 둘 다 held-out n=150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Noto Sans CJK KR"/>
              </a:rPr>
              <a:t>28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2000" cy="381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Noto Sans CJK KR"/>
              </a:rPr>
              <a:t>모델 크기 효과 — Qwen3.5 4B vs 9B</a:t>
            </a:r>
          </a:p>
        </p:txBody>
      </p:sp>
      <p:pic>
        <p:nvPicPr>
          <p:cNvPr id="6" name="Picture 5" descr="chart_4b_vs_9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083" y="1325880"/>
            <a:ext cx="10117074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57784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1F2D3D"/>
                </a:solidFill>
                <a:latin typeface="Noto Sans CJK KR"/>
              </a:rPr>
              <a:t>동일 표본(n=150): 4B 85.3% vs 9B 88.7% (+3.4%p) — 9B는 당일시각·체인에서 앞섬</a:t>
            </a:r>
          </a:p>
          <a:p>
            <a:pPr algn="ctr">
              <a:spcBef>
                <a:spcPts val="300"/>
              </a:spcBef>
            </a:pPr>
            <a:r>
              <a:rPr sz="1100" b="0" i="1">
                <a:solidFill>
                  <a:srgbClr val="5A5A5A"/>
                </a:solidFill>
                <a:latin typeface="Noto Sans CJK KR"/>
              </a:rPr>
              <a:t>→ 체인은 4B 47%·9B 57%로 둘 다 미해결 — 모델 크기가 아니라 SFT 데이터 보강 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Noto Sans CJK KR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2000" cy="381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Noto Sans CJK KR"/>
              </a:rPr>
              <a:t>Qwen3.5-9B 4-way — 포맷 vs 추론 (n=30)</a:t>
            </a:r>
          </a:p>
        </p:txBody>
      </p:sp>
      <p:pic>
        <p:nvPicPr>
          <p:cNvPr id="6" name="Picture 5" descr="chart_9b_schema_vs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5151" y="1325880"/>
            <a:ext cx="7856938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6928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1F2D3D"/>
                </a:solidFill>
                <a:latin typeface="Noto Sans CJK KR"/>
              </a:rPr>
              <a:t>9B도 4B와 동일 패턴 — no-adapter 스키마 0%지만 내용 46.7%(포맷만 미준수), SFT가 93.3%로 고정</a:t>
            </a:r>
          </a:p>
          <a:p>
            <a:pPr algn="ctr">
              <a:spcBef>
                <a:spcPts val="300"/>
              </a:spcBef>
            </a:pPr>
            <a:r>
              <a:rPr sz="1100" b="0" i="1">
                <a:solidFill>
                  <a:srgbClr val="5A5A5A"/>
                </a:solidFill>
                <a:latin typeface="Noto Sans CJK KR"/>
              </a:rPr>
              <a:t>SFT=DPO 완전 동일(체인 4/6 고착) — 9B에서도 DPO가 체인을 못 옮김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Noto Sans CJK KR"/>
              </a:rP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2000" cy="381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TRAINING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Noto Sans CJK KR"/>
              </a:rPr>
              <a:t>학습 지표 비교 — 4B vs 9B</a:t>
            </a:r>
          </a:p>
        </p:txBody>
      </p:sp>
      <p:pic>
        <p:nvPicPr>
          <p:cNvPr id="6" name="Picture 5" descr="chart_train_metrics_4b_9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994762"/>
            <a:ext cx="6675120" cy="2594155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223760" y="1371600"/>
          <a:ext cx="45720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325880"/>
                <a:gridCol w="114300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KR"/>
                        </a:rPr>
                        <a:t>지표</a:t>
                      </a:r>
                    </a:p>
                  </a:txBody>
                  <a:tcPr marL="73152" marR="54864" marT="27432" marB="27432" anchor="ctr">
                    <a:solidFill>
                      <a:srgbClr val="4C72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KR"/>
                        </a:rPr>
                        <a:t>4B</a:t>
                      </a:r>
                    </a:p>
                  </a:txBody>
                  <a:tcPr marL="73152" marR="54864" marT="27432" marB="27432" anchor="ctr">
                    <a:solidFill>
                      <a:srgbClr val="4C72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KR"/>
                        </a:rPr>
                        <a:t>9B</a:t>
                      </a:r>
                    </a:p>
                  </a:txBody>
                  <a:tcPr marL="73152" marR="54864" marT="27432" marB="27432" anchor="ctr">
                    <a:solidFill>
                      <a:srgbClr val="4C72B0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Noto Sans CJK KR"/>
                        </a:rPr>
                        <a:t>파라미터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22222"/>
                          </a:solidFill>
                          <a:latin typeface="Noto Sans CJK KR"/>
                        </a:rPr>
                        <a:t>4.2B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22222"/>
                          </a:solidFill>
                          <a:latin typeface="Noto Sans CJK KR"/>
                        </a:rPr>
                        <a:t>9.4B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Noto Sans CJK KR"/>
                        </a:rPr>
                        <a:t>GPU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22222"/>
                          </a:solidFill>
                          <a:latin typeface="Noto Sans CJK KR"/>
                        </a:rPr>
                        <a:t>3080Ti 12G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22222"/>
                          </a:solidFill>
                          <a:latin typeface="Noto Sans CJK KR"/>
                        </a:rPr>
                        <a:t>4090 24G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Noto Sans CJK KR"/>
                        </a:rPr>
                        <a:t>SFT train_loss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22222"/>
                          </a:solidFill>
                          <a:latin typeface="Noto Sans CJK KR"/>
                        </a:rPr>
                        <a:t>0.309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22222"/>
                          </a:solidFill>
                          <a:latin typeface="Noto Sans CJK KR"/>
                        </a:rPr>
                        <a:t>0.320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Noto Sans CJK KR"/>
                        </a:rPr>
                        <a:t>SFT token acc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22222"/>
                          </a:solidFill>
                          <a:latin typeface="Noto Sans CJK KR"/>
                        </a:rPr>
                        <a:t>90.8%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22222"/>
                          </a:solidFill>
                          <a:latin typeface="Noto Sans CJK KR"/>
                        </a:rPr>
                        <a:t>91.5%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Noto Sans CJK KR"/>
                        </a:rPr>
                        <a:t>SFT 시간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22222"/>
                          </a:solidFill>
                          <a:latin typeface="Noto Sans CJK KR"/>
                        </a:rPr>
                        <a:t>9.5h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22222"/>
                          </a:solidFill>
                          <a:latin typeface="Noto Sans CJK KR"/>
                        </a:rPr>
                        <a:t>11.5h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Noto Sans CJK KR"/>
                        </a:rPr>
                        <a:t>DPO reward_acc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22222"/>
                          </a:solidFill>
                          <a:latin typeface="Noto Sans CJK KR"/>
                        </a:rPr>
                        <a:t>97.5%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22222"/>
                          </a:solidFill>
                          <a:latin typeface="Noto Sans CJK KR"/>
                        </a:rPr>
                        <a:t>88.0%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Noto Sans CJK KR"/>
                        </a:rPr>
                        <a:t>DPO margin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22222"/>
                          </a:solidFill>
                          <a:latin typeface="Noto Sans CJK KR"/>
                        </a:rPr>
                        <a:t>3.50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22222"/>
                          </a:solidFill>
                          <a:latin typeface="Noto Sans CJK KR"/>
                        </a:rPr>
                        <a:t>0.099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Noto Sans CJK KR"/>
                        </a:rPr>
                        <a:t>DPO 시간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22222"/>
                          </a:solidFill>
                          <a:latin typeface="Noto Sans CJK KR"/>
                        </a:rPr>
                        <a:t>~0.5h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22222"/>
                          </a:solidFill>
                          <a:latin typeface="Noto Sans CJK KR"/>
                        </a:rPr>
                        <a:t>2.5h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Noto Sans CJK KR"/>
                        </a:rPr>
                        <a:t>검증(n=150)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22222"/>
                          </a:solidFill>
                          <a:latin typeface="Noto Sans CJK KR"/>
                        </a:rPr>
                        <a:t>85.3%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22222"/>
                          </a:solidFill>
                          <a:latin typeface="Noto Sans CJK KR"/>
                        </a:rPr>
                        <a:t>88.7%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5532120"/>
            <a:ext cx="11430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 i="0">
                <a:solidFill>
                  <a:srgbClr val="1F2D3D"/>
                </a:solidFill>
                <a:latin typeface="Noto Sans CJK KR"/>
              </a:rPr>
              <a:t>SFT(동일 데이터): 9B도 4B와 거의 동일 — 모델 2.3×로도 SFT 학습 이득 미미</a:t>
            </a:r>
          </a:p>
          <a:p>
            <a:pPr algn="ctr">
              <a:spcBef>
                <a:spcPts val="300"/>
              </a:spcBef>
            </a:pPr>
            <a:r>
              <a:rPr sz="1100" b="0" i="1">
                <a:solidFill>
                  <a:srgbClr val="5A5A5A"/>
                </a:solidFill>
                <a:latin typeface="Noto Sans CJK KR"/>
              </a:rPr>
              <a:t>DPO(데이터 다름): margin 차이(3.50 vs 0.099)는 모델이 아닌 데이터 난이도(on-policy vs v4_extra) 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Noto Sans CJK KR"/>
              </a:rPr>
              <a:t>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710</TotalTime>
  <Words>2494</Words>
  <Application>Microsoft Office PowerPoint</Application>
  <PresentationFormat>와이드스크린</PresentationFormat>
  <Paragraphs>395</Paragraphs>
  <Slides>25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4" baseType="lpstr">
      <vt:lpstr>D2Coding</vt:lpstr>
      <vt:lpstr>Noto Sans CJK KR</vt:lpstr>
      <vt:lpstr>맑은 고딕</vt:lpstr>
      <vt:lpstr>Arial</vt:lpstr>
      <vt:lpstr>Calibri</vt:lpstr>
      <vt:lpstr>Georgia</vt:lpstr>
      <vt:lpstr>Symbol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소석영</cp:lastModifiedBy>
  <cp:revision>688</cp:revision>
  <dcterms:created xsi:type="dcterms:W3CDTF">2013-01-27T09:14:16Z</dcterms:created>
  <dcterms:modified xsi:type="dcterms:W3CDTF">2026-06-15T08:54:58Z</dcterms:modified>
  <cp:category/>
</cp:coreProperties>
</file>